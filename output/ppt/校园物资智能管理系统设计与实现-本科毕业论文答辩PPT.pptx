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f0b371dce7346b5" /><Relationship Type="http://schemas.openxmlformats.org/officeDocument/2006/relationships/extended-properties" Target="/docProps/app.xml" Id="R2a491113171b430d" /><Relationship Type="http://schemas.openxmlformats.org/officeDocument/2006/relationships/officeDocument" Target="/ppt/presentation.xml" Id="R61f9fa0ce8484475" /></Relationships>
</file>

<file path=ppt/presentation.xml><?xml version="1.0" encoding="utf-8"?>
<p:presentation xmlns:p="http://schemas.openxmlformats.org/presentationml/2006/main">
  <p:sldMasterIdLst>
    <p:sldMasterId xmlns:r="http://schemas.openxmlformats.org/officeDocument/2006/relationships" id="2147483648" r:id="R35471d28351f44c9"/>
  </p:sldMasterIdLst>
  <p:notesMasterIdLst>
    <p:notesMasterId xmlns:r="http://schemas.openxmlformats.org/officeDocument/2006/relationships" r:id="R95f3cd58ea4d48c2"/>
  </p:notesMasterIdLst>
  <p:sldIdLst>
    <p:sldId xmlns:r="http://schemas.openxmlformats.org/officeDocument/2006/relationships" id="256" r:id="R91de215ef6054caf"/>
    <p:sldId xmlns:r="http://schemas.openxmlformats.org/officeDocument/2006/relationships" id="257" r:id="Rcde473f56c174a1f"/>
    <p:sldId xmlns:r="http://schemas.openxmlformats.org/officeDocument/2006/relationships" id="258" r:id="R7847963f06c94e00"/>
    <p:sldId xmlns:r="http://schemas.openxmlformats.org/officeDocument/2006/relationships" id="259" r:id="Rc56116a93e6b4536"/>
    <p:sldId xmlns:r="http://schemas.openxmlformats.org/officeDocument/2006/relationships" id="260" r:id="R0182fdd286b94e2b"/>
    <p:sldId xmlns:r="http://schemas.openxmlformats.org/officeDocument/2006/relationships" id="261" r:id="R0d297213e8e4466f"/>
    <p:sldId xmlns:r="http://schemas.openxmlformats.org/officeDocument/2006/relationships" id="262" r:id="R6f8f5afccd8b445d"/>
    <p:sldId xmlns:r="http://schemas.openxmlformats.org/officeDocument/2006/relationships" id="263" r:id="R6579aa699d2a4e6b"/>
    <p:sldId xmlns:r="http://schemas.openxmlformats.org/officeDocument/2006/relationships" id="264" r:id="Rf386f395edc74dd0"/>
    <p:sldId xmlns:r="http://schemas.openxmlformats.org/officeDocument/2006/relationships" id="265" r:id="Rba799cd3be294a18"/>
  </p:sldIdLst>
  <p:sldSz cx="18288000" cy="10287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35471d28351f44c9" /><Relationship Type="http://schemas.openxmlformats.org/officeDocument/2006/relationships/theme" Target="/ppt/theme/theme1.xml" Id="R3449bcf5772a43fa" /><Relationship Type="http://schemas.openxmlformats.org/officeDocument/2006/relationships/notesMaster" Target="/ppt/notesMasters/notesMaster1.xml" Id="R95f3cd58ea4d48c2" /><Relationship Type="http://schemas.openxmlformats.org/officeDocument/2006/relationships/presProps" Target="/ppt/presProps.xml" Id="R97c36292500f4c2e" /><Relationship Type="http://schemas.openxmlformats.org/officeDocument/2006/relationships/viewProps" Target="/ppt/viewProps.xml" Id="R4136ab221649443c" /><Relationship Type="http://schemas.openxmlformats.org/officeDocument/2006/relationships/tableStyles" Target="/ppt/tableStyles.xml" Id="R53cabbda92bf453b" /><Relationship Type="http://schemas.openxmlformats.org/officeDocument/2006/relationships/slide" Target="/ppt/slides/slide1.xml" Id="R91de215ef6054caf" /><Relationship Type="http://schemas.openxmlformats.org/officeDocument/2006/relationships/slide" Target="/ppt/slides/slide2.xml" Id="Rcde473f56c174a1f" /><Relationship Type="http://schemas.openxmlformats.org/officeDocument/2006/relationships/slide" Target="/ppt/slides/slide3.xml" Id="R7847963f06c94e00" /><Relationship Type="http://schemas.openxmlformats.org/officeDocument/2006/relationships/slide" Target="/ppt/slides/slide4.xml" Id="Rc56116a93e6b4536" /><Relationship Type="http://schemas.openxmlformats.org/officeDocument/2006/relationships/slide" Target="/ppt/slides/slide5.xml" Id="R0182fdd286b94e2b" /><Relationship Type="http://schemas.openxmlformats.org/officeDocument/2006/relationships/slide" Target="/ppt/slides/slide6.xml" Id="R0d297213e8e4466f" /><Relationship Type="http://schemas.openxmlformats.org/officeDocument/2006/relationships/slide" Target="/ppt/slides/slide7.xml" Id="R6f8f5afccd8b445d" /><Relationship Type="http://schemas.openxmlformats.org/officeDocument/2006/relationships/slide" Target="/ppt/slides/slide8.xml" Id="R6579aa699d2a4e6b" /><Relationship Type="http://schemas.openxmlformats.org/officeDocument/2006/relationships/slide" Target="/ppt/slides/slide9.xml" Id="Rf386f395edc74dd0" /><Relationship Type="http://schemas.openxmlformats.org/officeDocument/2006/relationships/slide" Target="/ppt/slides/slide10.xml" Id="Rba799cd3be294a1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da1b35da6472431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145bef1a9084642" /><Relationship Type="http://schemas.openxmlformats.org/officeDocument/2006/relationships/notesMaster" Target="/ppt/notesMasters/notesMaster1.xml" Id="Rbd65c9b7b4224674" /></Relationships>
</file>

<file path=ppt/notesSlides/_rels/notesSlide2.xml.rels>&#65279;<?xml version="1.0" encoding="utf-8"?><Relationships xmlns="http://schemas.openxmlformats.org/package/2006/relationships"><Relationship Type="http://schemas.openxmlformats.org/officeDocument/2006/relationships/slide" Target="/ppt/slides/slide2.xml" Id="R00a9cc8487e446ac" /><Relationship Type="http://schemas.openxmlformats.org/officeDocument/2006/relationships/notesMaster" Target="/ppt/notesMasters/notesMaster1.xml" Id="Ra014b12d42394e10" /></Relationships>
</file>

<file path=ppt/notesSlides/_rels/notesSlide3.xml.rels>&#65279;<?xml version="1.0" encoding="utf-8"?><Relationships xmlns="http://schemas.openxmlformats.org/package/2006/relationships"><Relationship Type="http://schemas.openxmlformats.org/officeDocument/2006/relationships/slide" Target="/ppt/slides/slide3.xml" Id="R2235ffa94a9345bc" /><Relationship Type="http://schemas.openxmlformats.org/officeDocument/2006/relationships/notesMaster" Target="/ppt/notesMasters/notesMaster1.xml" Id="Ra52ea17966464e15" /></Relationships>
</file>

<file path=ppt/notesSlides/_rels/notesSlide4.xml.rels>&#65279;<?xml version="1.0" encoding="utf-8"?><Relationships xmlns="http://schemas.openxmlformats.org/package/2006/relationships"><Relationship Type="http://schemas.openxmlformats.org/officeDocument/2006/relationships/slide" Target="/ppt/slides/slide4.xml" Id="R433eecd3a9a54e53" /><Relationship Type="http://schemas.openxmlformats.org/officeDocument/2006/relationships/notesMaster" Target="/ppt/notesMasters/notesMaster1.xml" Id="R0c3bde51d47d4929" /></Relationships>
</file>

<file path=ppt/notesSlides/_rels/notesSlide5.xml.rels>&#65279;<?xml version="1.0" encoding="utf-8"?><Relationships xmlns="http://schemas.openxmlformats.org/package/2006/relationships"><Relationship Type="http://schemas.openxmlformats.org/officeDocument/2006/relationships/slide" Target="/ppt/slides/slide5.xml" Id="Rd4f1e1c9a8924f5f" /><Relationship Type="http://schemas.openxmlformats.org/officeDocument/2006/relationships/notesMaster" Target="/ppt/notesMasters/notesMaster1.xml" Id="R1398031f6d9b4d94" /></Relationships>
</file>

<file path=ppt/notesSlides/_rels/notesSlide6.xml.rels>&#65279;<?xml version="1.0" encoding="utf-8"?><Relationships xmlns="http://schemas.openxmlformats.org/package/2006/relationships"><Relationship Type="http://schemas.openxmlformats.org/officeDocument/2006/relationships/slide" Target="/ppt/slides/slide6.xml" Id="Re865ba200f6c4930" /><Relationship Type="http://schemas.openxmlformats.org/officeDocument/2006/relationships/notesMaster" Target="/ppt/notesMasters/notesMaster1.xml" Id="R4149213bf89a405b" /></Relationships>
</file>

<file path=ppt/notesSlides/_rels/notesSlide7.xml.rels>&#65279;<?xml version="1.0" encoding="utf-8"?><Relationships xmlns="http://schemas.openxmlformats.org/package/2006/relationships"><Relationship Type="http://schemas.openxmlformats.org/officeDocument/2006/relationships/slide" Target="/ppt/slides/slide7.xml" Id="R383ad8124f3148fc" /><Relationship Type="http://schemas.openxmlformats.org/officeDocument/2006/relationships/notesMaster" Target="/ppt/notesMasters/notesMaster1.xml" Id="R0d7f81c26184438e" /></Relationships>
</file>

<file path=ppt/notesSlides/_rels/notesSlide8.xml.rels>&#65279;<?xml version="1.0" encoding="utf-8"?><Relationships xmlns="http://schemas.openxmlformats.org/package/2006/relationships"><Relationship Type="http://schemas.openxmlformats.org/officeDocument/2006/relationships/slide" Target="/ppt/slides/slide8.xml" Id="R8c696b2039324f1e" /><Relationship Type="http://schemas.openxmlformats.org/officeDocument/2006/relationships/notesMaster" Target="/ppt/notesMasters/notesMaster1.xml" Id="R18ac11fad348498b" /></Relationships>
</file>

<file path=ppt/notesSlides/_rels/notesSlide9.xml.rels>&#65279;<?xml version="1.0" encoding="utf-8"?><Relationships xmlns="http://schemas.openxmlformats.org/package/2006/relationships"><Relationship Type="http://schemas.openxmlformats.org/officeDocument/2006/relationships/slide" Target="/ppt/slides/slide9.xml" Id="Racea2ce523244ff8" /><Relationship Type="http://schemas.openxmlformats.org/officeDocument/2006/relationships/notesMaster" Target="/ppt/notesMasters/notesMaster1.xml" Id="R2ba7289b74674cd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03504892a0d4dc5" /><Relationship Type="http://schemas.openxmlformats.org/officeDocument/2006/relationships/notesMaster" Target="/ppt/notesMasters/notesMaster1.xml" Id="R87877cb423eb411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2fe4bb4e8484725"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cd9b904d40694b54" /><Relationship Type="http://schemas.openxmlformats.org/officeDocument/2006/relationships/slideLayout" Target="/ppt/slideLayouts/slideLayout2.xml" Id="Rb53d0d637f08427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53d0d637f08427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a7d20698406a417c" /><Relationship Type="http://schemas.openxmlformats.org/officeDocument/2006/relationships/notesSlide" Target="/ppt/notesSlides/notesSlide1.xml" Id="R15d1b8374ef9455f"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e2779fdf60954757" /><Relationship Type="http://schemas.openxmlformats.org/officeDocument/2006/relationships/notesSlide" Target="/ppt/notesSlides/notesSlide2.xml" Id="Rd549a0b0ba7a4a6a"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ebd852f7ec384567" /><Relationship Type="http://schemas.openxmlformats.org/officeDocument/2006/relationships/notesSlide" Target="/ppt/notesSlides/notesSlide3.xml" Id="Rd45c5515ebb64a65"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68f09167ef0a4681" /><Relationship Type="http://schemas.openxmlformats.org/officeDocument/2006/relationships/notesSlide" Target="/ppt/notesSlides/notesSlide4.xml" Id="Rd7beb82f70c047a8"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7223c88bb07745fd" /><Relationship Type="http://schemas.openxmlformats.org/officeDocument/2006/relationships/notesSlide" Target="/ppt/notesSlides/notesSlide5.xml" Id="Rbbd50218d5df4ce8"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cb8182b6c1834064" /><Relationship Type="http://schemas.openxmlformats.org/officeDocument/2006/relationships/notesSlide" Target="/ppt/notesSlides/notesSlide6.xml" Id="R6d8576ca25a8424b"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b3ad692b0df14225" /><Relationship Type="http://schemas.openxmlformats.org/officeDocument/2006/relationships/notesSlide" Target="/ppt/notesSlides/notesSlide7.xml" Id="Red6445ed2b5d499b"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ee5f575de0904d3b" /><Relationship Type="http://schemas.openxmlformats.org/officeDocument/2006/relationships/notesSlide" Target="/ppt/notesSlides/notesSlide8.xml" Id="R9abc85ed67524555"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3b2e9d6bd9b74214" /><Relationship Type="http://schemas.openxmlformats.org/officeDocument/2006/relationships/notesSlide" Target="/ppt/notesSlides/notesSlide9.xml" Id="R2de8dca48b00484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9c3dac20b8644409" /><Relationship Type="http://schemas.openxmlformats.org/officeDocument/2006/relationships/notesSlide" Target="/ppt/notesSlides/notesSlide10.xml" Id="R04834f2c51c14fac"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E701382-7256-41BE-88A8-AA4D5AE320E3}"/>
              </a:ext>
            </a:extLst>
          </p:cNvPr>
          <p:cNvSpPr>
            <a:spLocks xmlns:a="http://schemas.openxmlformats.org/drawingml/2006/main" noGrp="1"/>
          </p:cNvSpPr>
          <p:nvPr/>
        </p:nvSpPr>
        <p:spPr>
          <a:xfrm xmlns:a="http://schemas.openxmlformats.org/drawingml/2006/main">
            <a:off x="914400" y="685800"/>
            <a:ext cx="1104900" cy="762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2" name="">
            <a:extLst xmlns:a="http://schemas.openxmlformats.org/drawingml/2006/main">
              <a:ext uri="{FF2B5EF4-FFF2-40B4-BE49-F238E27FC236}">
                <a16:creationId xmlns:a16="http://schemas.microsoft.com/office/drawing/2014/main" id="{C287BD96-6FD8-4903-B47A-C936F4DEB7FC}"/>
              </a:ext>
            </a:extLst>
          </p:cNvPr>
          <p:cNvSpPr>
            <a:spLocks xmlns:a="http://schemas.openxmlformats.org/drawingml/2006/main" noGrp="1"/>
          </p:cNvSpPr>
          <p:nvPr/>
        </p:nvSpPr>
        <p:spPr>
          <a:xfrm xmlns:a="http://schemas.openxmlformats.org/drawingml/2006/main">
            <a:off x="2190750" y="685800"/>
            <a:ext cx="16764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b="1">
                <a:solidFill>
                  <a:srgbClr val="0F766E"/>
                </a:solidFill>
              </a:defRPr>
            </a:pPr>
            <a:r>
              <a:rPr sz="1650" b="1">
                <a:solidFill>
                  <a:srgbClr val="0F766E"/>
                </a:solidFill>
              </a:rPr>
              <a:t>本科毕业论文答辩</a:t>
            </a:r>
          </a:p>
        </p:txBody>
      </p:sp>
      <p:sp>
        <p:nvSpPr>
          <p:cNvPr id="3" name="">
            <a:extLst xmlns:a="http://schemas.openxmlformats.org/drawingml/2006/main">
              <a:ext uri="{FF2B5EF4-FFF2-40B4-BE49-F238E27FC236}">
                <a16:creationId xmlns:a16="http://schemas.microsoft.com/office/drawing/2014/main" id="{3D8DF547-929D-4808-BF6B-AF019923CD56}"/>
              </a:ext>
            </a:extLst>
          </p:cNvPr>
          <p:cNvSpPr>
            <a:spLocks xmlns:a="http://schemas.openxmlformats.org/drawingml/2006/main" noGrp="1"/>
          </p:cNvSpPr>
          <p:nvPr/>
        </p:nvSpPr>
        <p:spPr>
          <a:xfrm xmlns:a="http://schemas.openxmlformats.org/drawingml/2006/main">
            <a:off x="914400" y="1162050"/>
            <a:ext cx="7048500" cy="1695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5550" b="1">
                <a:solidFill>
                  <a:srgbClr val="0F172A"/>
                </a:solidFill>
              </a:defRPr>
            </a:pPr>
            <a:r>
              <a:rPr sz="5550" b="1">
                <a:solidFill>
                  <a:srgbClr val="0F172A"/>
                </a:solidFill>
              </a:rPr>
              <a:t>校园物资智能管理系统</a:t>
            </a:r>
          </a:p>
          <a:p xmlns:a="http://schemas.openxmlformats.org/drawingml/2006/main">
            <a:pPr>
              <a:defRPr sz="5550" b="1">
                <a:solidFill>
                  <a:srgbClr val="0F172A"/>
                </a:solidFill>
              </a:defRPr>
            </a:pPr>
            <a:r>
              <a:rPr sz="5550" b="1">
                <a:solidFill>
                  <a:srgbClr val="0F172A"/>
                </a:solidFill>
              </a:rPr>
              <a:t>设计与实现</a:t>
            </a:r>
          </a:p>
        </p:txBody>
      </p:sp>
      <p:sp>
        <p:nvSpPr>
          <p:cNvPr id="4" name="">
            <a:extLst xmlns:a="http://schemas.openxmlformats.org/drawingml/2006/main">
              <a:ext uri="{FF2B5EF4-FFF2-40B4-BE49-F238E27FC236}">
                <a16:creationId xmlns:a16="http://schemas.microsoft.com/office/drawing/2014/main" id="{05449D82-42F9-4D3A-B08E-CAF56CFDC92D}"/>
              </a:ext>
            </a:extLst>
          </p:cNvPr>
          <p:cNvSpPr>
            <a:spLocks xmlns:a="http://schemas.openxmlformats.org/drawingml/2006/main" noGrp="1"/>
          </p:cNvSpPr>
          <p:nvPr/>
        </p:nvSpPr>
        <p:spPr>
          <a:xfrm xmlns:a="http://schemas.openxmlformats.org/drawingml/2006/main">
            <a:off x="914400" y="3086100"/>
            <a:ext cx="720090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a:solidFill>
                  <a:srgbClr val="475569"/>
                </a:solidFill>
              </a:defRPr>
            </a:pPr>
            <a:r>
              <a:rPr sz="2100">
                <a:solidFill>
                  <a:srgbClr val="475569"/>
                </a:solidFill>
              </a:rPr>
              <a:t>基于当前项目仓库、最新论文定稿与全功能闭环自测结果整理</a:t>
            </a:r>
          </a:p>
        </p:txBody>
      </p:sp>
      <p:sp>
        <p:nvSpPr>
          <p:cNvPr id="5" name="">
            <a:extLst xmlns:a="http://schemas.openxmlformats.org/drawingml/2006/main">
              <a:ext uri="{FF2B5EF4-FFF2-40B4-BE49-F238E27FC236}">
                <a16:creationId xmlns:a16="http://schemas.microsoft.com/office/drawing/2014/main" id="{7A7C4195-BC6B-4767-A6E7-EF9F3FFF829A}"/>
              </a:ext>
            </a:extLst>
          </p:cNvPr>
          <p:cNvSpPr>
            <a:spLocks xmlns:a="http://schemas.openxmlformats.org/drawingml/2006/main" noGrp="1"/>
          </p:cNvSpPr>
          <p:nvPr/>
        </p:nvSpPr>
        <p:spPr>
          <a:xfrm xmlns:a="http://schemas.openxmlformats.org/drawingml/2006/main">
            <a:off x="914400" y="3638550"/>
            <a:ext cx="649605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a:solidFill>
                  <a:srgbClr val="64748B"/>
                </a:solidFill>
              </a:defRPr>
            </a:pPr>
            <a:r>
              <a:rPr sz="1650">
                <a:solidFill>
                  <a:srgbClr val="64748B"/>
                </a:solidFill>
              </a:rPr>
              <a:t>汇报重点：系统目标、总体设计、核心业务闭环、测试结论与演示衔接</a:t>
            </a:r>
          </a:p>
        </p:txBody>
      </p:sp>
      <p:sp>
        <p:nvSpPr>
          <p:cNvPr id="6" name="">
            <a:extLst xmlns:a="http://schemas.openxmlformats.org/drawingml/2006/main">
              <a:ext uri="{FF2B5EF4-FFF2-40B4-BE49-F238E27FC236}">
                <a16:creationId xmlns:a16="http://schemas.microsoft.com/office/drawing/2014/main" id="{57B909B2-C8E8-4DD1-ABC2-80721C12554C}"/>
              </a:ext>
            </a:extLst>
          </p:cNvPr>
          <p:cNvSpPr>
            <a:spLocks xmlns:a="http://schemas.openxmlformats.org/drawingml/2006/main" noGrp="1"/>
          </p:cNvSpPr>
          <p:nvPr/>
        </p:nvSpPr>
        <p:spPr>
          <a:xfrm xmlns:a="http://schemas.openxmlformats.org/drawingml/2006/main">
            <a:off x="12611100" y="685800"/>
            <a:ext cx="4762500" cy="3390900"/>
          </a:xfrm>
          <a:prstGeom xmlns:a="http://schemas.openxmlformats.org/drawingml/2006/main" prst="roundRect">
            <a:avLst>
              <a:gd name="adj" fmla="val 7865"/>
            </a:avLst>
          </a:prstGeom>
          <a:solidFill xmlns:a="http://schemas.openxmlformats.org/drawingml/2006/main">
            <a:srgbClr val="EFF6FF"/>
          </a:solidFill>
        </p:spPr>
      </p:sp>
      <p:sp>
        <p:nvSpPr>
          <p:cNvPr id="7" name="">
            <a:extLst xmlns:a="http://schemas.openxmlformats.org/drawingml/2006/main">
              <a:ext uri="{FF2B5EF4-FFF2-40B4-BE49-F238E27FC236}">
                <a16:creationId xmlns:a16="http://schemas.microsoft.com/office/drawing/2014/main" id="{78B4333A-AD74-4308-8375-4FABB2E8EDA5}"/>
              </a:ext>
            </a:extLst>
          </p:cNvPr>
          <p:cNvSpPr>
            <a:spLocks xmlns:a="http://schemas.openxmlformats.org/drawingml/2006/main" noGrp="1"/>
          </p:cNvSpPr>
          <p:nvPr/>
        </p:nvSpPr>
        <p:spPr>
          <a:xfrm xmlns:a="http://schemas.openxmlformats.org/drawingml/2006/main">
            <a:off x="12877800" y="952500"/>
            <a:ext cx="422910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0F172A"/>
                </a:solidFill>
              </a:defRPr>
            </a:pPr>
            <a:r>
              <a:rPr sz="1950" b="1">
                <a:solidFill>
                  <a:srgbClr val="0F172A"/>
                </a:solidFill>
              </a:rPr>
              <a:t>答辩内容结构</a:t>
            </a:r>
          </a:p>
        </p:txBody>
      </p:sp>
      <p:sp>
        <p:nvSpPr>
          <p:cNvPr id="8" name="">
            <a:extLst xmlns:a="http://schemas.openxmlformats.org/drawingml/2006/main">
              <a:ext uri="{FF2B5EF4-FFF2-40B4-BE49-F238E27FC236}">
                <a16:creationId xmlns:a16="http://schemas.microsoft.com/office/drawing/2014/main" id="{73024285-78D6-484C-A3B6-3066A2A9C697}"/>
              </a:ext>
            </a:extLst>
          </p:cNvPr>
          <p:cNvSpPr>
            <a:spLocks xmlns:a="http://schemas.openxmlformats.org/drawingml/2006/main" noGrp="1"/>
          </p:cNvSpPr>
          <p:nvPr/>
        </p:nvSpPr>
        <p:spPr>
          <a:xfrm xmlns:a="http://schemas.openxmlformats.org/drawingml/2006/main">
            <a:off x="12877800" y="1447800"/>
            <a:ext cx="4229100" cy="1257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b="0">
                <a:solidFill>
                  <a:srgbClr val="475569"/>
                </a:solidFill>
              </a:defRPr>
            </a:pPr>
            <a:r>
              <a:rPr sz="1650" b="0">
                <a:solidFill>
                  <a:srgbClr val="475569"/>
                </a:solidFill>
              </a:rPr>
              <a:t>• 研究背景与系统目标</a:t>
            </a:r>
          </a:p>
          <a:p xmlns:a="http://schemas.openxmlformats.org/drawingml/2006/main">
            <a:pPr>
              <a:defRPr sz="1650" b="0">
                <a:solidFill>
                  <a:srgbClr val="475569"/>
                </a:solidFill>
              </a:defRPr>
            </a:pPr>
            <a:r>
              <a:rPr sz="1650" b="0">
                <a:solidFill>
                  <a:srgbClr val="475569"/>
                </a:solidFill>
              </a:rPr>
              <a:t>• 角色划分与总体架构</a:t>
            </a:r>
          </a:p>
          <a:p xmlns:a="http://schemas.openxmlformats.org/drawingml/2006/main">
            <a:pPr>
              <a:defRPr sz="1650" b="0">
                <a:solidFill>
                  <a:srgbClr val="475569"/>
                </a:solidFill>
              </a:defRPr>
            </a:pPr>
            <a:r>
              <a:rPr sz="1650" b="0">
                <a:solidFill>
                  <a:srgbClr val="475569"/>
                </a:solidFill>
              </a:rPr>
              <a:t>• 数据库对象与功能模块</a:t>
            </a:r>
          </a:p>
          <a:p xmlns:a="http://schemas.openxmlformats.org/drawingml/2006/main">
            <a:pPr>
              <a:defRPr sz="1650" b="0">
                <a:solidFill>
                  <a:srgbClr val="475569"/>
                </a:solidFill>
              </a:defRPr>
            </a:pPr>
            <a:r>
              <a:rPr sz="1650" b="0">
                <a:solidFill>
                  <a:srgbClr val="475569"/>
                </a:solidFill>
              </a:rPr>
              <a:t>• 申领、调拨、预警与通知闭环</a:t>
            </a:r>
          </a:p>
          <a:p xmlns:a="http://schemas.openxmlformats.org/drawingml/2006/main">
            <a:pPr>
              <a:defRPr sz="1650" b="0">
                <a:solidFill>
                  <a:srgbClr val="475569"/>
                </a:solidFill>
              </a:defRPr>
            </a:pPr>
            <a:r>
              <a:rPr sz="1650" b="0">
                <a:solidFill>
                  <a:srgbClr val="475569"/>
                </a:solidFill>
              </a:rPr>
              <a:t>• 系统测试结果与最终结论</a:t>
            </a:r>
          </a:p>
        </p:txBody>
      </p:sp>
      <p:sp>
        <p:nvSpPr>
          <p:cNvPr id="9" name="">
            <a:extLst xmlns:a="http://schemas.openxmlformats.org/drawingml/2006/main">
              <a:ext uri="{FF2B5EF4-FFF2-40B4-BE49-F238E27FC236}">
                <a16:creationId xmlns:a16="http://schemas.microsoft.com/office/drawing/2014/main" id="{B5629A2C-019E-484F-859D-57F7CF1A6CB4}"/>
              </a:ext>
            </a:extLst>
          </p:cNvPr>
          <p:cNvSpPr>
            <a:spLocks xmlns:a="http://schemas.openxmlformats.org/drawingml/2006/main" noGrp="1"/>
          </p:cNvSpPr>
          <p:nvPr/>
        </p:nvSpPr>
        <p:spPr>
          <a:xfrm xmlns:a="http://schemas.openxmlformats.org/drawingml/2006/main">
            <a:off x="12877800" y="2887980"/>
            <a:ext cx="4229100" cy="922020"/>
          </a:xfrm>
          <a:prstGeom xmlns:a="http://schemas.openxmlformats.org/drawingml/2006/main" prst="roundRect">
            <a:avLst>
              <a:gd name="adj" fmla="val 18595"/>
            </a:avLst>
          </a:prstGeom>
          <a:solidFill xmlns:a="http://schemas.openxmlformats.org/drawingml/2006/main">
            <a:srgbClr val="FFFFFF"/>
          </a:solidFill>
        </p:spPr>
      </p:sp>
      <p:sp>
        <p:nvSpPr>
          <p:cNvPr id="10" name="">
            <a:extLst xmlns:a="http://schemas.openxmlformats.org/drawingml/2006/main">
              <a:ext uri="{FF2B5EF4-FFF2-40B4-BE49-F238E27FC236}">
                <a16:creationId xmlns:a16="http://schemas.microsoft.com/office/drawing/2014/main" id="{4384328B-5A29-47C6-AF4A-C95FC73734C7}"/>
              </a:ext>
            </a:extLst>
          </p:cNvPr>
          <p:cNvSpPr>
            <a:spLocks xmlns:a="http://schemas.openxmlformats.org/drawingml/2006/main" noGrp="1"/>
          </p:cNvSpPr>
          <p:nvPr/>
        </p:nvSpPr>
        <p:spPr>
          <a:xfrm xmlns:a="http://schemas.openxmlformats.org/drawingml/2006/main">
            <a:off x="13049250" y="3048000"/>
            <a:ext cx="3886200" cy="628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0F766E"/>
                </a:solidFill>
              </a:defRPr>
            </a:pPr>
            <a:r>
              <a:rPr sz="1350" b="1">
                <a:solidFill>
                  <a:srgbClr val="0F766E"/>
                </a:solidFill>
              </a:rPr>
              <a:t>本次 PPT 仅描述已实现且经代码、数据库和测试支撑的功能。</a:t>
            </a:r>
          </a:p>
        </p:txBody>
      </p:sp>
      <p:sp>
        <p:nvSpPr>
          <p:cNvPr id="11" name="">
            <a:extLst xmlns:a="http://schemas.openxmlformats.org/drawingml/2006/main">
              <a:ext uri="{FF2B5EF4-FFF2-40B4-BE49-F238E27FC236}">
                <a16:creationId xmlns:a16="http://schemas.microsoft.com/office/drawing/2014/main" id="{6AF1321B-5D0B-4600-98C7-92A1BA9ACF16}"/>
              </a:ext>
            </a:extLst>
          </p:cNvPr>
          <p:cNvSpPr>
            <a:spLocks xmlns:a="http://schemas.openxmlformats.org/drawingml/2006/main" noGrp="1"/>
          </p:cNvSpPr>
          <p:nvPr/>
        </p:nvSpPr>
        <p:spPr>
          <a:xfrm xmlns:a="http://schemas.openxmlformats.org/drawingml/2006/main">
            <a:off x="914400" y="9467850"/>
            <a:ext cx="16459200" cy="152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a:solidFill>
                  <a:srgbClr val="64748B"/>
                </a:solidFill>
              </a:defRPr>
            </a:pPr>
            <a:r>
              <a:rPr sz="900">
                <a:solidFill>
                  <a:srgbClr val="64748B"/>
                </a:solidFill>
              </a:rPr>
              <a:t>依据：当前项目实现、最新论文定稿、全功能闭环自测报告与已有检查材料</a:t>
            </a:r>
          </a:p>
        </p:txBody>
      </p:sp>
    </p:spTree>
    <p:extLst>
      <p:ext uri="{BB962C8B-B14F-4D97-AF65-F5344CB8AC3E}">
        <p14:creationId xmlns:p14="http://schemas.microsoft.com/office/powerpoint/2010/main" val="143022384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8378167-90E8-4AFB-9253-3A1006CEB4FA}"/>
              </a:ext>
            </a:extLst>
          </p:cNvPr>
          <p:cNvSpPr>
            <a:spLocks xmlns:a="http://schemas.openxmlformats.org/drawingml/2006/main" noGrp="1"/>
          </p:cNvSpPr>
          <p:nvPr/>
        </p:nvSpPr>
        <p:spPr>
          <a:xfrm xmlns:a="http://schemas.openxmlformats.org/drawingml/2006/main">
            <a:off x="914400" y="685800"/>
            <a:ext cx="838200" cy="5715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2" name="">
            <a:extLst xmlns:a="http://schemas.openxmlformats.org/drawingml/2006/main">
              <a:ext uri="{FF2B5EF4-FFF2-40B4-BE49-F238E27FC236}">
                <a16:creationId xmlns:a16="http://schemas.microsoft.com/office/drawing/2014/main" id="{14FA1681-E34B-4303-8C08-405FB48073F6}"/>
              </a:ext>
            </a:extLst>
          </p:cNvPr>
          <p:cNvSpPr>
            <a:spLocks xmlns:a="http://schemas.openxmlformats.org/drawingml/2006/main" noGrp="1"/>
          </p:cNvSpPr>
          <p:nvPr/>
        </p:nvSpPr>
        <p:spPr>
          <a:xfrm xmlns:a="http://schemas.openxmlformats.org/drawingml/2006/main">
            <a:off x="1924050" y="685800"/>
            <a:ext cx="171450" cy="4191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0F766E"/>
                </a:solidFill>
              </a:defRPr>
            </a:pPr>
            <a:r>
              <a:rPr sz="1350" b="1">
                <a:solidFill>
                  <a:srgbClr val="0F766E"/>
                </a:solidFill>
              </a:rPr>
              <a:t>01</a:t>
            </a:r>
          </a:p>
        </p:txBody>
      </p:sp>
      <p:sp>
        <p:nvSpPr>
          <p:cNvPr id="3" name="">
            <a:extLst xmlns:a="http://schemas.openxmlformats.org/drawingml/2006/main">
              <a:ext uri="{FF2B5EF4-FFF2-40B4-BE49-F238E27FC236}">
                <a16:creationId xmlns:a16="http://schemas.microsoft.com/office/drawing/2014/main" id="{572BEBB9-F2C6-42DD-BC53-37C39E5B5F7A}"/>
              </a:ext>
            </a:extLst>
          </p:cNvPr>
          <p:cNvSpPr>
            <a:spLocks xmlns:a="http://schemas.openxmlformats.org/drawingml/2006/main" noGrp="1"/>
          </p:cNvSpPr>
          <p:nvPr/>
        </p:nvSpPr>
        <p:spPr>
          <a:xfrm xmlns:a="http://schemas.openxmlformats.org/drawingml/2006/main">
            <a:off x="914400" y="1238250"/>
            <a:ext cx="411480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a:solidFill>
                  <a:srgbClr val="0F172A"/>
                </a:solidFill>
              </a:defRPr>
            </a:pPr>
            <a:r>
              <a:rPr sz="3600" b="1">
                <a:solidFill>
                  <a:srgbClr val="0F172A"/>
                </a:solidFill>
              </a:rPr>
              <a:t>研究背景与系统目标</a:t>
            </a:r>
          </a:p>
        </p:txBody>
      </p:sp>
      <p:sp>
        <p:nvSpPr>
          <p:cNvPr id="4" name="">
            <a:extLst xmlns:a="http://schemas.openxmlformats.org/drawingml/2006/main">
              <a:ext uri="{FF2B5EF4-FFF2-40B4-BE49-F238E27FC236}">
                <a16:creationId xmlns:a16="http://schemas.microsoft.com/office/drawing/2014/main" id="{CA208DF2-8461-472C-9627-C95B0D2F90F4}"/>
              </a:ext>
            </a:extLst>
          </p:cNvPr>
          <p:cNvSpPr>
            <a:spLocks xmlns:a="http://schemas.openxmlformats.org/drawingml/2006/main" noGrp="1"/>
          </p:cNvSpPr>
          <p:nvPr/>
        </p:nvSpPr>
        <p:spPr>
          <a:xfrm xmlns:a="http://schemas.openxmlformats.org/drawingml/2006/main">
            <a:off x="914400" y="1905000"/>
            <a:ext cx="75438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a:solidFill>
                  <a:srgbClr val="475569"/>
                </a:solidFill>
              </a:defRPr>
            </a:pPr>
            <a:r>
              <a:rPr sz="1800">
                <a:solidFill>
                  <a:srgbClr val="475569"/>
                </a:solidFill>
              </a:rPr>
              <a:t>围绕高校校园物资管理中的台账分散、库存追踪困难与流程不透明问题展开</a:t>
            </a:r>
          </a:p>
        </p:txBody>
      </p:sp>
      <p:sp>
        <p:nvSpPr>
          <p:cNvPr id="5" name="">
            <a:extLst xmlns:a="http://schemas.openxmlformats.org/drawingml/2006/main">
              <a:ext uri="{FF2B5EF4-FFF2-40B4-BE49-F238E27FC236}">
                <a16:creationId xmlns:a16="http://schemas.microsoft.com/office/drawing/2014/main" id="{94652A43-A46A-4890-BE12-555C0CA09266}"/>
              </a:ext>
            </a:extLst>
          </p:cNvPr>
          <p:cNvSpPr>
            <a:spLocks xmlns:a="http://schemas.openxmlformats.org/drawingml/2006/main" noGrp="1"/>
          </p:cNvSpPr>
          <p:nvPr/>
        </p:nvSpPr>
        <p:spPr>
          <a:xfrm xmlns:a="http://schemas.openxmlformats.org/drawingml/2006/main">
            <a:off x="15963900" y="685800"/>
            <a:ext cx="1409700" cy="472440"/>
          </a:xfrm>
          <a:prstGeom xmlns:a="http://schemas.openxmlformats.org/drawingml/2006/main" prst="roundRect">
            <a:avLst>
              <a:gd name="adj" fmla="val 36290"/>
            </a:avLst>
          </a:prstGeom>
          <a:solidFill xmlns:a="http://schemas.openxmlformats.org/drawingml/2006/main">
            <a:srgbClr val="0F172A"/>
          </a:solidFill>
        </p:spPr>
      </p:sp>
      <p:sp>
        <p:nvSpPr>
          <p:cNvPr id="6" name="">
            <a:extLst xmlns:a="http://schemas.openxmlformats.org/drawingml/2006/main">
              <a:ext uri="{FF2B5EF4-FFF2-40B4-BE49-F238E27FC236}">
                <a16:creationId xmlns:a16="http://schemas.microsoft.com/office/drawing/2014/main" id="{739C3B51-E6FF-4E65-A779-6239A648438E}"/>
              </a:ext>
            </a:extLst>
          </p:cNvPr>
          <p:cNvSpPr>
            <a:spLocks xmlns:a="http://schemas.openxmlformats.org/drawingml/2006/main" noGrp="1"/>
          </p:cNvSpPr>
          <p:nvPr/>
        </p:nvSpPr>
        <p:spPr>
          <a:xfrm xmlns:a="http://schemas.openxmlformats.org/drawingml/2006/main">
            <a:off x="16135350" y="819150"/>
            <a:ext cx="10668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FFFFFF"/>
                </a:solidFill>
              </a:defRPr>
            </a:pPr>
            <a:r>
              <a:rPr sz="1350" b="1">
                <a:solidFill>
                  <a:srgbClr val="FFFFFF"/>
                </a:solidFill>
              </a:rPr>
              <a:t>01</a:t>
            </a:r>
          </a:p>
        </p:txBody>
      </p:sp>
      <p:sp>
        <p:nvSpPr>
          <p:cNvPr id="7" name="">
            <a:extLst xmlns:a="http://schemas.openxmlformats.org/drawingml/2006/main">
              <a:ext uri="{FF2B5EF4-FFF2-40B4-BE49-F238E27FC236}">
                <a16:creationId xmlns:a16="http://schemas.microsoft.com/office/drawing/2014/main" id="{810F7C53-59A1-48F7-BEB2-99FA78B7505B}"/>
              </a:ext>
            </a:extLst>
          </p:cNvPr>
          <p:cNvSpPr>
            <a:spLocks xmlns:a="http://schemas.openxmlformats.org/drawingml/2006/main" noGrp="1"/>
          </p:cNvSpPr>
          <p:nvPr/>
        </p:nvSpPr>
        <p:spPr>
          <a:xfrm xmlns:a="http://schemas.openxmlformats.org/drawingml/2006/main">
            <a:off x="914400" y="2453640"/>
            <a:ext cx="8501063" cy="3048000"/>
          </a:xfrm>
          <a:prstGeom xmlns:a="http://schemas.openxmlformats.org/drawingml/2006/main" prst="roundRect">
            <a:avLst>
              <a:gd name="adj" fmla="val 7500"/>
            </a:avLst>
          </a:prstGeom>
          <a:solidFill xmlns:a="http://schemas.openxmlformats.org/drawingml/2006/main">
            <a:srgbClr val="F8FAFC"/>
          </a:solidFill>
        </p:spPr>
      </p:sp>
      <p:sp>
        <p:nvSpPr>
          <p:cNvPr id="8" name="">
            <a:extLst xmlns:a="http://schemas.openxmlformats.org/drawingml/2006/main">
              <a:ext uri="{FF2B5EF4-FFF2-40B4-BE49-F238E27FC236}">
                <a16:creationId xmlns:a16="http://schemas.microsoft.com/office/drawing/2014/main" id="{9B145A4F-7AA8-4BDA-9C77-E6EE7F2BD6F0}"/>
              </a:ext>
            </a:extLst>
          </p:cNvPr>
          <p:cNvSpPr>
            <a:spLocks xmlns:a="http://schemas.openxmlformats.org/drawingml/2006/main" noGrp="1"/>
          </p:cNvSpPr>
          <p:nvPr/>
        </p:nvSpPr>
        <p:spPr>
          <a:xfrm xmlns:a="http://schemas.openxmlformats.org/drawingml/2006/main">
            <a:off x="1200150" y="2724150"/>
            <a:ext cx="792480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1">
                <a:solidFill>
                  <a:srgbClr val="0F172A"/>
                </a:solidFill>
              </a:defRPr>
            </a:pPr>
            <a:r>
              <a:rPr sz="2100" b="1">
                <a:solidFill>
                  <a:srgbClr val="0F172A"/>
                </a:solidFill>
              </a:rPr>
              <a:t>业务场景特征</a:t>
            </a:r>
          </a:p>
        </p:txBody>
      </p:sp>
      <p:sp>
        <p:nvSpPr>
          <p:cNvPr id="9" name="">
            <a:extLst xmlns:a="http://schemas.openxmlformats.org/drawingml/2006/main">
              <a:ext uri="{FF2B5EF4-FFF2-40B4-BE49-F238E27FC236}">
                <a16:creationId xmlns:a16="http://schemas.microsoft.com/office/drawing/2014/main" id="{A6BFF3FA-8A64-4DCE-9B1C-59CFB78B1D53}"/>
              </a:ext>
            </a:extLst>
          </p:cNvPr>
          <p:cNvSpPr>
            <a:spLocks xmlns:a="http://schemas.openxmlformats.org/drawingml/2006/main" noGrp="1"/>
          </p:cNvSpPr>
          <p:nvPr/>
        </p:nvSpPr>
        <p:spPr>
          <a:xfrm xmlns:a="http://schemas.openxmlformats.org/drawingml/2006/main">
            <a:off x="1200150" y="3238500"/>
            <a:ext cx="7924800" cy="838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0">
                <a:solidFill>
                  <a:srgbClr val="475569"/>
                </a:solidFill>
              </a:defRPr>
            </a:pPr>
            <a:r>
              <a:rPr sz="1800" b="0">
                <a:solidFill>
                  <a:srgbClr val="475569"/>
                </a:solidFill>
              </a:rPr>
              <a:t>• 物资来源、分类、仓库、库位和批次信息需要统一管理</a:t>
            </a:r>
          </a:p>
          <a:p xmlns:a="http://schemas.openxmlformats.org/drawingml/2006/main">
            <a:pPr>
              <a:defRPr sz="1800" b="0">
                <a:solidFill>
                  <a:srgbClr val="475569"/>
                </a:solidFill>
              </a:defRPr>
            </a:pPr>
            <a:r>
              <a:rPr sz="1800" b="0">
                <a:solidFill>
                  <a:srgbClr val="475569"/>
                </a:solidFill>
              </a:rPr>
              <a:t>• 物资申领、审批、出库、签收与仓库调拨存在明显的状态流转关系</a:t>
            </a:r>
          </a:p>
          <a:p xmlns:a="http://schemas.openxmlformats.org/drawingml/2006/main">
            <a:pPr>
              <a:defRPr sz="1800" b="0">
                <a:solidFill>
                  <a:srgbClr val="475569"/>
                </a:solidFill>
              </a:defRPr>
            </a:pPr>
            <a:r>
              <a:rPr sz="1800" b="0">
                <a:solidFill>
                  <a:srgbClr val="475569"/>
                </a:solidFill>
              </a:rPr>
              <a:t>• 库存数量、锁定数量、批次余量、预警和日志数据需要同步联动</a:t>
            </a:r>
          </a:p>
        </p:txBody>
      </p:sp>
      <p:sp>
        <p:nvSpPr>
          <p:cNvPr id="10" name="">
            <a:extLst xmlns:a="http://schemas.openxmlformats.org/drawingml/2006/main">
              <a:ext uri="{FF2B5EF4-FFF2-40B4-BE49-F238E27FC236}">
                <a16:creationId xmlns:a16="http://schemas.microsoft.com/office/drawing/2014/main" id="{B488FCAB-1840-4B5C-A5DD-C11E9B5464D3}"/>
              </a:ext>
            </a:extLst>
          </p:cNvPr>
          <p:cNvSpPr>
            <a:spLocks xmlns:a="http://schemas.openxmlformats.org/drawingml/2006/main" noGrp="1"/>
          </p:cNvSpPr>
          <p:nvPr/>
        </p:nvSpPr>
        <p:spPr>
          <a:xfrm xmlns:a="http://schemas.openxmlformats.org/drawingml/2006/main">
            <a:off x="1200150" y="4248150"/>
            <a:ext cx="79248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0F766E"/>
                </a:solidFill>
              </a:defRPr>
            </a:pPr>
            <a:r>
              <a:rPr sz="1800" b="1">
                <a:solidFill>
                  <a:srgbClr val="0F766E"/>
                </a:solidFill>
              </a:rPr>
              <a:t>系统定位</a:t>
            </a:r>
          </a:p>
        </p:txBody>
      </p:sp>
      <p:sp>
        <p:nvSpPr>
          <p:cNvPr id="11" name="">
            <a:extLst xmlns:a="http://schemas.openxmlformats.org/drawingml/2006/main">
              <a:ext uri="{FF2B5EF4-FFF2-40B4-BE49-F238E27FC236}">
                <a16:creationId xmlns:a16="http://schemas.microsoft.com/office/drawing/2014/main" id="{43CAF53C-9E1C-41DE-A948-4BABFAC6239C}"/>
              </a:ext>
            </a:extLst>
          </p:cNvPr>
          <p:cNvSpPr>
            <a:spLocks xmlns:a="http://schemas.openxmlformats.org/drawingml/2006/main" noGrp="1"/>
          </p:cNvSpPr>
          <p:nvPr/>
        </p:nvSpPr>
        <p:spPr>
          <a:xfrm xmlns:a="http://schemas.openxmlformats.org/drawingml/2006/main">
            <a:off x="1200150" y="4705350"/>
            <a:ext cx="7924800" cy="533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0">
                <a:solidFill>
                  <a:srgbClr val="475569"/>
                </a:solidFill>
              </a:defRPr>
            </a:pPr>
            <a:r>
              <a:rPr sz="1725" b="0">
                <a:solidFill>
                  <a:srgbClr val="475569"/>
                </a:solidFill>
              </a:rPr>
              <a:t>以流程联动、库存可追踪和状态可核验为主线，形成适合校园物资管理场景的规则化管理系统。</a:t>
            </a:r>
          </a:p>
        </p:txBody>
      </p:sp>
      <p:sp>
        <p:nvSpPr>
          <p:cNvPr id="12" name="">
            <a:extLst xmlns:a="http://schemas.openxmlformats.org/drawingml/2006/main">
              <a:ext uri="{FF2B5EF4-FFF2-40B4-BE49-F238E27FC236}">
                <a16:creationId xmlns:a16="http://schemas.microsoft.com/office/drawing/2014/main" id="{50614DBC-4DB4-4E50-84E7-38F6D949D735}"/>
              </a:ext>
            </a:extLst>
          </p:cNvPr>
          <p:cNvSpPr>
            <a:spLocks xmlns:a="http://schemas.openxmlformats.org/drawingml/2006/main" noGrp="1"/>
          </p:cNvSpPr>
          <p:nvPr/>
        </p:nvSpPr>
        <p:spPr>
          <a:xfrm xmlns:a="http://schemas.openxmlformats.org/drawingml/2006/main">
            <a:off x="9682163" y="2453640"/>
            <a:ext cx="7691438" cy="1870710"/>
          </a:xfrm>
          <a:prstGeom xmlns:a="http://schemas.openxmlformats.org/drawingml/2006/main" prst="roundRect">
            <a:avLst>
              <a:gd name="adj" fmla="val 11202"/>
            </a:avLst>
          </a:prstGeom>
          <a:solidFill xmlns:a="http://schemas.openxmlformats.org/drawingml/2006/main">
            <a:srgbClr val="ECFDF5"/>
          </a:solidFill>
        </p:spPr>
      </p:sp>
      <p:sp>
        <p:nvSpPr>
          <p:cNvPr id="13" name="">
            <a:extLst xmlns:a="http://schemas.openxmlformats.org/drawingml/2006/main">
              <a:ext uri="{FF2B5EF4-FFF2-40B4-BE49-F238E27FC236}">
                <a16:creationId xmlns:a16="http://schemas.microsoft.com/office/drawing/2014/main" id="{C9C8DFC8-E4A0-405E-80F2-4ADE757B7A1C}"/>
              </a:ext>
            </a:extLst>
          </p:cNvPr>
          <p:cNvSpPr>
            <a:spLocks xmlns:a="http://schemas.openxmlformats.org/drawingml/2006/main" noGrp="1"/>
          </p:cNvSpPr>
          <p:nvPr/>
        </p:nvSpPr>
        <p:spPr>
          <a:xfrm xmlns:a="http://schemas.openxmlformats.org/drawingml/2006/main">
            <a:off x="9925050" y="2686050"/>
            <a:ext cx="72009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1E293B"/>
                </a:solidFill>
              </a:defRPr>
            </a:pPr>
            <a:r>
              <a:rPr sz="1800" b="1">
                <a:solidFill>
                  <a:srgbClr val="1E293B"/>
                </a:solidFill>
              </a:rPr>
              <a:t>系统目标</a:t>
            </a:r>
          </a:p>
        </p:txBody>
      </p:sp>
      <p:sp>
        <p:nvSpPr>
          <p:cNvPr id="14" name="">
            <a:extLst xmlns:a="http://schemas.openxmlformats.org/drawingml/2006/main">
              <a:ext uri="{FF2B5EF4-FFF2-40B4-BE49-F238E27FC236}">
                <a16:creationId xmlns:a16="http://schemas.microsoft.com/office/drawing/2014/main" id="{41266EEC-7ED7-44BC-9CEA-5987FA71549B}"/>
              </a:ext>
            </a:extLst>
          </p:cNvPr>
          <p:cNvSpPr>
            <a:spLocks xmlns:a="http://schemas.openxmlformats.org/drawingml/2006/main" noGrp="1"/>
          </p:cNvSpPr>
          <p:nvPr/>
        </p:nvSpPr>
        <p:spPr>
          <a:xfrm xmlns:a="http://schemas.openxmlformats.org/drawingml/2006/main">
            <a:off x="9925050" y="3086100"/>
            <a:ext cx="7200900" cy="1009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b="0">
                <a:solidFill>
                  <a:srgbClr val="475569"/>
                </a:solidFill>
              </a:defRPr>
            </a:pPr>
            <a:r>
              <a:rPr sz="1650" b="0">
                <a:solidFill>
                  <a:srgbClr val="475569"/>
                </a:solidFill>
              </a:rPr>
              <a:t>• 实现基础资料、库存批次、申领审批、调拨处理、预警通知和统计分析的一体化管理</a:t>
            </a:r>
          </a:p>
          <a:p xmlns:a="http://schemas.openxmlformats.org/drawingml/2006/main">
            <a:pPr>
              <a:defRPr sz="1650" b="0">
                <a:solidFill>
                  <a:srgbClr val="475569"/>
                </a:solidFill>
              </a:defRPr>
            </a:pPr>
            <a:r>
              <a:rPr sz="1650" b="0">
                <a:solidFill>
                  <a:srgbClr val="475569"/>
                </a:solidFill>
              </a:rPr>
              <a:t>• 通过单据状态、库存记录和操作日志打通物资流转主链路</a:t>
            </a:r>
          </a:p>
        </p:txBody>
      </p:sp>
      <p:sp>
        <p:nvSpPr>
          <p:cNvPr id="15" name="">
            <a:extLst xmlns:a="http://schemas.openxmlformats.org/drawingml/2006/main">
              <a:ext uri="{FF2B5EF4-FFF2-40B4-BE49-F238E27FC236}">
                <a16:creationId xmlns:a16="http://schemas.microsoft.com/office/drawing/2014/main" id="{F911F81F-B682-4B36-A74D-B980C984D653}"/>
              </a:ext>
            </a:extLst>
          </p:cNvPr>
          <p:cNvSpPr>
            <a:spLocks xmlns:a="http://schemas.openxmlformats.org/drawingml/2006/main" noGrp="1"/>
          </p:cNvSpPr>
          <p:nvPr/>
        </p:nvSpPr>
        <p:spPr>
          <a:xfrm xmlns:a="http://schemas.openxmlformats.org/drawingml/2006/main">
            <a:off x="9682163" y="4552950"/>
            <a:ext cx="7691438" cy="1367790"/>
          </a:xfrm>
          <a:prstGeom xmlns:a="http://schemas.openxmlformats.org/drawingml/2006/main" prst="roundRect">
            <a:avLst>
              <a:gd name="adj" fmla="val 15320"/>
            </a:avLst>
          </a:prstGeom>
          <a:solidFill xmlns:a="http://schemas.openxmlformats.org/drawingml/2006/main">
            <a:srgbClr val="FFF7ED"/>
          </a:solidFill>
        </p:spPr>
      </p:sp>
      <p:sp>
        <p:nvSpPr>
          <p:cNvPr id="16" name="">
            <a:extLst xmlns:a="http://schemas.openxmlformats.org/drawingml/2006/main">
              <a:ext uri="{FF2B5EF4-FFF2-40B4-BE49-F238E27FC236}">
                <a16:creationId xmlns:a16="http://schemas.microsoft.com/office/drawing/2014/main" id="{EDB5DDA0-FA16-4E94-9C61-E333E5FAC705}"/>
              </a:ext>
            </a:extLst>
          </p:cNvPr>
          <p:cNvSpPr>
            <a:spLocks xmlns:a="http://schemas.openxmlformats.org/drawingml/2006/main" noGrp="1"/>
          </p:cNvSpPr>
          <p:nvPr/>
        </p:nvSpPr>
        <p:spPr>
          <a:xfrm xmlns:a="http://schemas.openxmlformats.org/drawingml/2006/main">
            <a:off x="9925050" y="4781550"/>
            <a:ext cx="72009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1E293B"/>
                </a:solidFill>
              </a:defRPr>
            </a:pPr>
            <a:r>
              <a:rPr sz="1800" b="1">
                <a:solidFill>
                  <a:srgbClr val="1E293B"/>
                </a:solidFill>
              </a:rPr>
              <a:t>实现边界</a:t>
            </a:r>
          </a:p>
        </p:txBody>
      </p:sp>
      <p:sp>
        <p:nvSpPr>
          <p:cNvPr id="17" name="">
            <a:extLst xmlns:a="http://schemas.openxmlformats.org/drawingml/2006/main">
              <a:ext uri="{FF2B5EF4-FFF2-40B4-BE49-F238E27FC236}">
                <a16:creationId xmlns:a16="http://schemas.microsoft.com/office/drawing/2014/main" id="{C83E8FD3-70F0-4990-A51F-6CE72D38AF2D}"/>
              </a:ext>
            </a:extLst>
          </p:cNvPr>
          <p:cNvSpPr>
            <a:spLocks xmlns:a="http://schemas.openxmlformats.org/drawingml/2006/main" noGrp="1"/>
          </p:cNvSpPr>
          <p:nvPr/>
        </p:nvSpPr>
        <p:spPr>
          <a:xfrm xmlns:a="http://schemas.openxmlformats.org/drawingml/2006/main">
            <a:off x="9925050" y="5181600"/>
            <a:ext cx="7200900" cy="514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b="0">
                <a:solidFill>
                  <a:srgbClr val="475569"/>
                </a:solidFill>
              </a:defRPr>
            </a:pPr>
            <a:r>
              <a:rPr sz="1650" b="0">
                <a:solidFill>
                  <a:srgbClr val="475569"/>
                </a:solidFill>
              </a:rPr>
              <a:t>• 以站内业务处理、规则化预警和统计展示为重点</a:t>
            </a:r>
          </a:p>
          <a:p xmlns:a="http://schemas.openxmlformats.org/drawingml/2006/main">
            <a:pPr>
              <a:defRPr sz="1650" b="0">
                <a:solidFill>
                  <a:srgbClr val="475569"/>
                </a:solidFill>
              </a:defRPr>
            </a:pPr>
            <a:r>
              <a:rPr sz="1650" b="0">
                <a:solidFill>
                  <a:srgbClr val="475569"/>
                </a:solidFill>
              </a:rPr>
              <a:t>• “智能化”限定为 FEFO 扣减、候选仓排序、补货参考和出库趋势参考</a:t>
            </a:r>
          </a:p>
        </p:txBody>
      </p:sp>
      <p:sp>
        <p:nvSpPr>
          <p:cNvPr id="18" name="">
            <a:extLst xmlns:a="http://schemas.openxmlformats.org/drawingml/2006/main">
              <a:ext uri="{FF2B5EF4-FFF2-40B4-BE49-F238E27FC236}">
                <a16:creationId xmlns:a16="http://schemas.microsoft.com/office/drawing/2014/main" id="{2F6DC55B-FB7C-47F3-8928-196394A04A31}"/>
              </a:ext>
            </a:extLst>
          </p:cNvPr>
          <p:cNvSpPr>
            <a:spLocks xmlns:a="http://schemas.openxmlformats.org/drawingml/2006/main" noGrp="1"/>
          </p:cNvSpPr>
          <p:nvPr/>
        </p:nvSpPr>
        <p:spPr>
          <a:xfrm xmlns:a="http://schemas.openxmlformats.org/drawingml/2006/main">
            <a:off x="9682163" y="6149340"/>
            <a:ext cx="7691438" cy="1367790"/>
          </a:xfrm>
          <a:prstGeom xmlns:a="http://schemas.openxmlformats.org/drawingml/2006/main" prst="roundRect">
            <a:avLst>
              <a:gd name="adj" fmla="val 15320"/>
            </a:avLst>
          </a:prstGeom>
          <a:solidFill xmlns:a="http://schemas.openxmlformats.org/drawingml/2006/main">
            <a:srgbClr val="EFF6FF"/>
          </a:solidFill>
        </p:spPr>
      </p:sp>
      <p:sp>
        <p:nvSpPr>
          <p:cNvPr id="19" name="">
            <a:extLst xmlns:a="http://schemas.openxmlformats.org/drawingml/2006/main">
              <a:ext uri="{FF2B5EF4-FFF2-40B4-BE49-F238E27FC236}">
                <a16:creationId xmlns:a16="http://schemas.microsoft.com/office/drawing/2014/main" id="{E1179E40-17E0-4D50-B662-31D886D3B888}"/>
              </a:ext>
            </a:extLst>
          </p:cNvPr>
          <p:cNvSpPr>
            <a:spLocks xmlns:a="http://schemas.openxmlformats.org/drawingml/2006/main" noGrp="1"/>
          </p:cNvSpPr>
          <p:nvPr/>
        </p:nvSpPr>
        <p:spPr>
          <a:xfrm xmlns:a="http://schemas.openxmlformats.org/drawingml/2006/main">
            <a:off x="9925050" y="6381750"/>
            <a:ext cx="72009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1E293B"/>
                </a:solidFill>
              </a:defRPr>
            </a:pPr>
            <a:r>
              <a:rPr sz="1800" b="1">
                <a:solidFill>
                  <a:srgbClr val="1E293B"/>
                </a:solidFill>
              </a:rPr>
              <a:t>答辩对应关系</a:t>
            </a:r>
          </a:p>
        </p:txBody>
      </p:sp>
      <p:sp>
        <p:nvSpPr>
          <p:cNvPr id="20" name="">
            <a:extLst xmlns:a="http://schemas.openxmlformats.org/drawingml/2006/main">
              <a:ext uri="{FF2B5EF4-FFF2-40B4-BE49-F238E27FC236}">
                <a16:creationId xmlns:a16="http://schemas.microsoft.com/office/drawing/2014/main" id="{B84A8618-7DE1-4AAF-8839-1CDFDE53828E}"/>
              </a:ext>
            </a:extLst>
          </p:cNvPr>
          <p:cNvSpPr>
            <a:spLocks xmlns:a="http://schemas.openxmlformats.org/drawingml/2006/main" noGrp="1"/>
          </p:cNvSpPr>
          <p:nvPr/>
        </p:nvSpPr>
        <p:spPr>
          <a:xfrm xmlns:a="http://schemas.openxmlformats.org/drawingml/2006/main">
            <a:off x="9925050" y="6781800"/>
            <a:ext cx="7200900" cy="514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b="0">
                <a:solidFill>
                  <a:srgbClr val="475569"/>
                </a:solidFill>
              </a:defRPr>
            </a:pPr>
            <a:r>
              <a:rPr sz="1650" b="0">
                <a:solidFill>
                  <a:srgbClr val="475569"/>
                </a:solidFill>
              </a:rPr>
              <a:t>• 论文表述、系统代码、数据库结构与全功能闭环自测结论保持一致</a:t>
            </a:r>
          </a:p>
          <a:p xmlns:a="http://schemas.openxmlformats.org/drawingml/2006/main">
            <a:pPr>
              <a:defRPr sz="1650" b="0">
                <a:solidFill>
                  <a:srgbClr val="475569"/>
                </a:solidFill>
              </a:defRPr>
            </a:pPr>
            <a:r>
              <a:rPr sz="1650" b="0">
                <a:solidFill>
                  <a:srgbClr val="475569"/>
                </a:solidFill>
              </a:rPr>
              <a:t>• 后续现场演示直接围绕申领与调拨两条业务链路展开</a:t>
            </a:r>
          </a:p>
        </p:txBody>
      </p:sp>
      <p:sp>
        <p:nvSpPr>
          <p:cNvPr id="21" name="">
            <a:extLst xmlns:a="http://schemas.openxmlformats.org/drawingml/2006/main">
              <a:ext uri="{FF2B5EF4-FFF2-40B4-BE49-F238E27FC236}">
                <a16:creationId xmlns:a16="http://schemas.microsoft.com/office/drawing/2014/main" id="{146420D0-1384-4524-A947-43231CAE6B24}"/>
              </a:ext>
            </a:extLst>
          </p:cNvPr>
          <p:cNvSpPr>
            <a:spLocks xmlns:a="http://schemas.openxmlformats.org/drawingml/2006/main" noGrp="1"/>
          </p:cNvSpPr>
          <p:nvPr/>
        </p:nvSpPr>
        <p:spPr>
          <a:xfrm xmlns:a="http://schemas.openxmlformats.org/drawingml/2006/main">
            <a:off x="914400" y="9467850"/>
            <a:ext cx="16459200" cy="152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a:solidFill>
                  <a:srgbClr val="64748B"/>
                </a:solidFill>
              </a:defRPr>
            </a:pPr>
            <a:r>
              <a:rPr sz="900">
                <a:solidFill>
                  <a:srgbClr val="64748B"/>
                </a:solidFill>
              </a:rPr>
              <a:t>依据：当前项目实现、最新论文定稿、全功能闭环自测报告与已有检查材料</a:t>
            </a:r>
          </a:p>
        </p:txBody>
      </p:sp>
    </p:spTree>
    <p:extLst>
      <p:ext uri="{BB962C8B-B14F-4D97-AF65-F5344CB8AC3E}">
        <p14:creationId xmlns:p14="http://schemas.microsoft.com/office/powerpoint/2010/main" val="6418587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9BD18C9-70DF-4A4C-9745-8DD722511586}"/>
              </a:ext>
            </a:extLst>
          </p:cNvPr>
          <p:cNvSpPr>
            <a:spLocks xmlns:a="http://schemas.openxmlformats.org/drawingml/2006/main" noGrp="1"/>
          </p:cNvSpPr>
          <p:nvPr/>
        </p:nvSpPr>
        <p:spPr>
          <a:xfrm xmlns:a="http://schemas.openxmlformats.org/drawingml/2006/main">
            <a:off x="914400" y="685800"/>
            <a:ext cx="838200" cy="5715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2" name="">
            <a:extLst xmlns:a="http://schemas.openxmlformats.org/drawingml/2006/main">
              <a:ext uri="{FF2B5EF4-FFF2-40B4-BE49-F238E27FC236}">
                <a16:creationId xmlns:a16="http://schemas.microsoft.com/office/drawing/2014/main" id="{F65C0256-0E89-41EB-957C-5B1F3F85FABD}"/>
              </a:ext>
            </a:extLst>
          </p:cNvPr>
          <p:cNvSpPr>
            <a:spLocks xmlns:a="http://schemas.openxmlformats.org/drawingml/2006/main" noGrp="1"/>
          </p:cNvSpPr>
          <p:nvPr/>
        </p:nvSpPr>
        <p:spPr>
          <a:xfrm xmlns:a="http://schemas.openxmlformats.org/drawingml/2006/main">
            <a:off x="1924050" y="685800"/>
            <a:ext cx="171450" cy="4191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0F766E"/>
                </a:solidFill>
              </a:defRPr>
            </a:pPr>
            <a:r>
              <a:rPr sz="1350" b="1">
                <a:solidFill>
                  <a:srgbClr val="0F766E"/>
                </a:solidFill>
              </a:rPr>
              <a:t>02</a:t>
            </a:r>
          </a:p>
        </p:txBody>
      </p:sp>
      <p:sp>
        <p:nvSpPr>
          <p:cNvPr id="3" name="">
            <a:extLst xmlns:a="http://schemas.openxmlformats.org/drawingml/2006/main">
              <a:ext uri="{FF2B5EF4-FFF2-40B4-BE49-F238E27FC236}">
                <a16:creationId xmlns:a16="http://schemas.microsoft.com/office/drawing/2014/main" id="{E6BF2DAE-547A-4877-9F94-C6DA4FB50B02}"/>
              </a:ext>
            </a:extLst>
          </p:cNvPr>
          <p:cNvSpPr>
            <a:spLocks xmlns:a="http://schemas.openxmlformats.org/drawingml/2006/main" noGrp="1"/>
          </p:cNvSpPr>
          <p:nvPr/>
        </p:nvSpPr>
        <p:spPr>
          <a:xfrm xmlns:a="http://schemas.openxmlformats.org/drawingml/2006/main">
            <a:off x="914400" y="1238250"/>
            <a:ext cx="411480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a:solidFill>
                  <a:srgbClr val="0F172A"/>
                </a:solidFill>
              </a:defRPr>
            </a:pPr>
            <a:r>
              <a:rPr sz="3600" b="1">
                <a:solidFill>
                  <a:srgbClr val="0F172A"/>
                </a:solidFill>
              </a:rPr>
              <a:t>系统角色与总体架构</a:t>
            </a:r>
          </a:p>
        </p:txBody>
      </p:sp>
      <p:sp>
        <p:nvSpPr>
          <p:cNvPr id="4" name="">
            <a:extLst xmlns:a="http://schemas.openxmlformats.org/drawingml/2006/main">
              <a:ext uri="{FF2B5EF4-FFF2-40B4-BE49-F238E27FC236}">
                <a16:creationId xmlns:a16="http://schemas.microsoft.com/office/drawing/2014/main" id="{82F49222-832F-409F-9EB2-AB8B626FA6CA}"/>
              </a:ext>
            </a:extLst>
          </p:cNvPr>
          <p:cNvSpPr>
            <a:spLocks xmlns:a="http://schemas.openxmlformats.org/drawingml/2006/main" noGrp="1"/>
          </p:cNvSpPr>
          <p:nvPr/>
        </p:nvSpPr>
        <p:spPr>
          <a:xfrm xmlns:a="http://schemas.openxmlformats.org/drawingml/2006/main">
            <a:off x="914400" y="1905000"/>
            <a:ext cx="48006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a:solidFill>
                  <a:srgbClr val="475569"/>
                </a:solidFill>
              </a:defRPr>
            </a:pPr>
            <a:r>
              <a:rPr sz="1800">
                <a:solidFill>
                  <a:srgbClr val="475569"/>
                </a:solidFill>
              </a:rPr>
              <a:t>系统围绕四类真实角色组织菜单权限和业务职责</a:t>
            </a:r>
          </a:p>
        </p:txBody>
      </p:sp>
      <p:sp>
        <p:nvSpPr>
          <p:cNvPr id="5" name="">
            <a:extLst xmlns:a="http://schemas.openxmlformats.org/drawingml/2006/main">
              <a:ext uri="{FF2B5EF4-FFF2-40B4-BE49-F238E27FC236}">
                <a16:creationId xmlns:a16="http://schemas.microsoft.com/office/drawing/2014/main" id="{2DD5B5B8-0A32-4BC3-9FEF-176AAAA0AE8F}"/>
              </a:ext>
            </a:extLst>
          </p:cNvPr>
          <p:cNvSpPr>
            <a:spLocks xmlns:a="http://schemas.openxmlformats.org/drawingml/2006/main" noGrp="1"/>
          </p:cNvSpPr>
          <p:nvPr/>
        </p:nvSpPr>
        <p:spPr>
          <a:xfrm xmlns:a="http://schemas.openxmlformats.org/drawingml/2006/main">
            <a:off x="15963900" y="685800"/>
            <a:ext cx="1409700" cy="472440"/>
          </a:xfrm>
          <a:prstGeom xmlns:a="http://schemas.openxmlformats.org/drawingml/2006/main" prst="roundRect">
            <a:avLst>
              <a:gd name="adj" fmla="val 36290"/>
            </a:avLst>
          </a:prstGeom>
          <a:solidFill xmlns:a="http://schemas.openxmlformats.org/drawingml/2006/main">
            <a:srgbClr val="0F172A"/>
          </a:solidFill>
        </p:spPr>
      </p:sp>
      <p:sp>
        <p:nvSpPr>
          <p:cNvPr id="6" name="">
            <a:extLst xmlns:a="http://schemas.openxmlformats.org/drawingml/2006/main">
              <a:ext uri="{FF2B5EF4-FFF2-40B4-BE49-F238E27FC236}">
                <a16:creationId xmlns:a16="http://schemas.microsoft.com/office/drawing/2014/main" id="{D3DF6204-D0AF-4C4C-8331-E388CCCF787F}"/>
              </a:ext>
            </a:extLst>
          </p:cNvPr>
          <p:cNvSpPr>
            <a:spLocks xmlns:a="http://schemas.openxmlformats.org/drawingml/2006/main" noGrp="1"/>
          </p:cNvSpPr>
          <p:nvPr/>
        </p:nvSpPr>
        <p:spPr>
          <a:xfrm xmlns:a="http://schemas.openxmlformats.org/drawingml/2006/main">
            <a:off x="16135350" y="819150"/>
            <a:ext cx="10668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FFFFFF"/>
                </a:solidFill>
              </a:defRPr>
            </a:pPr>
            <a:r>
              <a:rPr sz="1350" b="1">
                <a:solidFill>
                  <a:srgbClr val="FFFFFF"/>
                </a:solidFill>
              </a:rPr>
              <a:t>02</a:t>
            </a:r>
          </a:p>
        </p:txBody>
      </p:sp>
      <p:sp>
        <p:nvSpPr>
          <p:cNvPr id="7" name="">
            <a:extLst xmlns:a="http://schemas.openxmlformats.org/drawingml/2006/main">
              <a:ext uri="{FF2B5EF4-FFF2-40B4-BE49-F238E27FC236}">
                <a16:creationId xmlns:a16="http://schemas.microsoft.com/office/drawing/2014/main" id="{C04098E7-F6D5-4ADA-863B-07D9A65DEE64}"/>
              </a:ext>
            </a:extLst>
          </p:cNvPr>
          <p:cNvSpPr>
            <a:spLocks xmlns:a="http://schemas.openxmlformats.org/drawingml/2006/main" noGrp="1"/>
          </p:cNvSpPr>
          <p:nvPr/>
        </p:nvSpPr>
        <p:spPr>
          <a:xfrm xmlns:a="http://schemas.openxmlformats.org/drawingml/2006/main">
            <a:off x="914400" y="2453640"/>
            <a:ext cx="3986213" cy="1550670"/>
          </a:xfrm>
          <a:prstGeom xmlns:a="http://schemas.openxmlformats.org/drawingml/2006/main" prst="roundRect">
            <a:avLst>
              <a:gd name="adj" fmla="val 13514"/>
            </a:avLst>
          </a:prstGeom>
          <a:solidFill xmlns:a="http://schemas.openxmlformats.org/drawingml/2006/main">
            <a:srgbClr val="EFF6FF"/>
          </a:solidFill>
        </p:spPr>
      </p:sp>
      <p:sp>
        <p:nvSpPr>
          <p:cNvPr id="8" name="">
            <a:extLst xmlns:a="http://schemas.openxmlformats.org/drawingml/2006/main">
              <a:ext uri="{FF2B5EF4-FFF2-40B4-BE49-F238E27FC236}">
                <a16:creationId xmlns:a16="http://schemas.microsoft.com/office/drawing/2014/main" id="{00CE479F-1B29-4411-ACBA-ED52DC7F0926}"/>
              </a:ext>
            </a:extLst>
          </p:cNvPr>
          <p:cNvSpPr>
            <a:spLocks xmlns:a="http://schemas.openxmlformats.org/drawingml/2006/main" noGrp="1"/>
          </p:cNvSpPr>
          <p:nvPr/>
        </p:nvSpPr>
        <p:spPr>
          <a:xfrm xmlns:a="http://schemas.openxmlformats.org/drawingml/2006/main">
            <a:off x="1162050" y="2686050"/>
            <a:ext cx="34861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1E293B"/>
                </a:solidFill>
              </a:defRPr>
            </a:pPr>
            <a:r>
              <a:rPr sz="1800" b="1">
                <a:solidFill>
                  <a:srgbClr val="1E293B"/>
                </a:solidFill>
              </a:rPr>
              <a:t>系统管理员</a:t>
            </a:r>
          </a:p>
        </p:txBody>
      </p:sp>
      <p:sp>
        <p:nvSpPr>
          <p:cNvPr id="9" name="">
            <a:extLst xmlns:a="http://schemas.openxmlformats.org/drawingml/2006/main">
              <a:ext uri="{FF2B5EF4-FFF2-40B4-BE49-F238E27FC236}">
                <a16:creationId xmlns:a16="http://schemas.microsoft.com/office/drawing/2014/main" id="{780491AF-D43A-4C18-A693-02B5878BBC7C}"/>
              </a:ext>
            </a:extLst>
          </p:cNvPr>
          <p:cNvSpPr>
            <a:spLocks xmlns:a="http://schemas.openxmlformats.org/drawingml/2006/main" noGrp="1"/>
          </p:cNvSpPr>
          <p:nvPr/>
        </p:nvSpPr>
        <p:spPr>
          <a:xfrm xmlns:a="http://schemas.openxmlformats.org/drawingml/2006/main">
            <a:off x="1162050" y="3086100"/>
            <a:ext cx="3486150" cy="685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0">
                <a:solidFill>
                  <a:srgbClr val="475569"/>
                </a:solidFill>
              </a:defRPr>
            </a:pPr>
            <a:r>
              <a:rPr sz="1500" b="0">
                <a:solidFill>
                  <a:srgbClr val="475569"/>
                </a:solidFill>
              </a:rPr>
              <a:t>• 用户、角色、部门、校区、物资、仓库等基础资料维护</a:t>
            </a:r>
          </a:p>
        </p:txBody>
      </p:sp>
      <p:sp>
        <p:nvSpPr>
          <p:cNvPr id="10" name="">
            <a:extLst xmlns:a="http://schemas.openxmlformats.org/drawingml/2006/main">
              <a:ext uri="{FF2B5EF4-FFF2-40B4-BE49-F238E27FC236}">
                <a16:creationId xmlns:a16="http://schemas.microsoft.com/office/drawing/2014/main" id="{B6C6B5A4-B6CC-4E03-8C50-0637272FEF07}"/>
              </a:ext>
            </a:extLst>
          </p:cNvPr>
          <p:cNvSpPr>
            <a:spLocks xmlns:a="http://schemas.openxmlformats.org/drawingml/2006/main" noGrp="1"/>
          </p:cNvSpPr>
          <p:nvPr/>
        </p:nvSpPr>
        <p:spPr>
          <a:xfrm xmlns:a="http://schemas.openxmlformats.org/drawingml/2006/main">
            <a:off x="5072063" y="2453640"/>
            <a:ext cx="3986213" cy="1322070"/>
          </a:xfrm>
          <a:prstGeom xmlns:a="http://schemas.openxmlformats.org/drawingml/2006/main" prst="roundRect">
            <a:avLst>
              <a:gd name="adj" fmla="val 15850"/>
            </a:avLst>
          </a:prstGeom>
          <a:solidFill xmlns:a="http://schemas.openxmlformats.org/drawingml/2006/main">
            <a:srgbClr val="ECFDF5"/>
          </a:solidFill>
        </p:spPr>
      </p:sp>
      <p:sp>
        <p:nvSpPr>
          <p:cNvPr id="11" name="">
            <a:extLst xmlns:a="http://schemas.openxmlformats.org/drawingml/2006/main">
              <a:ext uri="{FF2B5EF4-FFF2-40B4-BE49-F238E27FC236}">
                <a16:creationId xmlns:a16="http://schemas.microsoft.com/office/drawing/2014/main" id="{1C530A76-7945-4E8B-93A1-94BF85B1B3C9}"/>
              </a:ext>
            </a:extLst>
          </p:cNvPr>
          <p:cNvSpPr>
            <a:spLocks xmlns:a="http://schemas.openxmlformats.org/drawingml/2006/main" noGrp="1"/>
          </p:cNvSpPr>
          <p:nvPr/>
        </p:nvSpPr>
        <p:spPr>
          <a:xfrm xmlns:a="http://schemas.openxmlformats.org/drawingml/2006/main">
            <a:off x="5314950" y="2686050"/>
            <a:ext cx="34861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1E293B"/>
                </a:solidFill>
              </a:defRPr>
            </a:pPr>
            <a:r>
              <a:rPr sz="1800" b="1">
                <a:solidFill>
                  <a:srgbClr val="1E293B"/>
                </a:solidFill>
              </a:rPr>
              <a:t>仓库管理员</a:t>
            </a:r>
          </a:p>
        </p:txBody>
      </p:sp>
      <p:sp>
        <p:nvSpPr>
          <p:cNvPr id="12" name="">
            <a:extLst xmlns:a="http://schemas.openxmlformats.org/drawingml/2006/main">
              <a:ext uri="{FF2B5EF4-FFF2-40B4-BE49-F238E27FC236}">
                <a16:creationId xmlns:a16="http://schemas.microsoft.com/office/drawing/2014/main" id="{502A8D64-5192-4D02-B331-CEA9BC7908D6}"/>
              </a:ext>
            </a:extLst>
          </p:cNvPr>
          <p:cNvSpPr>
            <a:spLocks xmlns:a="http://schemas.openxmlformats.org/drawingml/2006/main" noGrp="1"/>
          </p:cNvSpPr>
          <p:nvPr/>
        </p:nvSpPr>
        <p:spPr>
          <a:xfrm xmlns:a="http://schemas.openxmlformats.org/drawingml/2006/main">
            <a:off x="5314950" y="3086100"/>
            <a:ext cx="348615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0">
                <a:solidFill>
                  <a:srgbClr val="475569"/>
                </a:solidFill>
              </a:defRPr>
            </a:pPr>
            <a:r>
              <a:rPr sz="1500" b="0">
                <a:solidFill>
                  <a:srgbClr val="475569"/>
                </a:solidFill>
              </a:rPr>
              <a:t>• 入库、出库、批次、调拨执行、预警处理</a:t>
            </a:r>
          </a:p>
        </p:txBody>
      </p:sp>
      <p:sp>
        <p:nvSpPr>
          <p:cNvPr id="13" name="">
            <a:extLst xmlns:a="http://schemas.openxmlformats.org/drawingml/2006/main">
              <a:ext uri="{FF2B5EF4-FFF2-40B4-BE49-F238E27FC236}">
                <a16:creationId xmlns:a16="http://schemas.microsoft.com/office/drawing/2014/main" id="{32C08B2B-8324-4A1D-92A5-BBCA9B6F4BF3}"/>
              </a:ext>
            </a:extLst>
          </p:cNvPr>
          <p:cNvSpPr>
            <a:spLocks xmlns:a="http://schemas.openxmlformats.org/drawingml/2006/main" noGrp="1"/>
          </p:cNvSpPr>
          <p:nvPr/>
        </p:nvSpPr>
        <p:spPr>
          <a:xfrm xmlns:a="http://schemas.openxmlformats.org/drawingml/2006/main">
            <a:off x="9229725" y="2453640"/>
            <a:ext cx="3986213" cy="1093470"/>
          </a:xfrm>
          <a:prstGeom xmlns:a="http://schemas.openxmlformats.org/drawingml/2006/main" prst="roundRect">
            <a:avLst>
              <a:gd name="adj" fmla="val 19164"/>
            </a:avLst>
          </a:prstGeom>
          <a:solidFill xmlns:a="http://schemas.openxmlformats.org/drawingml/2006/main">
            <a:srgbClr val="FFF7ED"/>
          </a:solidFill>
        </p:spPr>
      </p:sp>
      <p:sp>
        <p:nvSpPr>
          <p:cNvPr id="14" name="">
            <a:extLst xmlns:a="http://schemas.openxmlformats.org/drawingml/2006/main">
              <a:ext uri="{FF2B5EF4-FFF2-40B4-BE49-F238E27FC236}">
                <a16:creationId xmlns:a16="http://schemas.microsoft.com/office/drawing/2014/main" id="{13AA998C-85E5-4EC4-A38F-B78618799445}"/>
              </a:ext>
            </a:extLst>
          </p:cNvPr>
          <p:cNvSpPr>
            <a:spLocks xmlns:a="http://schemas.openxmlformats.org/drawingml/2006/main" noGrp="1"/>
          </p:cNvSpPr>
          <p:nvPr/>
        </p:nvSpPr>
        <p:spPr>
          <a:xfrm xmlns:a="http://schemas.openxmlformats.org/drawingml/2006/main">
            <a:off x="9486900" y="2686050"/>
            <a:ext cx="34861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1E293B"/>
                </a:solidFill>
              </a:defRPr>
            </a:pPr>
            <a:r>
              <a:rPr sz="1800" b="1">
                <a:solidFill>
                  <a:srgbClr val="1E293B"/>
                </a:solidFill>
              </a:rPr>
              <a:t>审批人员</a:t>
            </a:r>
          </a:p>
        </p:txBody>
      </p:sp>
      <p:sp>
        <p:nvSpPr>
          <p:cNvPr id="15" name="">
            <a:extLst xmlns:a="http://schemas.openxmlformats.org/drawingml/2006/main">
              <a:ext uri="{FF2B5EF4-FFF2-40B4-BE49-F238E27FC236}">
                <a16:creationId xmlns:a16="http://schemas.microsoft.com/office/drawing/2014/main" id="{482D416C-CD17-42D4-B163-9B7F77CE5B37}"/>
              </a:ext>
            </a:extLst>
          </p:cNvPr>
          <p:cNvSpPr>
            <a:spLocks xmlns:a="http://schemas.openxmlformats.org/drawingml/2006/main" noGrp="1"/>
          </p:cNvSpPr>
          <p:nvPr/>
        </p:nvSpPr>
        <p:spPr>
          <a:xfrm xmlns:a="http://schemas.openxmlformats.org/drawingml/2006/main">
            <a:off x="9486900" y="3086100"/>
            <a:ext cx="348615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0">
                <a:solidFill>
                  <a:srgbClr val="475569"/>
                </a:solidFill>
              </a:defRPr>
            </a:pPr>
            <a:r>
              <a:rPr sz="1500" b="0">
                <a:solidFill>
                  <a:srgbClr val="475569"/>
                </a:solidFill>
              </a:rPr>
              <a:t>• 申领单审核、调拨单审核</a:t>
            </a:r>
          </a:p>
        </p:txBody>
      </p:sp>
      <p:sp>
        <p:nvSpPr>
          <p:cNvPr id="16" name="">
            <a:extLst xmlns:a="http://schemas.openxmlformats.org/drawingml/2006/main">
              <a:ext uri="{FF2B5EF4-FFF2-40B4-BE49-F238E27FC236}">
                <a16:creationId xmlns:a16="http://schemas.microsoft.com/office/drawing/2014/main" id="{B7A65BC5-1097-46FB-8CFE-463B2B74A368}"/>
              </a:ext>
            </a:extLst>
          </p:cNvPr>
          <p:cNvSpPr>
            <a:spLocks xmlns:a="http://schemas.openxmlformats.org/drawingml/2006/main" noGrp="1"/>
          </p:cNvSpPr>
          <p:nvPr/>
        </p:nvSpPr>
        <p:spPr>
          <a:xfrm xmlns:a="http://schemas.openxmlformats.org/drawingml/2006/main">
            <a:off x="13387388" y="2453640"/>
            <a:ext cx="3986213" cy="1093470"/>
          </a:xfrm>
          <a:prstGeom xmlns:a="http://schemas.openxmlformats.org/drawingml/2006/main" prst="roundRect">
            <a:avLst>
              <a:gd name="adj" fmla="val 19164"/>
            </a:avLst>
          </a:prstGeom>
          <a:solidFill xmlns:a="http://schemas.openxmlformats.org/drawingml/2006/main">
            <a:srgbClr val="FEF2F2"/>
          </a:solidFill>
        </p:spPr>
      </p:sp>
      <p:sp>
        <p:nvSpPr>
          <p:cNvPr id="17" name="">
            <a:extLst xmlns:a="http://schemas.openxmlformats.org/drawingml/2006/main">
              <a:ext uri="{FF2B5EF4-FFF2-40B4-BE49-F238E27FC236}">
                <a16:creationId xmlns:a16="http://schemas.microsoft.com/office/drawing/2014/main" id="{C74042B2-3CAD-4E93-A486-1915EB817AE6}"/>
              </a:ext>
            </a:extLst>
          </p:cNvPr>
          <p:cNvSpPr>
            <a:spLocks xmlns:a="http://schemas.openxmlformats.org/drawingml/2006/main" noGrp="1"/>
          </p:cNvSpPr>
          <p:nvPr/>
        </p:nvSpPr>
        <p:spPr>
          <a:xfrm xmlns:a="http://schemas.openxmlformats.org/drawingml/2006/main">
            <a:off x="13639800" y="2686050"/>
            <a:ext cx="34861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1E293B"/>
                </a:solidFill>
              </a:defRPr>
            </a:pPr>
            <a:r>
              <a:rPr sz="1800" b="1">
                <a:solidFill>
                  <a:srgbClr val="1E293B"/>
                </a:solidFill>
              </a:rPr>
              <a:t>部门用户</a:t>
            </a:r>
          </a:p>
        </p:txBody>
      </p:sp>
      <p:sp>
        <p:nvSpPr>
          <p:cNvPr id="18" name="">
            <a:extLst xmlns:a="http://schemas.openxmlformats.org/drawingml/2006/main">
              <a:ext uri="{FF2B5EF4-FFF2-40B4-BE49-F238E27FC236}">
                <a16:creationId xmlns:a16="http://schemas.microsoft.com/office/drawing/2014/main" id="{1A31CE63-D74C-41C7-ACC1-6A83F86080D6}"/>
              </a:ext>
            </a:extLst>
          </p:cNvPr>
          <p:cNvSpPr>
            <a:spLocks xmlns:a="http://schemas.openxmlformats.org/drawingml/2006/main" noGrp="1"/>
          </p:cNvSpPr>
          <p:nvPr/>
        </p:nvSpPr>
        <p:spPr>
          <a:xfrm xmlns:a="http://schemas.openxmlformats.org/drawingml/2006/main">
            <a:off x="13639800" y="3086100"/>
            <a:ext cx="348615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0">
                <a:solidFill>
                  <a:srgbClr val="475569"/>
                </a:solidFill>
              </a:defRPr>
            </a:pPr>
            <a:r>
              <a:rPr sz="1500" b="0">
                <a:solidFill>
                  <a:srgbClr val="475569"/>
                </a:solidFill>
              </a:rPr>
              <a:t>• 物资申领、状态查看、签收确认</a:t>
            </a:r>
          </a:p>
        </p:txBody>
      </p:sp>
      <p:sp>
        <p:nvSpPr>
          <p:cNvPr id="19" name="">
            <a:extLst xmlns:a="http://schemas.openxmlformats.org/drawingml/2006/main">
              <a:ext uri="{FF2B5EF4-FFF2-40B4-BE49-F238E27FC236}">
                <a16:creationId xmlns:a16="http://schemas.microsoft.com/office/drawing/2014/main" id="{A50FF551-C5F8-45C9-8EC9-65C5EB172F2C}"/>
              </a:ext>
            </a:extLst>
          </p:cNvPr>
          <p:cNvSpPr>
            <a:spLocks xmlns:a="http://schemas.openxmlformats.org/drawingml/2006/main" noGrp="1"/>
          </p:cNvSpPr>
          <p:nvPr/>
        </p:nvSpPr>
        <p:spPr>
          <a:xfrm xmlns:a="http://schemas.openxmlformats.org/drawingml/2006/main">
            <a:off x="914400" y="4271010"/>
            <a:ext cx="7157561" cy="1367790"/>
          </a:xfrm>
          <a:prstGeom xmlns:a="http://schemas.openxmlformats.org/drawingml/2006/main" prst="roundRect">
            <a:avLst>
              <a:gd name="adj" fmla="val 15320"/>
            </a:avLst>
          </a:prstGeom>
          <a:solidFill xmlns:a="http://schemas.openxmlformats.org/drawingml/2006/main">
            <a:srgbClr val="F8FAFC"/>
          </a:solidFill>
        </p:spPr>
      </p:sp>
      <p:sp>
        <p:nvSpPr>
          <p:cNvPr id="20" name="">
            <a:extLst xmlns:a="http://schemas.openxmlformats.org/drawingml/2006/main">
              <a:ext uri="{FF2B5EF4-FFF2-40B4-BE49-F238E27FC236}">
                <a16:creationId xmlns:a16="http://schemas.microsoft.com/office/drawing/2014/main" id="{0B2A1014-9DBA-49AA-9519-5E772FC246E5}"/>
              </a:ext>
            </a:extLst>
          </p:cNvPr>
          <p:cNvSpPr>
            <a:spLocks xmlns:a="http://schemas.openxmlformats.org/drawingml/2006/main" noGrp="1"/>
          </p:cNvSpPr>
          <p:nvPr/>
        </p:nvSpPr>
        <p:spPr>
          <a:xfrm xmlns:a="http://schemas.openxmlformats.org/drawingml/2006/main">
            <a:off x="1162050" y="4495800"/>
            <a:ext cx="66675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1E293B"/>
                </a:solidFill>
              </a:defRPr>
            </a:pPr>
            <a:r>
              <a:rPr sz="1800" b="1">
                <a:solidFill>
                  <a:srgbClr val="1E293B"/>
                </a:solidFill>
              </a:rPr>
              <a:t>前端展示层</a:t>
            </a:r>
          </a:p>
        </p:txBody>
      </p:sp>
      <p:sp>
        <p:nvSpPr>
          <p:cNvPr id="21" name="">
            <a:extLst xmlns:a="http://schemas.openxmlformats.org/drawingml/2006/main">
              <a:ext uri="{FF2B5EF4-FFF2-40B4-BE49-F238E27FC236}">
                <a16:creationId xmlns:a16="http://schemas.microsoft.com/office/drawing/2014/main" id="{E11C5712-FB13-4E4E-97B9-39EECE770D4E}"/>
              </a:ext>
            </a:extLst>
          </p:cNvPr>
          <p:cNvSpPr>
            <a:spLocks xmlns:a="http://schemas.openxmlformats.org/drawingml/2006/main" noGrp="1"/>
          </p:cNvSpPr>
          <p:nvPr/>
        </p:nvSpPr>
        <p:spPr>
          <a:xfrm xmlns:a="http://schemas.openxmlformats.org/drawingml/2006/main">
            <a:off x="1162050" y="4914900"/>
            <a:ext cx="6667500" cy="514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b="0">
                <a:solidFill>
                  <a:srgbClr val="475569"/>
                </a:solidFill>
              </a:defRPr>
            </a:pPr>
            <a:r>
              <a:rPr sz="1650" b="0">
                <a:solidFill>
                  <a:srgbClr val="475569"/>
                </a:solidFill>
              </a:rPr>
              <a:t>• Vue 3 组织页面、路由、表单交互与图表展示</a:t>
            </a:r>
          </a:p>
          <a:p xmlns:a="http://schemas.openxmlformats.org/drawingml/2006/main">
            <a:pPr>
              <a:defRPr sz="1650" b="0">
                <a:solidFill>
                  <a:srgbClr val="475569"/>
                </a:solidFill>
              </a:defRPr>
            </a:pPr>
            <a:r>
              <a:rPr sz="1650" b="0">
                <a:solidFill>
                  <a:srgbClr val="475569"/>
                </a:solidFill>
              </a:rPr>
              <a:t>• 根据角色菜单展示不同功能入口</a:t>
            </a:r>
          </a:p>
        </p:txBody>
      </p:sp>
      <p:sp>
        <p:nvSpPr>
          <p:cNvPr id="22" name="">
            <a:extLst xmlns:a="http://schemas.openxmlformats.org/drawingml/2006/main">
              <a:ext uri="{FF2B5EF4-FFF2-40B4-BE49-F238E27FC236}">
                <a16:creationId xmlns:a16="http://schemas.microsoft.com/office/drawing/2014/main" id="{BC0B0A01-0FB5-45F5-8624-B7638109DC5E}"/>
              </a:ext>
            </a:extLst>
          </p:cNvPr>
          <p:cNvSpPr>
            <a:spLocks xmlns:a="http://schemas.openxmlformats.org/drawingml/2006/main" noGrp="1"/>
          </p:cNvSpPr>
          <p:nvPr/>
        </p:nvSpPr>
        <p:spPr>
          <a:xfrm xmlns:a="http://schemas.openxmlformats.org/drawingml/2006/main">
            <a:off x="8338661" y="4271010"/>
            <a:ext cx="857250" cy="495300"/>
          </a:xfrm>
          <a:prstGeom xmlns:a="http://schemas.openxmlformats.org/drawingml/2006/main" prst="roundRect">
            <a:avLst>
              <a:gd name="adj" fmla="val 34615"/>
            </a:avLst>
          </a:prstGeom>
          <a:solidFill xmlns:a="http://schemas.openxmlformats.org/drawingml/2006/main">
            <a:srgbClr val="E2E8F0"/>
          </a:solidFill>
        </p:spPr>
      </p:sp>
      <p:sp>
        <p:nvSpPr>
          <p:cNvPr id="23" name="">
            <a:extLst xmlns:a="http://schemas.openxmlformats.org/drawingml/2006/main">
              <a:ext uri="{FF2B5EF4-FFF2-40B4-BE49-F238E27FC236}">
                <a16:creationId xmlns:a16="http://schemas.microsoft.com/office/drawing/2014/main" id="{A5E630D5-6D30-4378-B6F4-C820F0D1C62D}"/>
              </a:ext>
            </a:extLst>
          </p:cNvPr>
          <p:cNvSpPr>
            <a:spLocks xmlns:a="http://schemas.openxmlformats.org/drawingml/2006/main" noGrp="1"/>
          </p:cNvSpPr>
          <p:nvPr/>
        </p:nvSpPr>
        <p:spPr>
          <a:xfrm xmlns:a="http://schemas.openxmlformats.org/drawingml/2006/main">
            <a:off x="8458200" y="4400550"/>
            <a:ext cx="62865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1">
                <a:solidFill>
                  <a:srgbClr val="0F766E"/>
                </a:solidFill>
              </a:defRPr>
            </a:pPr>
            <a:r>
              <a:rPr sz="1500" b="1">
                <a:solidFill>
                  <a:srgbClr val="0F766E"/>
                </a:solidFill>
              </a:rPr>
              <a:t>接口</a:t>
            </a:r>
          </a:p>
        </p:txBody>
      </p:sp>
      <p:sp>
        <p:nvSpPr>
          <p:cNvPr id="24" name="">
            <a:extLst xmlns:a="http://schemas.openxmlformats.org/drawingml/2006/main">
              <a:ext uri="{FF2B5EF4-FFF2-40B4-BE49-F238E27FC236}">
                <a16:creationId xmlns:a16="http://schemas.microsoft.com/office/drawing/2014/main" id="{48AAA27E-37F0-4ABC-9A76-59E8CBCD3805}"/>
              </a:ext>
            </a:extLst>
          </p:cNvPr>
          <p:cNvSpPr>
            <a:spLocks xmlns:a="http://schemas.openxmlformats.org/drawingml/2006/main" noGrp="1"/>
          </p:cNvSpPr>
          <p:nvPr/>
        </p:nvSpPr>
        <p:spPr>
          <a:xfrm xmlns:a="http://schemas.openxmlformats.org/drawingml/2006/main">
            <a:off x="8338661" y="4937760"/>
            <a:ext cx="857250" cy="495300"/>
          </a:xfrm>
          <a:prstGeom xmlns:a="http://schemas.openxmlformats.org/drawingml/2006/main" prst="roundRect">
            <a:avLst>
              <a:gd name="adj" fmla="val 34615"/>
            </a:avLst>
          </a:prstGeom>
          <a:solidFill xmlns:a="http://schemas.openxmlformats.org/drawingml/2006/main">
            <a:srgbClr val="E2E8F0"/>
          </a:solidFill>
        </p:spPr>
      </p:sp>
      <p:sp>
        <p:nvSpPr>
          <p:cNvPr id="25" name="">
            <a:extLst xmlns:a="http://schemas.openxmlformats.org/drawingml/2006/main">
              <a:ext uri="{FF2B5EF4-FFF2-40B4-BE49-F238E27FC236}">
                <a16:creationId xmlns:a16="http://schemas.microsoft.com/office/drawing/2014/main" id="{C33FC8A1-BD1C-416F-AA0C-4163829BA975}"/>
              </a:ext>
            </a:extLst>
          </p:cNvPr>
          <p:cNvSpPr>
            <a:spLocks xmlns:a="http://schemas.openxmlformats.org/drawingml/2006/main" noGrp="1"/>
          </p:cNvSpPr>
          <p:nvPr/>
        </p:nvSpPr>
        <p:spPr>
          <a:xfrm xmlns:a="http://schemas.openxmlformats.org/drawingml/2006/main">
            <a:off x="8458200" y="5067300"/>
            <a:ext cx="62865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1">
                <a:solidFill>
                  <a:srgbClr val="0F766E"/>
                </a:solidFill>
              </a:defRPr>
            </a:pPr>
            <a:r>
              <a:rPr sz="1500" b="1">
                <a:solidFill>
                  <a:srgbClr val="0F766E"/>
                </a:solidFill>
              </a:rPr>
              <a:t>认证</a:t>
            </a:r>
          </a:p>
        </p:txBody>
      </p:sp>
      <p:sp>
        <p:nvSpPr>
          <p:cNvPr id="26" name="">
            <a:extLst xmlns:a="http://schemas.openxmlformats.org/drawingml/2006/main">
              <a:ext uri="{FF2B5EF4-FFF2-40B4-BE49-F238E27FC236}">
                <a16:creationId xmlns:a16="http://schemas.microsoft.com/office/drawing/2014/main" id="{4E716B57-E4BF-4EFE-8E92-2662EE5256D8}"/>
              </a:ext>
            </a:extLst>
          </p:cNvPr>
          <p:cNvSpPr>
            <a:spLocks xmlns:a="http://schemas.openxmlformats.org/drawingml/2006/main" noGrp="1"/>
          </p:cNvSpPr>
          <p:nvPr/>
        </p:nvSpPr>
        <p:spPr>
          <a:xfrm xmlns:a="http://schemas.openxmlformats.org/drawingml/2006/main">
            <a:off x="8338661" y="5604510"/>
            <a:ext cx="857250" cy="495300"/>
          </a:xfrm>
          <a:prstGeom xmlns:a="http://schemas.openxmlformats.org/drawingml/2006/main" prst="roundRect">
            <a:avLst>
              <a:gd name="adj" fmla="val 34615"/>
            </a:avLst>
          </a:prstGeom>
          <a:solidFill xmlns:a="http://schemas.openxmlformats.org/drawingml/2006/main">
            <a:srgbClr val="E2E8F0"/>
          </a:solidFill>
        </p:spPr>
      </p:sp>
      <p:sp>
        <p:nvSpPr>
          <p:cNvPr id="27" name="">
            <a:extLst xmlns:a="http://schemas.openxmlformats.org/drawingml/2006/main">
              <a:ext uri="{FF2B5EF4-FFF2-40B4-BE49-F238E27FC236}">
                <a16:creationId xmlns:a16="http://schemas.microsoft.com/office/drawing/2014/main" id="{DCE7D4EA-B754-4EDD-BEF5-8437F853AB2D}"/>
              </a:ext>
            </a:extLst>
          </p:cNvPr>
          <p:cNvSpPr>
            <a:spLocks xmlns:a="http://schemas.openxmlformats.org/drawingml/2006/main" noGrp="1"/>
          </p:cNvSpPr>
          <p:nvPr/>
        </p:nvSpPr>
        <p:spPr>
          <a:xfrm xmlns:a="http://schemas.openxmlformats.org/drawingml/2006/main">
            <a:off x="8458200" y="5734050"/>
            <a:ext cx="62865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1">
                <a:solidFill>
                  <a:srgbClr val="0F766E"/>
                </a:solidFill>
              </a:defRPr>
            </a:pPr>
            <a:r>
              <a:rPr sz="1500" b="1">
                <a:solidFill>
                  <a:srgbClr val="0F766E"/>
                </a:solidFill>
              </a:rPr>
              <a:t>事务</a:t>
            </a:r>
          </a:p>
        </p:txBody>
      </p:sp>
      <p:sp>
        <p:nvSpPr>
          <p:cNvPr id="28" name="">
            <a:extLst xmlns:a="http://schemas.openxmlformats.org/drawingml/2006/main">
              <a:ext uri="{FF2B5EF4-FFF2-40B4-BE49-F238E27FC236}">
                <a16:creationId xmlns:a16="http://schemas.microsoft.com/office/drawing/2014/main" id="{D8EBA156-79B6-410A-BF80-C0A934E0C505}"/>
              </a:ext>
            </a:extLst>
          </p:cNvPr>
          <p:cNvSpPr>
            <a:spLocks xmlns:a="http://schemas.openxmlformats.org/drawingml/2006/main" noGrp="1"/>
          </p:cNvSpPr>
          <p:nvPr/>
        </p:nvSpPr>
        <p:spPr>
          <a:xfrm xmlns:a="http://schemas.openxmlformats.org/drawingml/2006/main">
            <a:off x="9462611" y="4271010"/>
            <a:ext cx="7910989" cy="1367790"/>
          </a:xfrm>
          <a:prstGeom xmlns:a="http://schemas.openxmlformats.org/drawingml/2006/main" prst="roundRect">
            <a:avLst>
              <a:gd name="adj" fmla="val 15320"/>
            </a:avLst>
          </a:prstGeom>
          <a:solidFill xmlns:a="http://schemas.openxmlformats.org/drawingml/2006/main">
            <a:srgbClr val="F8FAFC"/>
          </a:solidFill>
        </p:spPr>
      </p:sp>
      <p:sp>
        <p:nvSpPr>
          <p:cNvPr id="29" name="">
            <a:extLst xmlns:a="http://schemas.openxmlformats.org/drawingml/2006/main">
              <a:ext uri="{FF2B5EF4-FFF2-40B4-BE49-F238E27FC236}">
                <a16:creationId xmlns:a16="http://schemas.microsoft.com/office/drawing/2014/main" id="{962EF942-1C5A-4236-8DB9-702F4727838D}"/>
              </a:ext>
            </a:extLst>
          </p:cNvPr>
          <p:cNvSpPr>
            <a:spLocks xmlns:a="http://schemas.openxmlformats.org/drawingml/2006/main" noGrp="1"/>
          </p:cNvSpPr>
          <p:nvPr/>
        </p:nvSpPr>
        <p:spPr>
          <a:xfrm xmlns:a="http://schemas.openxmlformats.org/drawingml/2006/main">
            <a:off x="9715500" y="4495800"/>
            <a:ext cx="74104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1E293B"/>
                </a:solidFill>
              </a:defRPr>
            </a:pPr>
            <a:r>
              <a:rPr sz="1800" b="1">
                <a:solidFill>
                  <a:srgbClr val="1E293B"/>
                </a:solidFill>
              </a:rPr>
              <a:t>后端与数据层</a:t>
            </a:r>
          </a:p>
        </p:txBody>
      </p:sp>
      <p:sp>
        <p:nvSpPr>
          <p:cNvPr id="30" name="">
            <a:extLst xmlns:a="http://schemas.openxmlformats.org/drawingml/2006/main">
              <a:ext uri="{FF2B5EF4-FFF2-40B4-BE49-F238E27FC236}">
                <a16:creationId xmlns:a16="http://schemas.microsoft.com/office/drawing/2014/main" id="{70B83250-B0FC-4EF1-8336-6283BE2E5CBA}"/>
              </a:ext>
            </a:extLst>
          </p:cNvPr>
          <p:cNvSpPr>
            <a:spLocks xmlns:a="http://schemas.openxmlformats.org/drawingml/2006/main" noGrp="1"/>
          </p:cNvSpPr>
          <p:nvPr/>
        </p:nvSpPr>
        <p:spPr>
          <a:xfrm xmlns:a="http://schemas.openxmlformats.org/drawingml/2006/main">
            <a:off x="9715500" y="4914900"/>
            <a:ext cx="7410450" cy="514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b="0">
                <a:solidFill>
                  <a:srgbClr val="475569"/>
                </a:solidFill>
              </a:defRPr>
            </a:pPr>
            <a:r>
              <a:rPr sz="1650" b="0">
                <a:solidFill>
                  <a:srgbClr val="475569"/>
                </a:solidFill>
              </a:rPr>
              <a:t>• Spring Boot 负责认证授权、业务规则、事务处理和数据持久化</a:t>
            </a:r>
          </a:p>
          <a:p xmlns:a="http://schemas.openxmlformats.org/drawingml/2006/main">
            <a:pPr>
              <a:defRPr sz="1650" b="0">
                <a:solidFill>
                  <a:srgbClr val="475569"/>
                </a:solidFill>
              </a:defRPr>
            </a:pPr>
            <a:r>
              <a:rPr sz="1650" b="0">
                <a:solidFill>
                  <a:srgbClr val="475569"/>
                </a:solidFill>
              </a:rPr>
              <a:t>• 库存、批次、申领、调拨、预警、通知和日志表共同支撑流程闭环</a:t>
            </a:r>
          </a:p>
        </p:txBody>
      </p:sp>
      <p:sp>
        <p:nvSpPr>
          <p:cNvPr id="31" name="">
            <a:extLst xmlns:a="http://schemas.openxmlformats.org/drawingml/2006/main">
              <a:ext uri="{FF2B5EF4-FFF2-40B4-BE49-F238E27FC236}">
                <a16:creationId xmlns:a16="http://schemas.microsoft.com/office/drawing/2014/main" id="{92CD9695-1BB6-4D8E-86B0-A4E0E05B6ED2}"/>
              </a:ext>
            </a:extLst>
          </p:cNvPr>
          <p:cNvSpPr>
            <a:spLocks xmlns:a="http://schemas.openxmlformats.org/drawingml/2006/main" noGrp="1"/>
          </p:cNvSpPr>
          <p:nvPr/>
        </p:nvSpPr>
        <p:spPr>
          <a:xfrm xmlns:a="http://schemas.openxmlformats.org/drawingml/2006/main">
            <a:off x="914400" y="9467850"/>
            <a:ext cx="16459200" cy="152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a:solidFill>
                  <a:srgbClr val="64748B"/>
                </a:solidFill>
              </a:defRPr>
            </a:pPr>
            <a:r>
              <a:rPr sz="900">
                <a:solidFill>
                  <a:srgbClr val="64748B"/>
                </a:solidFill>
              </a:rPr>
              <a:t>依据：当前项目实现、最新论文定稿、全功能闭环自测报告与已有检查材料</a:t>
            </a:r>
          </a:p>
        </p:txBody>
      </p:sp>
    </p:spTree>
    <p:extLst>
      <p:ext uri="{BB962C8B-B14F-4D97-AF65-F5344CB8AC3E}">
        <p14:creationId xmlns:p14="http://schemas.microsoft.com/office/powerpoint/2010/main" val="145446784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9F6D5DD-F897-4E8C-9F28-81E70362E59F}"/>
              </a:ext>
            </a:extLst>
          </p:cNvPr>
          <p:cNvSpPr>
            <a:spLocks xmlns:a="http://schemas.openxmlformats.org/drawingml/2006/main" noGrp="1"/>
          </p:cNvSpPr>
          <p:nvPr/>
        </p:nvSpPr>
        <p:spPr>
          <a:xfrm xmlns:a="http://schemas.openxmlformats.org/drawingml/2006/main">
            <a:off x="914400" y="685800"/>
            <a:ext cx="838200" cy="5715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2" name="">
            <a:extLst xmlns:a="http://schemas.openxmlformats.org/drawingml/2006/main">
              <a:ext uri="{FF2B5EF4-FFF2-40B4-BE49-F238E27FC236}">
                <a16:creationId xmlns:a16="http://schemas.microsoft.com/office/drawing/2014/main" id="{C96BF962-4168-4DD5-A159-9D4412ACDA42}"/>
              </a:ext>
            </a:extLst>
          </p:cNvPr>
          <p:cNvSpPr>
            <a:spLocks xmlns:a="http://schemas.openxmlformats.org/drawingml/2006/main" noGrp="1"/>
          </p:cNvSpPr>
          <p:nvPr/>
        </p:nvSpPr>
        <p:spPr>
          <a:xfrm xmlns:a="http://schemas.openxmlformats.org/drawingml/2006/main">
            <a:off x="1924050" y="685800"/>
            <a:ext cx="171450" cy="4191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0F766E"/>
                </a:solidFill>
              </a:defRPr>
            </a:pPr>
            <a:r>
              <a:rPr sz="1350" b="1">
                <a:solidFill>
                  <a:srgbClr val="0F766E"/>
                </a:solidFill>
              </a:rPr>
              <a:t>03</a:t>
            </a:r>
          </a:p>
        </p:txBody>
      </p:sp>
      <p:sp>
        <p:nvSpPr>
          <p:cNvPr id="3" name="">
            <a:extLst xmlns:a="http://schemas.openxmlformats.org/drawingml/2006/main">
              <a:ext uri="{FF2B5EF4-FFF2-40B4-BE49-F238E27FC236}">
                <a16:creationId xmlns:a16="http://schemas.microsoft.com/office/drawing/2014/main" id="{DA3BBC6B-803B-4C9C-B363-FB0321B05CA9}"/>
              </a:ext>
            </a:extLst>
          </p:cNvPr>
          <p:cNvSpPr>
            <a:spLocks xmlns:a="http://schemas.openxmlformats.org/drawingml/2006/main" noGrp="1"/>
          </p:cNvSpPr>
          <p:nvPr/>
        </p:nvSpPr>
        <p:spPr>
          <a:xfrm xmlns:a="http://schemas.openxmlformats.org/drawingml/2006/main">
            <a:off x="914400" y="1238250"/>
            <a:ext cx="502920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a:solidFill>
                  <a:srgbClr val="0F172A"/>
                </a:solidFill>
              </a:defRPr>
            </a:pPr>
            <a:r>
              <a:rPr sz="3600" b="1">
                <a:solidFill>
                  <a:srgbClr val="0F172A"/>
                </a:solidFill>
              </a:rPr>
              <a:t>技术栈与数据库核心对象</a:t>
            </a:r>
          </a:p>
        </p:txBody>
      </p:sp>
      <p:sp>
        <p:nvSpPr>
          <p:cNvPr id="4" name="">
            <a:extLst xmlns:a="http://schemas.openxmlformats.org/drawingml/2006/main">
              <a:ext uri="{FF2B5EF4-FFF2-40B4-BE49-F238E27FC236}">
                <a16:creationId xmlns:a16="http://schemas.microsoft.com/office/drawing/2014/main" id="{E3BBC2F2-40DD-4124-9FBB-B7454E603E8A}"/>
              </a:ext>
            </a:extLst>
          </p:cNvPr>
          <p:cNvSpPr>
            <a:spLocks xmlns:a="http://schemas.openxmlformats.org/drawingml/2006/main" noGrp="1"/>
          </p:cNvSpPr>
          <p:nvPr/>
        </p:nvSpPr>
        <p:spPr>
          <a:xfrm xmlns:a="http://schemas.openxmlformats.org/drawingml/2006/main">
            <a:off x="914400" y="1905000"/>
            <a:ext cx="611505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a:solidFill>
                  <a:srgbClr val="475569"/>
                </a:solidFill>
              </a:defRPr>
            </a:pPr>
            <a:r>
              <a:rPr sz="1800">
                <a:solidFill>
                  <a:srgbClr val="475569"/>
                </a:solidFill>
              </a:rPr>
              <a:t>PPT 中的技术与数据对象均来自当前项目实现和论文定稿内容</a:t>
            </a:r>
          </a:p>
        </p:txBody>
      </p:sp>
      <p:sp>
        <p:nvSpPr>
          <p:cNvPr id="5" name="">
            <a:extLst xmlns:a="http://schemas.openxmlformats.org/drawingml/2006/main">
              <a:ext uri="{FF2B5EF4-FFF2-40B4-BE49-F238E27FC236}">
                <a16:creationId xmlns:a16="http://schemas.microsoft.com/office/drawing/2014/main" id="{F3815E31-EC2C-4ECF-8876-2E3CA204AA9A}"/>
              </a:ext>
            </a:extLst>
          </p:cNvPr>
          <p:cNvSpPr>
            <a:spLocks xmlns:a="http://schemas.openxmlformats.org/drawingml/2006/main" noGrp="1"/>
          </p:cNvSpPr>
          <p:nvPr/>
        </p:nvSpPr>
        <p:spPr>
          <a:xfrm xmlns:a="http://schemas.openxmlformats.org/drawingml/2006/main">
            <a:off x="15963900" y="685800"/>
            <a:ext cx="1409700" cy="472440"/>
          </a:xfrm>
          <a:prstGeom xmlns:a="http://schemas.openxmlformats.org/drawingml/2006/main" prst="roundRect">
            <a:avLst>
              <a:gd name="adj" fmla="val 36290"/>
            </a:avLst>
          </a:prstGeom>
          <a:solidFill xmlns:a="http://schemas.openxmlformats.org/drawingml/2006/main">
            <a:srgbClr val="0F172A"/>
          </a:solidFill>
        </p:spPr>
      </p:sp>
      <p:sp>
        <p:nvSpPr>
          <p:cNvPr id="6" name="">
            <a:extLst xmlns:a="http://schemas.openxmlformats.org/drawingml/2006/main">
              <a:ext uri="{FF2B5EF4-FFF2-40B4-BE49-F238E27FC236}">
                <a16:creationId xmlns:a16="http://schemas.microsoft.com/office/drawing/2014/main" id="{0BE79F4F-86A9-4656-BE7B-08B26C61F2F4}"/>
              </a:ext>
            </a:extLst>
          </p:cNvPr>
          <p:cNvSpPr>
            <a:spLocks xmlns:a="http://schemas.openxmlformats.org/drawingml/2006/main" noGrp="1"/>
          </p:cNvSpPr>
          <p:nvPr/>
        </p:nvSpPr>
        <p:spPr>
          <a:xfrm xmlns:a="http://schemas.openxmlformats.org/drawingml/2006/main">
            <a:off x="16135350" y="819150"/>
            <a:ext cx="10668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FFFFFF"/>
                </a:solidFill>
              </a:defRPr>
            </a:pPr>
            <a:r>
              <a:rPr sz="1350" b="1">
                <a:solidFill>
                  <a:srgbClr val="FFFFFF"/>
                </a:solidFill>
              </a:rPr>
              <a:t>03</a:t>
            </a:r>
          </a:p>
        </p:txBody>
      </p:sp>
      <p:sp>
        <p:nvSpPr>
          <p:cNvPr id="7" name="">
            <a:extLst xmlns:a="http://schemas.openxmlformats.org/drawingml/2006/main">
              <a:ext uri="{FF2B5EF4-FFF2-40B4-BE49-F238E27FC236}">
                <a16:creationId xmlns:a16="http://schemas.microsoft.com/office/drawing/2014/main" id="{68FB1B68-BEEE-4175-AC42-9110B6FE0CA2}"/>
              </a:ext>
            </a:extLst>
          </p:cNvPr>
          <p:cNvSpPr>
            <a:spLocks xmlns:a="http://schemas.openxmlformats.org/drawingml/2006/main" noGrp="1"/>
          </p:cNvSpPr>
          <p:nvPr/>
        </p:nvSpPr>
        <p:spPr>
          <a:xfrm xmlns:a="http://schemas.openxmlformats.org/drawingml/2006/main">
            <a:off x="914400" y="2727960"/>
            <a:ext cx="7691438" cy="2122170"/>
          </a:xfrm>
          <a:prstGeom xmlns:a="http://schemas.openxmlformats.org/drawingml/2006/main" prst="roundRect">
            <a:avLst>
              <a:gd name="adj" fmla="val 9874"/>
            </a:avLst>
          </a:prstGeom>
          <a:solidFill xmlns:a="http://schemas.openxmlformats.org/drawingml/2006/main">
            <a:srgbClr val="EFF6FF"/>
          </a:solidFill>
        </p:spPr>
      </p:sp>
      <p:sp>
        <p:nvSpPr>
          <p:cNvPr id="8" name="">
            <a:extLst xmlns:a="http://schemas.openxmlformats.org/drawingml/2006/main">
              <a:ext uri="{FF2B5EF4-FFF2-40B4-BE49-F238E27FC236}">
                <a16:creationId xmlns:a16="http://schemas.microsoft.com/office/drawing/2014/main" id="{289E96EC-3697-41C0-9B3B-63F0DC37984F}"/>
              </a:ext>
            </a:extLst>
          </p:cNvPr>
          <p:cNvSpPr>
            <a:spLocks xmlns:a="http://schemas.openxmlformats.org/drawingml/2006/main" noGrp="1"/>
          </p:cNvSpPr>
          <p:nvPr/>
        </p:nvSpPr>
        <p:spPr>
          <a:xfrm xmlns:a="http://schemas.openxmlformats.org/drawingml/2006/main">
            <a:off x="1162050" y="2952750"/>
            <a:ext cx="72009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1E293B"/>
                </a:solidFill>
              </a:defRPr>
            </a:pPr>
            <a:r>
              <a:rPr sz="1800" b="1">
                <a:solidFill>
                  <a:srgbClr val="1E293B"/>
                </a:solidFill>
              </a:rPr>
              <a:t>前端技术</a:t>
            </a:r>
          </a:p>
        </p:txBody>
      </p:sp>
      <p:sp>
        <p:nvSpPr>
          <p:cNvPr id="9" name="">
            <a:extLst xmlns:a="http://schemas.openxmlformats.org/drawingml/2006/main">
              <a:ext uri="{FF2B5EF4-FFF2-40B4-BE49-F238E27FC236}">
                <a16:creationId xmlns:a16="http://schemas.microsoft.com/office/drawing/2014/main" id="{11FB3B8F-457E-4C0E-839C-44C509945EFA}"/>
              </a:ext>
            </a:extLst>
          </p:cNvPr>
          <p:cNvSpPr>
            <a:spLocks xmlns:a="http://schemas.openxmlformats.org/drawingml/2006/main" noGrp="1"/>
          </p:cNvSpPr>
          <p:nvPr/>
        </p:nvSpPr>
        <p:spPr>
          <a:xfrm xmlns:a="http://schemas.openxmlformats.org/drawingml/2006/main">
            <a:off x="1162050" y="3371850"/>
            <a:ext cx="7200900" cy="1257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b="0">
                <a:solidFill>
                  <a:srgbClr val="475569"/>
                </a:solidFill>
              </a:defRPr>
            </a:pPr>
            <a:r>
              <a:rPr sz="1650" b="0">
                <a:solidFill>
                  <a:srgbClr val="475569"/>
                </a:solidFill>
              </a:rPr>
              <a:t>• Vue 3</a:t>
            </a:r>
          </a:p>
          <a:p xmlns:a="http://schemas.openxmlformats.org/drawingml/2006/main">
            <a:pPr>
              <a:defRPr sz="1650" b="0">
                <a:solidFill>
                  <a:srgbClr val="475569"/>
                </a:solidFill>
              </a:defRPr>
            </a:pPr>
            <a:r>
              <a:rPr sz="1650" b="0">
                <a:solidFill>
                  <a:srgbClr val="475569"/>
                </a:solidFill>
              </a:rPr>
              <a:t>• Pinia</a:t>
            </a:r>
          </a:p>
          <a:p xmlns:a="http://schemas.openxmlformats.org/drawingml/2006/main">
            <a:pPr>
              <a:defRPr sz="1650" b="0">
                <a:solidFill>
                  <a:srgbClr val="475569"/>
                </a:solidFill>
              </a:defRPr>
            </a:pPr>
            <a:r>
              <a:rPr sz="1650" b="0">
                <a:solidFill>
                  <a:srgbClr val="475569"/>
                </a:solidFill>
              </a:rPr>
              <a:t>• Vite</a:t>
            </a:r>
          </a:p>
          <a:p xmlns:a="http://schemas.openxmlformats.org/drawingml/2006/main">
            <a:pPr>
              <a:defRPr sz="1650" b="0">
                <a:solidFill>
                  <a:srgbClr val="475569"/>
                </a:solidFill>
              </a:defRPr>
            </a:pPr>
            <a:r>
              <a:rPr sz="1650" b="0">
                <a:solidFill>
                  <a:srgbClr val="475569"/>
                </a:solidFill>
              </a:rPr>
              <a:t>• Element Plus</a:t>
            </a:r>
          </a:p>
          <a:p xmlns:a="http://schemas.openxmlformats.org/drawingml/2006/main">
            <a:pPr>
              <a:defRPr sz="1650" b="0">
                <a:solidFill>
                  <a:srgbClr val="475569"/>
                </a:solidFill>
              </a:defRPr>
            </a:pPr>
            <a:r>
              <a:rPr sz="1650" b="0">
                <a:solidFill>
                  <a:srgbClr val="475569"/>
                </a:solidFill>
              </a:rPr>
              <a:t>• ECharts</a:t>
            </a:r>
          </a:p>
        </p:txBody>
      </p:sp>
      <p:sp>
        <p:nvSpPr>
          <p:cNvPr id="10" name="">
            <a:extLst xmlns:a="http://schemas.openxmlformats.org/drawingml/2006/main">
              <a:ext uri="{FF2B5EF4-FFF2-40B4-BE49-F238E27FC236}">
                <a16:creationId xmlns:a16="http://schemas.microsoft.com/office/drawing/2014/main" id="{22B4739C-6B42-4BD7-BD2E-6A87841ABC6D}"/>
              </a:ext>
            </a:extLst>
          </p:cNvPr>
          <p:cNvSpPr>
            <a:spLocks xmlns:a="http://schemas.openxmlformats.org/drawingml/2006/main" noGrp="1"/>
          </p:cNvSpPr>
          <p:nvPr/>
        </p:nvSpPr>
        <p:spPr>
          <a:xfrm xmlns:a="http://schemas.openxmlformats.org/drawingml/2006/main">
            <a:off x="914400" y="5059680"/>
            <a:ext cx="7691438" cy="1870710"/>
          </a:xfrm>
          <a:prstGeom xmlns:a="http://schemas.openxmlformats.org/drawingml/2006/main" prst="roundRect">
            <a:avLst>
              <a:gd name="adj" fmla="val 11202"/>
            </a:avLst>
          </a:prstGeom>
          <a:solidFill xmlns:a="http://schemas.openxmlformats.org/drawingml/2006/main">
            <a:srgbClr val="ECFDF5"/>
          </a:solidFill>
        </p:spPr>
      </p:sp>
      <p:sp>
        <p:nvSpPr>
          <p:cNvPr id="11" name="">
            <a:extLst xmlns:a="http://schemas.openxmlformats.org/drawingml/2006/main">
              <a:ext uri="{FF2B5EF4-FFF2-40B4-BE49-F238E27FC236}">
                <a16:creationId xmlns:a16="http://schemas.microsoft.com/office/drawing/2014/main" id="{3FEC674C-48B0-4B39-BE86-B9655D2656B3}"/>
              </a:ext>
            </a:extLst>
          </p:cNvPr>
          <p:cNvSpPr>
            <a:spLocks xmlns:a="http://schemas.openxmlformats.org/drawingml/2006/main" noGrp="1"/>
          </p:cNvSpPr>
          <p:nvPr/>
        </p:nvSpPr>
        <p:spPr>
          <a:xfrm xmlns:a="http://schemas.openxmlformats.org/drawingml/2006/main">
            <a:off x="1162050" y="5295900"/>
            <a:ext cx="72009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1E293B"/>
                </a:solidFill>
              </a:defRPr>
            </a:pPr>
            <a:r>
              <a:rPr sz="1800" b="1">
                <a:solidFill>
                  <a:srgbClr val="1E293B"/>
                </a:solidFill>
              </a:rPr>
              <a:t>后端技术</a:t>
            </a:r>
          </a:p>
        </p:txBody>
      </p:sp>
      <p:sp>
        <p:nvSpPr>
          <p:cNvPr id="12" name="">
            <a:extLst xmlns:a="http://schemas.openxmlformats.org/drawingml/2006/main">
              <a:ext uri="{FF2B5EF4-FFF2-40B4-BE49-F238E27FC236}">
                <a16:creationId xmlns:a16="http://schemas.microsoft.com/office/drawing/2014/main" id="{8AFF195A-65FA-4A60-86C1-FA6E20C54A68}"/>
              </a:ext>
            </a:extLst>
          </p:cNvPr>
          <p:cNvSpPr>
            <a:spLocks xmlns:a="http://schemas.openxmlformats.org/drawingml/2006/main" noGrp="1"/>
          </p:cNvSpPr>
          <p:nvPr/>
        </p:nvSpPr>
        <p:spPr>
          <a:xfrm xmlns:a="http://schemas.openxmlformats.org/drawingml/2006/main">
            <a:off x="1162050" y="5695950"/>
            <a:ext cx="7200900" cy="1009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b="0">
                <a:solidFill>
                  <a:srgbClr val="475569"/>
                </a:solidFill>
              </a:defRPr>
            </a:pPr>
            <a:r>
              <a:rPr sz="1650" b="0">
                <a:solidFill>
                  <a:srgbClr val="475569"/>
                </a:solidFill>
              </a:rPr>
              <a:t>• Spring Boot</a:t>
            </a:r>
          </a:p>
          <a:p xmlns:a="http://schemas.openxmlformats.org/drawingml/2006/main">
            <a:pPr>
              <a:defRPr sz="1650" b="0">
                <a:solidFill>
                  <a:srgbClr val="475569"/>
                </a:solidFill>
              </a:defRPr>
            </a:pPr>
            <a:r>
              <a:rPr sz="1650" b="0">
                <a:solidFill>
                  <a:srgbClr val="475569"/>
                </a:solidFill>
              </a:rPr>
              <a:t>• Spring Security</a:t>
            </a:r>
          </a:p>
          <a:p xmlns:a="http://schemas.openxmlformats.org/drawingml/2006/main">
            <a:pPr>
              <a:defRPr sz="1650" b="0">
                <a:solidFill>
                  <a:srgbClr val="475569"/>
                </a:solidFill>
              </a:defRPr>
            </a:pPr>
            <a:r>
              <a:rPr sz="1650" b="0">
                <a:solidFill>
                  <a:srgbClr val="475569"/>
                </a:solidFill>
              </a:rPr>
              <a:t>• JWT</a:t>
            </a:r>
          </a:p>
          <a:p xmlns:a="http://schemas.openxmlformats.org/drawingml/2006/main">
            <a:pPr>
              <a:defRPr sz="1650" b="0">
                <a:solidFill>
                  <a:srgbClr val="475569"/>
                </a:solidFill>
              </a:defRPr>
            </a:pPr>
            <a:r>
              <a:rPr sz="1650" b="0">
                <a:solidFill>
                  <a:srgbClr val="475569"/>
                </a:solidFill>
              </a:rPr>
              <a:t>• MyBatis-Plus</a:t>
            </a:r>
          </a:p>
        </p:txBody>
      </p:sp>
      <p:sp>
        <p:nvSpPr>
          <p:cNvPr id="13" name="">
            <a:extLst xmlns:a="http://schemas.openxmlformats.org/drawingml/2006/main">
              <a:ext uri="{FF2B5EF4-FFF2-40B4-BE49-F238E27FC236}">
                <a16:creationId xmlns:a16="http://schemas.microsoft.com/office/drawing/2014/main" id="{214E4CA3-B590-4EA0-AFE7-0145BB9EB73E}"/>
              </a:ext>
            </a:extLst>
          </p:cNvPr>
          <p:cNvSpPr>
            <a:spLocks xmlns:a="http://schemas.openxmlformats.org/drawingml/2006/main" noGrp="1"/>
          </p:cNvSpPr>
          <p:nvPr/>
        </p:nvSpPr>
        <p:spPr>
          <a:xfrm xmlns:a="http://schemas.openxmlformats.org/drawingml/2006/main">
            <a:off x="914400" y="7139940"/>
            <a:ext cx="7691438" cy="1619250"/>
          </a:xfrm>
          <a:prstGeom xmlns:a="http://schemas.openxmlformats.org/drawingml/2006/main" prst="roundRect">
            <a:avLst>
              <a:gd name="adj" fmla="val 12941"/>
            </a:avLst>
          </a:prstGeom>
          <a:solidFill xmlns:a="http://schemas.openxmlformats.org/drawingml/2006/main">
            <a:srgbClr val="FFF7ED"/>
          </a:solidFill>
        </p:spPr>
      </p:sp>
      <p:sp>
        <p:nvSpPr>
          <p:cNvPr id="14" name="">
            <a:extLst xmlns:a="http://schemas.openxmlformats.org/drawingml/2006/main">
              <a:ext uri="{FF2B5EF4-FFF2-40B4-BE49-F238E27FC236}">
                <a16:creationId xmlns:a16="http://schemas.microsoft.com/office/drawing/2014/main" id="{1C51002D-A1DB-47A0-A997-20099B6FF738}"/>
              </a:ext>
            </a:extLst>
          </p:cNvPr>
          <p:cNvSpPr>
            <a:spLocks xmlns:a="http://schemas.openxmlformats.org/drawingml/2006/main" noGrp="1"/>
          </p:cNvSpPr>
          <p:nvPr/>
        </p:nvSpPr>
        <p:spPr>
          <a:xfrm xmlns:a="http://schemas.openxmlformats.org/drawingml/2006/main">
            <a:off x="1162050" y="7372350"/>
            <a:ext cx="72009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1E293B"/>
                </a:solidFill>
              </a:defRPr>
            </a:pPr>
            <a:r>
              <a:rPr sz="1800" b="1">
                <a:solidFill>
                  <a:srgbClr val="1E293B"/>
                </a:solidFill>
              </a:rPr>
              <a:t>数据与演示环境</a:t>
            </a:r>
          </a:p>
        </p:txBody>
      </p:sp>
      <p:sp>
        <p:nvSpPr>
          <p:cNvPr id="15" name="">
            <a:extLst xmlns:a="http://schemas.openxmlformats.org/drawingml/2006/main">
              <a:ext uri="{FF2B5EF4-FFF2-40B4-BE49-F238E27FC236}">
                <a16:creationId xmlns:a16="http://schemas.microsoft.com/office/drawing/2014/main" id="{3125183E-6C25-4A79-A42A-1291AF76B722}"/>
              </a:ext>
            </a:extLst>
          </p:cNvPr>
          <p:cNvSpPr>
            <a:spLocks xmlns:a="http://schemas.openxmlformats.org/drawingml/2006/main" noGrp="1"/>
          </p:cNvSpPr>
          <p:nvPr/>
        </p:nvSpPr>
        <p:spPr>
          <a:xfrm xmlns:a="http://schemas.openxmlformats.org/drawingml/2006/main">
            <a:off x="1162050" y="7772400"/>
            <a:ext cx="7200900" cy="762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b="0">
                <a:solidFill>
                  <a:srgbClr val="475569"/>
                </a:solidFill>
              </a:defRPr>
            </a:pPr>
            <a:r>
              <a:rPr sz="1650" b="0">
                <a:solidFill>
                  <a:srgbClr val="475569"/>
                </a:solidFill>
              </a:rPr>
              <a:t>• 关系型数据库表结构设计</a:t>
            </a:r>
          </a:p>
          <a:p xmlns:a="http://schemas.openxmlformats.org/drawingml/2006/main">
            <a:pPr>
              <a:defRPr sz="1650" b="0">
                <a:solidFill>
                  <a:srgbClr val="475569"/>
                </a:solidFill>
              </a:defRPr>
            </a:pPr>
            <a:r>
              <a:rPr sz="1650" b="0">
                <a:solidFill>
                  <a:srgbClr val="475569"/>
                </a:solidFill>
              </a:rPr>
              <a:t>• 论文以 MySQL 模式描述</a:t>
            </a:r>
          </a:p>
          <a:p xmlns:a="http://schemas.openxmlformats.org/drawingml/2006/main">
            <a:pPr>
              <a:defRPr sz="1650" b="0">
                <a:solidFill>
                  <a:srgbClr val="475569"/>
                </a:solidFill>
              </a:defRPr>
            </a:pPr>
            <a:r>
              <a:rPr sz="1650" b="0">
                <a:solidFill>
                  <a:srgbClr val="475569"/>
                </a:solidFill>
              </a:rPr>
              <a:t>• 当前演示与闭环测试使用隔离 H2 数据集</a:t>
            </a:r>
          </a:p>
        </p:txBody>
      </p:sp>
      <p:sp>
        <p:nvSpPr>
          <p:cNvPr id="16" name="">
            <a:extLst xmlns:a="http://schemas.openxmlformats.org/drawingml/2006/main">
              <a:ext uri="{FF2B5EF4-FFF2-40B4-BE49-F238E27FC236}">
                <a16:creationId xmlns:a16="http://schemas.microsoft.com/office/drawing/2014/main" id="{C1DA2BAD-9BE7-4E48-B2FE-9437A0F7CD1B}"/>
              </a:ext>
            </a:extLst>
          </p:cNvPr>
          <p:cNvSpPr>
            <a:spLocks xmlns:a="http://schemas.openxmlformats.org/drawingml/2006/main" noGrp="1"/>
          </p:cNvSpPr>
          <p:nvPr/>
        </p:nvSpPr>
        <p:spPr>
          <a:xfrm xmlns:a="http://schemas.openxmlformats.org/drawingml/2006/main">
            <a:off x="8872538" y="2727960"/>
            <a:ext cx="4164806" cy="2236470"/>
          </a:xfrm>
          <a:prstGeom xmlns:a="http://schemas.openxmlformats.org/drawingml/2006/main" prst="roundRect">
            <a:avLst>
              <a:gd name="adj" fmla="val 9370"/>
            </a:avLst>
          </a:prstGeom>
          <a:solidFill xmlns:a="http://schemas.openxmlformats.org/drawingml/2006/main">
            <a:srgbClr val="F8FAFC"/>
          </a:solidFill>
        </p:spPr>
      </p:sp>
      <p:sp>
        <p:nvSpPr>
          <p:cNvPr id="17" name="">
            <a:extLst xmlns:a="http://schemas.openxmlformats.org/drawingml/2006/main">
              <a:ext uri="{FF2B5EF4-FFF2-40B4-BE49-F238E27FC236}">
                <a16:creationId xmlns:a16="http://schemas.microsoft.com/office/drawing/2014/main" id="{2D627E6A-7454-49DC-B21B-08847DBABDA5}"/>
              </a:ext>
            </a:extLst>
          </p:cNvPr>
          <p:cNvSpPr>
            <a:spLocks xmlns:a="http://schemas.openxmlformats.org/drawingml/2006/main" noGrp="1"/>
          </p:cNvSpPr>
          <p:nvPr/>
        </p:nvSpPr>
        <p:spPr>
          <a:xfrm xmlns:a="http://schemas.openxmlformats.org/drawingml/2006/main">
            <a:off x="9124950" y="2952750"/>
            <a:ext cx="36766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1E293B"/>
                </a:solidFill>
              </a:defRPr>
            </a:pPr>
            <a:r>
              <a:rPr sz="1800" b="1">
                <a:solidFill>
                  <a:srgbClr val="1E293B"/>
                </a:solidFill>
              </a:rPr>
              <a:t>基础资料对象</a:t>
            </a:r>
          </a:p>
        </p:txBody>
      </p:sp>
      <p:sp>
        <p:nvSpPr>
          <p:cNvPr id="18" name="">
            <a:extLst xmlns:a="http://schemas.openxmlformats.org/drawingml/2006/main">
              <a:ext uri="{FF2B5EF4-FFF2-40B4-BE49-F238E27FC236}">
                <a16:creationId xmlns:a16="http://schemas.microsoft.com/office/drawing/2014/main" id="{B023C8E0-E25D-4FFE-9D72-5203764C17E9}"/>
              </a:ext>
            </a:extLst>
          </p:cNvPr>
          <p:cNvSpPr>
            <a:spLocks xmlns:a="http://schemas.openxmlformats.org/drawingml/2006/main" noGrp="1"/>
          </p:cNvSpPr>
          <p:nvPr/>
        </p:nvSpPr>
        <p:spPr>
          <a:xfrm xmlns:a="http://schemas.openxmlformats.org/drawingml/2006/main">
            <a:off x="9124950" y="3371850"/>
            <a:ext cx="3676650" cy="1371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0">
                <a:solidFill>
                  <a:srgbClr val="475569"/>
                </a:solidFill>
              </a:defRPr>
            </a:pPr>
            <a:r>
              <a:rPr sz="1500" b="0">
                <a:solidFill>
                  <a:srgbClr val="475569"/>
                </a:solidFill>
              </a:rPr>
              <a:t>• sys_user</a:t>
            </a:r>
          </a:p>
          <a:p xmlns:a="http://schemas.openxmlformats.org/drawingml/2006/main">
            <a:pPr>
              <a:defRPr sz="1500" b="0">
                <a:solidFill>
                  <a:srgbClr val="475569"/>
                </a:solidFill>
              </a:defRPr>
            </a:pPr>
            <a:r>
              <a:rPr sz="1500" b="0">
                <a:solidFill>
                  <a:srgbClr val="475569"/>
                </a:solidFill>
              </a:rPr>
              <a:t>• sys_role</a:t>
            </a:r>
          </a:p>
          <a:p xmlns:a="http://schemas.openxmlformats.org/drawingml/2006/main">
            <a:pPr>
              <a:defRPr sz="1500" b="0">
                <a:solidFill>
                  <a:srgbClr val="475569"/>
                </a:solidFill>
              </a:defRPr>
            </a:pPr>
            <a:r>
              <a:rPr sz="1500" b="0">
                <a:solidFill>
                  <a:srgbClr val="475569"/>
                </a:solidFill>
              </a:rPr>
              <a:t>• sys_dept</a:t>
            </a:r>
          </a:p>
          <a:p xmlns:a="http://schemas.openxmlformats.org/drawingml/2006/main">
            <a:pPr>
              <a:defRPr sz="1500" b="0">
                <a:solidFill>
                  <a:srgbClr val="475569"/>
                </a:solidFill>
              </a:defRPr>
            </a:pPr>
            <a:r>
              <a:rPr sz="1500" b="0">
                <a:solidFill>
                  <a:srgbClr val="475569"/>
                </a:solidFill>
              </a:rPr>
              <a:t>• campus</a:t>
            </a:r>
          </a:p>
          <a:p xmlns:a="http://schemas.openxmlformats.org/drawingml/2006/main">
            <a:pPr>
              <a:defRPr sz="1500" b="0">
                <a:solidFill>
                  <a:srgbClr val="475569"/>
                </a:solidFill>
              </a:defRPr>
            </a:pPr>
            <a:r>
              <a:rPr sz="1500" b="0">
                <a:solidFill>
                  <a:srgbClr val="475569"/>
                </a:solidFill>
              </a:rPr>
              <a:t>• warehouse</a:t>
            </a:r>
          </a:p>
          <a:p xmlns:a="http://schemas.openxmlformats.org/drawingml/2006/main">
            <a:pPr>
              <a:defRPr sz="1500" b="0">
                <a:solidFill>
                  <a:srgbClr val="475569"/>
                </a:solidFill>
              </a:defRPr>
            </a:pPr>
            <a:r>
              <a:rPr sz="1500" b="0">
                <a:solidFill>
                  <a:srgbClr val="475569"/>
                </a:solidFill>
              </a:rPr>
              <a:t>• storage_location</a:t>
            </a:r>
          </a:p>
        </p:txBody>
      </p:sp>
      <p:sp>
        <p:nvSpPr>
          <p:cNvPr id="19" name="">
            <a:extLst xmlns:a="http://schemas.openxmlformats.org/drawingml/2006/main">
              <a:ext uri="{FF2B5EF4-FFF2-40B4-BE49-F238E27FC236}">
                <a16:creationId xmlns:a16="http://schemas.microsoft.com/office/drawing/2014/main" id="{FF0B085A-4FFA-458D-92F1-9B2FD0E36E99}"/>
              </a:ext>
            </a:extLst>
          </p:cNvPr>
          <p:cNvSpPr>
            <a:spLocks xmlns:a="http://schemas.openxmlformats.org/drawingml/2006/main" noGrp="1"/>
          </p:cNvSpPr>
          <p:nvPr/>
        </p:nvSpPr>
        <p:spPr>
          <a:xfrm xmlns:a="http://schemas.openxmlformats.org/drawingml/2006/main">
            <a:off x="13208794" y="2727960"/>
            <a:ext cx="4164806" cy="2236470"/>
          </a:xfrm>
          <a:prstGeom xmlns:a="http://schemas.openxmlformats.org/drawingml/2006/main" prst="roundRect">
            <a:avLst>
              <a:gd name="adj" fmla="val 9370"/>
            </a:avLst>
          </a:prstGeom>
          <a:solidFill xmlns:a="http://schemas.openxmlformats.org/drawingml/2006/main">
            <a:srgbClr val="F8FAFC"/>
          </a:solidFill>
        </p:spPr>
      </p:sp>
      <p:sp>
        <p:nvSpPr>
          <p:cNvPr id="20" name="">
            <a:extLst xmlns:a="http://schemas.openxmlformats.org/drawingml/2006/main">
              <a:ext uri="{FF2B5EF4-FFF2-40B4-BE49-F238E27FC236}">
                <a16:creationId xmlns:a16="http://schemas.microsoft.com/office/drawing/2014/main" id="{42A6C340-B0A6-43BA-B177-9DFE368F8CF9}"/>
              </a:ext>
            </a:extLst>
          </p:cNvPr>
          <p:cNvSpPr>
            <a:spLocks xmlns:a="http://schemas.openxmlformats.org/drawingml/2006/main" noGrp="1"/>
          </p:cNvSpPr>
          <p:nvPr/>
        </p:nvSpPr>
        <p:spPr>
          <a:xfrm xmlns:a="http://schemas.openxmlformats.org/drawingml/2006/main">
            <a:off x="13449300" y="2952750"/>
            <a:ext cx="36766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1E293B"/>
                </a:solidFill>
              </a:defRPr>
            </a:pPr>
            <a:r>
              <a:rPr sz="1800" b="1">
                <a:solidFill>
                  <a:srgbClr val="1E293B"/>
                </a:solidFill>
              </a:rPr>
              <a:t>物资与库存对象</a:t>
            </a:r>
          </a:p>
        </p:txBody>
      </p:sp>
      <p:sp>
        <p:nvSpPr>
          <p:cNvPr id="21" name="">
            <a:extLst xmlns:a="http://schemas.openxmlformats.org/drawingml/2006/main">
              <a:ext uri="{FF2B5EF4-FFF2-40B4-BE49-F238E27FC236}">
                <a16:creationId xmlns:a16="http://schemas.microsoft.com/office/drawing/2014/main" id="{3310E636-13BC-4100-AAB6-BD52C573E686}"/>
              </a:ext>
            </a:extLst>
          </p:cNvPr>
          <p:cNvSpPr>
            <a:spLocks xmlns:a="http://schemas.openxmlformats.org/drawingml/2006/main" noGrp="1"/>
          </p:cNvSpPr>
          <p:nvPr/>
        </p:nvSpPr>
        <p:spPr>
          <a:xfrm xmlns:a="http://schemas.openxmlformats.org/drawingml/2006/main">
            <a:off x="13449300" y="3371850"/>
            <a:ext cx="3676650" cy="914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0">
                <a:solidFill>
                  <a:srgbClr val="475569"/>
                </a:solidFill>
              </a:defRPr>
            </a:pPr>
            <a:r>
              <a:rPr sz="1500" b="0">
                <a:solidFill>
                  <a:srgbClr val="475569"/>
                </a:solidFill>
              </a:rPr>
              <a:t>• material_category</a:t>
            </a:r>
          </a:p>
          <a:p xmlns:a="http://schemas.openxmlformats.org/drawingml/2006/main">
            <a:pPr>
              <a:defRPr sz="1500" b="0">
                <a:solidFill>
                  <a:srgbClr val="475569"/>
                </a:solidFill>
              </a:defRPr>
            </a:pPr>
            <a:r>
              <a:rPr sz="1500" b="0">
                <a:solidFill>
                  <a:srgbClr val="475569"/>
                </a:solidFill>
              </a:rPr>
              <a:t>• material_info</a:t>
            </a:r>
          </a:p>
          <a:p xmlns:a="http://schemas.openxmlformats.org/drawingml/2006/main">
            <a:pPr>
              <a:defRPr sz="1500" b="0">
                <a:solidFill>
                  <a:srgbClr val="475569"/>
                </a:solidFill>
              </a:defRPr>
            </a:pPr>
            <a:r>
              <a:rPr sz="1500" b="0">
                <a:solidFill>
                  <a:srgbClr val="475569"/>
                </a:solidFill>
              </a:rPr>
              <a:t>• inventory</a:t>
            </a:r>
          </a:p>
          <a:p xmlns:a="http://schemas.openxmlformats.org/drawingml/2006/main">
            <a:pPr>
              <a:defRPr sz="1500" b="0">
                <a:solidFill>
                  <a:srgbClr val="475569"/>
                </a:solidFill>
              </a:defRPr>
            </a:pPr>
            <a:r>
              <a:rPr sz="1500" b="0">
                <a:solidFill>
                  <a:srgbClr val="475569"/>
                </a:solidFill>
              </a:rPr>
              <a:t>• inventory_batch</a:t>
            </a:r>
          </a:p>
        </p:txBody>
      </p:sp>
      <p:sp>
        <p:nvSpPr>
          <p:cNvPr id="22" name="">
            <a:extLst xmlns:a="http://schemas.openxmlformats.org/drawingml/2006/main">
              <a:ext uri="{FF2B5EF4-FFF2-40B4-BE49-F238E27FC236}">
                <a16:creationId xmlns:a16="http://schemas.microsoft.com/office/drawing/2014/main" id="{DE58A7B3-DFDB-41EE-9911-10A59EF96983}"/>
              </a:ext>
            </a:extLst>
          </p:cNvPr>
          <p:cNvSpPr>
            <a:spLocks xmlns:a="http://schemas.openxmlformats.org/drawingml/2006/main" noGrp="1"/>
          </p:cNvSpPr>
          <p:nvPr/>
        </p:nvSpPr>
        <p:spPr>
          <a:xfrm xmlns:a="http://schemas.openxmlformats.org/drawingml/2006/main">
            <a:off x="8872538" y="5135880"/>
            <a:ext cx="4164806" cy="2007870"/>
          </a:xfrm>
          <a:prstGeom xmlns:a="http://schemas.openxmlformats.org/drawingml/2006/main" prst="roundRect">
            <a:avLst>
              <a:gd name="adj" fmla="val 10436"/>
            </a:avLst>
          </a:prstGeom>
          <a:solidFill xmlns:a="http://schemas.openxmlformats.org/drawingml/2006/main">
            <a:srgbClr val="F8FAFC"/>
          </a:solidFill>
        </p:spPr>
      </p:sp>
      <p:sp>
        <p:nvSpPr>
          <p:cNvPr id="23" name="">
            <a:extLst xmlns:a="http://schemas.openxmlformats.org/drawingml/2006/main">
              <a:ext uri="{FF2B5EF4-FFF2-40B4-BE49-F238E27FC236}">
                <a16:creationId xmlns:a16="http://schemas.microsoft.com/office/drawing/2014/main" id="{1CEB5F6F-3AC7-43BA-8F9F-0ED6FE743E60}"/>
              </a:ext>
            </a:extLst>
          </p:cNvPr>
          <p:cNvSpPr>
            <a:spLocks xmlns:a="http://schemas.openxmlformats.org/drawingml/2006/main" noGrp="1"/>
          </p:cNvSpPr>
          <p:nvPr/>
        </p:nvSpPr>
        <p:spPr>
          <a:xfrm xmlns:a="http://schemas.openxmlformats.org/drawingml/2006/main">
            <a:off x="9124950" y="5372100"/>
            <a:ext cx="36766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1E293B"/>
                </a:solidFill>
              </a:defRPr>
            </a:pPr>
            <a:r>
              <a:rPr sz="1800" b="1">
                <a:solidFill>
                  <a:srgbClr val="1E293B"/>
                </a:solidFill>
              </a:rPr>
              <a:t>业务单据对象</a:t>
            </a:r>
          </a:p>
        </p:txBody>
      </p:sp>
      <p:sp>
        <p:nvSpPr>
          <p:cNvPr id="24" name="">
            <a:extLst xmlns:a="http://schemas.openxmlformats.org/drawingml/2006/main">
              <a:ext uri="{FF2B5EF4-FFF2-40B4-BE49-F238E27FC236}">
                <a16:creationId xmlns:a16="http://schemas.microsoft.com/office/drawing/2014/main" id="{7DD42FD4-6473-4994-A12B-737713D5C867}"/>
              </a:ext>
            </a:extLst>
          </p:cNvPr>
          <p:cNvSpPr>
            <a:spLocks xmlns:a="http://schemas.openxmlformats.org/drawingml/2006/main" noGrp="1"/>
          </p:cNvSpPr>
          <p:nvPr/>
        </p:nvSpPr>
        <p:spPr>
          <a:xfrm xmlns:a="http://schemas.openxmlformats.org/drawingml/2006/main">
            <a:off x="9124950" y="5772150"/>
            <a:ext cx="3676650" cy="685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0">
                <a:solidFill>
                  <a:srgbClr val="475569"/>
                </a:solidFill>
              </a:defRPr>
            </a:pPr>
            <a:r>
              <a:rPr sz="1500" b="0">
                <a:solidFill>
                  <a:srgbClr val="475569"/>
                </a:solidFill>
              </a:rPr>
              <a:t>• stock_in / stock_out</a:t>
            </a:r>
          </a:p>
          <a:p xmlns:a="http://schemas.openxmlformats.org/drawingml/2006/main">
            <a:pPr>
              <a:defRPr sz="1500" b="0">
                <a:solidFill>
                  <a:srgbClr val="475569"/>
                </a:solidFill>
              </a:defRPr>
            </a:pPr>
            <a:r>
              <a:rPr sz="1500" b="0">
                <a:solidFill>
                  <a:srgbClr val="475569"/>
                </a:solidFill>
              </a:rPr>
              <a:t>• apply_order</a:t>
            </a:r>
          </a:p>
          <a:p xmlns:a="http://schemas.openxmlformats.org/drawingml/2006/main">
            <a:pPr>
              <a:defRPr sz="1500" b="0">
                <a:solidFill>
                  <a:srgbClr val="475569"/>
                </a:solidFill>
              </a:defRPr>
            </a:pPr>
            <a:r>
              <a:rPr sz="1500" b="0">
                <a:solidFill>
                  <a:srgbClr val="475569"/>
                </a:solidFill>
              </a:rPr>
              <a:t>• transfer_order</a:t>
            </a:r>
          </a:p>
        </p:txBody>
      </p:sp>
      <p:sp>
        <p:nvSpPr>
          <p:cNvPr id="25" name="">
            <a:extLst xmlns:a="http://schemas.openxmlformats.org/drawingml/2006/main">
              <a:ext uri="{FF2B5EF4-FFF2-40B4-BE49-F238E27FC236}">
                <a16:creationId xmlns:a16="http://schemas.microsoft.com/office/drawing/2014/main" id="{EB11C0A5-D9FB-4E26-8C97-2B9DA9FB6CF4}"/>
              </a:ext>
            </a:extLst>
          </p:cNvPr>
          <p:cNvSpPr>
            <a:spLocks xmlns:a="http://schemas.openxmlformats.org/drawingml/2006/main" noGrp="1"/>
          </p:cNvSpPr>
          <p:nvPr/>
        </p:nvSpPr>
        <p:spPr>
          <a:xfrm xmlns:a="http://schemas.openxmlformats.org/drawingml/2006/main">
            <a:off x="13208794" y="5135880"/>
            <a:ext cx="4164806" cy="2007870"/>
          </a:xfrm>
          <a:prstGeom xmlns:a="http://schemas.openxmlformats.org/drawingml/2006/main" prst="roundRect">
            <a:avLst>
              <a:gd name="adj" fmla="val 10436"/>
            </a:avLst>
          </a:prstGeom>
          <a:solidFill xmlns:a="http://schemas.openxmlformats.org/drawingml/2006/main">
            <a:srgbClr val="F8FAFC"/>
          </a:solidFill>
        </p:spPr>
      </p:sp>
      <p:sp>
        <p:nvSpPr>
          <p:cNvPr id="26" name="">
            <a:extLst xmlns:a="http://schemas.openxmlformats.org/drawingml/2006/main">
              <a:ext uri="{FF2B5EF4-FFF2-40B4-BE49-F238E27FC236}">
                <a16:creationId xmlns:a16="http://schemas.microsoft.com/office/drawing/2014/main" id="{B063CC03-6393-4030-831E-80B9982609BB}"/>
              </a:ext>
            </a:extLst>
          </p:cNvPr>
          <p:cNvSpPr>
            <a:spLocks xmlns:a="http://schemas.openxmlformats.org/drawingml/2006/main" noGrp="1"/>
          </p:cNvSpPr>
          <p:nvPr/>
        </p:nvSpPr>
        <p:spPr>
          <a:xfrm xmlns:a="http://schemas.openxmlformats.org/drawingml/2006/main">
            <a:off x="13449300" y="5372100"/>
            <a:ext cx="36766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1E293B"/>
                </a:solidFill>
              </a:defRPr>
            </a:pPr>
            <a:r>
              <a:rPr sz="1800" b="1">
                <a:solidFill>
                  <a:srgbClr val="1E293B"/>
                </a:solidFill>
              </a:rPr>
              <a:t>监控审计对象</a:t>
            </a:r>
          </a:p>
        </p:txBody>
      </p:sp>
      <p:sp>
        <p:nvSpPr>
          <p:cNvPr id="27" name="">
            <a:extLst xmlns:a="http://schemas.openxmlformats.org/drawingml/2006/main">
              <a:ext uri="{FF2B5EF4-FFF2-40B4-BE49-F238E27FC236}">
                <a16:creationId xmlns:a16="http://schemas.microsoft.com/office/drawing/2014/main" id="{5C87ED63-B472-4A02-BE93-7C6A8D751D85}"/>
              </a:ext>
            </a:extLst>
          </p:cNvPr>
          <p:cNvSpPr>
            <a:spLocks xmlns:a="http://schemas.openxmlformats.org/drawingml/2006/main" noGrp="1"/>
          </p:cNvSpPr>
          <p:nvPr/>
        </p:nvSpPr>
        <p:spPr>
          <a:xfrm xmlns:a="http://schemas.openxmlformats.org/drawingml/2006/main">
            <a:off x="13449300" y="5772150"/>
            <a:ext cx="3676650" cy="1143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0">
                <a:solidFill>
                  <a:srgbClr val="475569"/>
                </a:solidFill>
              </a:defRPr>
            </a:pPr>
            <a:r>
              <a:rPr sz="1500" b="0">
                <a:solidFill>
                  <a:srgbClr val="475569"/>
                </a:solidFill>
              </a:rPr>
              <a:t>• warning_record</a:t>
            </a:r>
          </a:p>
          <a:p xmlns:a="http://schemas.openxmlformats.org/drawingml/2006/main">
            <a:pPr>
              <a:defRPr sz="1500" b="0">
                <a:solidFill>
                  <a:srgbClr val="475569"/>
                </a:solidFill>
              </a:defRPr>
            </a:pPr>
            <a:r>
              <a:rPr sz="1500" b="0">
                <a:solidFill>
                  <a:srgbClr val="475569"/>
                </a:solidFill>
              </a:rPr>
              <a:t>• event_record</a:t>
            </a:r>
          </a:p>
          <a:p xmlns:a="http://schemas.openxmlformats.org/drawingml/2006/main">
            <a:pPr>
              <a:defRPr sz="1500" b="0">
                <a:solidFill>
                  <a:srgbClr val="475569"/>
                </a:solidFill>
              </a:defRPr>
            </a:pPr>
            <a:r>
              <a:rPr sz="1500" b="0">
                <a:solidFill>
                  <a:srgbClr val="475569"/>
                </a:solidFill>
              </a:rPr>
              <a:t>• notification</a:t>
            </a:r>
          </a:p>
          <a:p xmlns:a="http://schemas.openxmlformats.org/drawingml/2006/main">
            <a:pPr>
              <a:defRPr sz="1500" b="0">
                <a:solidFill>
                  <a:srgbClr val="475569"/>
                </a:solidFill>
              </a:defRPr>
            </a:pPr>
            <a:r>
              <a:rPr sz="1500" b="0">
                <a:solidFill>
                  <a:srgbClr val="475569"/>
                </a:solidFill>
              </a:rPr>
              <a:t>• login_log</a:t>
            </a:r>
          </a:p>
          <a:p xmlns:a="http://schemas.openxmlformats.org/drawingml/2006/main">
            <a:pPr>
              <a:defRPr sz="1500" b="0">
                <a:solidFill>
                  <a:srgbClr val="475569"/>
                </a:solidFill>
              </a:defRPr>
            </a:pPr>
            <a:r>
              <a:rPr sz="1500" b="0">
                <a:solidFill>
                  <a:srgbClr val="475569"/>
                </a:solidFill>
              </a:rPr>
              <a:t>• operation_log</a:t>
            </a:r>
          </a:p>
        </p:txBody>
      </p:sp>
      <p:sp>
        <p:nvSpPr>
          <p:cNvPr id="28" name="">
            <a:extLst xmlns:a="http://schemas.openxmlformats.org/drawingml/2006/main">
              <a:ext uri="{FF2B5EF4-FFF2-40B4-BE49-F238E27FC236}">
                <a16:creationId xmlns:a16="http://schemas.microsoft.com/office/drawing/2014/main" id="{138E48FB-664A-414E-860C-E58A0FE46056}"/>
              </a:ext>
            </a:extLst>
          </p:cNvPr>
          <p:cNvSpPr>
            <a:spLocks xmlns:a="http://schemas.openxmlformats.org/drawingml/2006/main" noGrp="1"/>
          </p:cNvSpPr>
          <p:nvPr/>
        </p:nvSpPr>
        <p:spPr>
          <a:xfrm xmlns:a="http://schemas.openxmlformats.org/drawingml/2006/main">
            <a:off x="914400" y="9467850"/>
            <a:ext cx="16459200" cy="152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a:solidFill>
                  <a:srgbClr val="64748B"/>
                </a:solidFill>
              </a:defRPr>
            </a:pPr>
            <a:r>
              <a:rPr sz="900">
                <a:solidFill>
                  <a:srgbClr val="64748B"/>
                </a:solidFill>
              </a:rPr>
              <a:t>依据：当前项目实现、最新论文定稿、全功能闭环自测报告与已有检查材料</a:t>
            </a:r>
          </a:p>
        </p:txBody>
      </p:sp>
    </p:spTree>
    <p:extLst>
      <p:ext uri="{BB962C8B-B14F-4D97-AF65-F5344CB8AC3E}">
        <p14:creationId xmlns:p14="http://schemas.microsoft.com/office/powerpoint/2010/main" val="190804845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BB615A0-0161-4E5A-8056-C8F0018EBB86}"/>
              </a:ext>
            </a:extLst>
          </p:cNvPr>
          <p:cNvSpPr>
            <a:spLocks xmlns:a="http://schemas.openxmlformats.org/drawingml/2006/main" noGrp="1"/>
          </p:cNvSpPr>
          <p:nvPr/>
        </p:nvSpPr>
        <p:spPr>
          <a:xfrm xmlns:a="http://schemas.openxmlformats.org/drawingml/2006/main">
            <a:off x="914400" y="685800"/>
            <a:ext cx="838200" cy="5715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2" name="">
            <a:extLst xmlns:a="http://schemas.openxmlformats.org/drawingml/2006/main">
              <a:ext uri="{FF2B5EF4-FFF2-40B4-BE49-F238E27FC236}">
                <a16:creationId xmlns:a16="http://schemas.microsoft.com/office/drawing/2014/main" id="{15111098-4365-4D0F-8113-540C0966A04C}"/>
              </a:ext>
            </a:extLst>
          </p:cNvPr>
          <p:cNvSpPr>
            <a:spLocks xmlns:a="http://schemas.openxmlformats.org/drawingml/2006/main" noGrp="1"/>
          </p:cNvSpPr>
          <p:nvPr/>
        </p:nvSpPr>
        <p:spPr>
          <a:xfrm xmlns:a="http://schemas.openxmlformats.org/drawingml/2006/main">
            <a:off x="1924050" y="685800"/>
            <a:ext cx="171450" cy="4191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0F766E"/>
                </a:solidFill>
              </a:defRPr>
            </a:pPr>
            <a:r>
              <a:rPr sz="1350" b="1">
                <a:solidFill>
                  <a:srgbClr val="0F766E"/>
                </a:solidFill>
              </a:rPr>
              <a:t>04</a:t>
            </a:r>
          </a:p>
        </p:txBody>
      </p:sp>
      <p:sp>
        <p:nvSpPr>
          <p:cNvPr id="3" name="">
            <a:extLst xmlns:a="http://schemas.openxmlformats.org/drawingml/2006/main">
              <a:ext uri="{FF2B5EF4-FFF2-40B4-BE49-F238E27FC236}">
                <a16:creationId xmlns:a16="http://schemas.microsoft.com/office/drawing/2014/main" id="{BC871349-6345-433D-ABAE-AA35D799394C}"/>
              </a:ext>
            </a:extLst>
          </p:cNvPr>
          <p:cNvSpPr>
            <a:spLocks xmlns:a="http://schemas.openxmlformats.org/drawingml/2006/main" noGrp="1"/>
          </p:cNvSpPr>
          <p:nvPr/>
        </p:nvSpPr>
        <p:spPr>
          <a:xfrm xmlns:a="http://schemas.openxmlformats.org/drawingml/2006/main">
            <a:off x="914400" y="1238250"/>
            <a:ext cx="411480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a:solidFill>
                  <a:srgbClr val="0F172A"/>
                </a:solidFill>
              </a:defRPr>
            </a:pPr>
            <a:r>
              <a:rPr sz="3600" b="1">
                <a:solidFill>
                  <a:srgbClr val="0F172A"/>
                </a:solidFill>
              </a:rPr>
              <a:t>已实现功能模块概览</a:t>
            </a:r>
          </a:p>
        </p:txBody>
      </p:sp>
      <p:sp>
        <p:nvSpPr>
          <p:cNvPr id="4" name="">
            <a:extLst xmlns:a="http://schemas.openxmlformats.org/drawingml/2006/main">
              <a:ext uri="{FF2B5EF4-FFF2-40B4-BE49-F238E27FC236}">
                <a16:creationId xmlns:a16="http://schemas.microsoft.com/office/drawing/2014/main" id="{20FE0FDF-B4A3-457C-8940-304AFB94B60B}"/>
              </a:ext>
            </a:extLst>
          </p:cNvPr>
          <p:cNvSpPr>
            <a:spLocks xmlns:a="http://schemas.openxmlformats.org/drawingml/2006/main" noGrp="1"/>
          </p:cNvSpPr>
          <p:nvPr/>
        </p:nvSpPr>
        <p:spPr>
          <a:xfrm xmlns:a="http://schemas.openxmlformats.org/drawingml/2006/main">
            <a:off x="914400" y="1905000"/>
            <a:ext cx="68580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a:solidFill>
                  <a:srgbClr val="475569"/>
                </a:solidFill>
              </a:defRPr>
            </a:pPr>
            <a:r>
              <a:rPr sz="1800">
                <a:solidFill>
                  <a:srgbClr val="475569"/>
                </a:solidFill>
              </a:rPr>
              <a:t>系统实现范围聚焦于校园物资管理的主业务链路和配套审计分析能力</a:t>
            </a:r>
          </a:p>
        </p:txBody>
      </p:sp>
      <p:sp>
        <p:nvSpPr>
          <p:cNvPr id="5" name="">
            <a:extLst xmlns:a="http://schemas.openxmlformats.org/drawingml/2006/main">
              <a:ext uri="{FF2B5EF4-FFF2-40B4-BE49-F238E27FC236}">
                <a16:creationId xmlns:a16="http://schemas.microsoft.com/office/drawing/2014/main" id="{9288E5FE-0AC9-4D5B-BAAB-6C4579271316}"/>
              </a:ext>
            </a:extLst>
          </p:cNvPr>
          <p:cNvSpPr>
            <a:spLocks xmlns:a="http://schemas.openxmlformats.org/drawingml/2006/main" noGrp="1"/>
          </p:cNvSpPr>
          <p:nvPr/>
        </p:nvSpPr>
        <p:spPr>
          <a:xfrm xmlns:a="http://schemas.openxmlformats.org/drawingml/2006/main">
            <a:off x="15963900" y="685800"/>
            <a:ext cx="1409700" cy="472440"/>
          </a:xfrm>
          <a:prstGeom xmlns:a="http://schemas.openxmlformats.org/drawingml/2006/main" prst="roundRect">
            <a:avLst>
              <a:gd name="adj" fmla="val 36290"/>
            </a:avLst>
          </a:prstGeom>
          <a:solidFill xmlns:a="http://schemas.openxmlformats.org/drawingml/2006/main">
            <a:srgbClr val="0F172A"/>
          </a:solidFill>
        </p:spPr>
      </p:sp>
      <p:sp>
        <p:nvSpPr>
          <p:cNvPr id="6" name="">
            <a:extLst xmlns:a="http://schemas.openxmlformats.org/drawingml/2006/main">
              <a:ext uri="{FF2B5EF4-FFF2-40B4-BE49-F238E27FC236}">
                <a16:creationId xmlns:a16="http://schemas.microsoft.com/office/drawing/2014/main" id="{CD0B45E4-A76A-407F-AD87-128EEFC5A8E7}"/>
              </a:ext>
            </a:extLst>
          </p:cNvPr>
          <p:cNvSpPr>
            <a:spLocks xmlns:a="http://schemas.openxmlformats.org/drawingml/2006/main" noGrp="1"/>
          </p:cNvSpPr>
          <p:nvPr/>
        </p:nvSpPr>
        <p:spPr>
          <a:xfrm xmlns:a="http://schemas.openxmlformats.org/drawingml/2006/main">
            <a:off x="16135350" y="819150"/>
            <a:ext cx="10668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FFFFFF"/>
                </a:solidFill>
              </a:defRPr>
            </a:pPr>
            <a:r>
              <a:rPr sz="1350" b="1">
                <a:solidFill>
                  <a:srgbClr val="FFFFFF"/>
                </a:solidFill>
              </a:rPr>
              <a:t>04</a:t>
            </a:r>
          </a:p>
        </p:txBody>
      </p:sp>
      <p:sp>
        <p:nvSpPr>
          <p:cNvPr id="7" name="">
            <a:extLst xmlns:a="http://schemas.openxmlformats.org/drawingml/2006/main">
              <a:ext uri="{FF2B5EF4-FFF2-40B4-BE49-F238E27FC236}">
                <a16:creationId xmlns:a16="http://schemas.microsoft.com/office/drawing/2014/main" id="{ADB900E3-DB94-4FFB-BD9D-F7575A421BFB}"/>
              </a:ext>
            </a:extLst>
          </p:cNvPr>
          <p:cNvSpPr>
            <a:spLocks xmlns:a="http://schemas.openxmlformats.org/drawingml/2006/main" noGrp="1"/>
          </p:cNvSpPr>
          <p:nvPr/>
        </p:nvSpPr>
        <p:spPr>
          <a:xfrm xmlns:a="http://schemas.openxmlformats.org/drawingml/2006/main">
            <a:off x="914400" y="2453640"/>
            <a:ext cx="5346700" cy="3267075"/>
          </a:xfrm>
          <a:prstGeom xmlns:a="http://schemas.openxmlformats.org/drawingml/2006/main" prst="roundRect">
            <a:avLst>
              <a:gd name="adj" fmla="val 6414"/>
            </a:avLst>
          </a:prstGeom>
          <a:solidFill xmlns:a="http://schemas.openxmlformats.org/drawingml/2006/main">
            <a:srgbClr val="EFF6FF"/>
          </a:solidFill>
        </p:spPr>
      </p:sp>
      <p:sp>
        <p:nvSpPr>
          <p:cNvPr id="8" name="">
            <a:extLst xmlns:a="http://schemas.openxmlformats.org/drawingml/2006/main">
              <a:ext uri="{FF2B5EF4-FFF2-40B4-BE49-F238E27FC236}">
                <a16:creationId xmlns:a16="http://schemas.microsoft.com/office/drawing/2014/main" id="{1DF38262-432D-40ED-B2A5-1ECA4F83E3B2}"/>
              </a:ext>
            </a:extLst>
          </p:cNvPr>
          <p:cNvSpPr>
            <a:spLocks xmlns:a="http://schemas.openxmlformats.org/drawingml/2006/main" noGrp="1"/>
          </p:cNvSpPr>
          <p:nvPr/>
        </p:nvSpPr>
        <p:spPr>
          <a:xfrm xmlns:a="http://schemas.openxmlformats.org/drawingml/2006/main">
            <a:off x="1162050" y="2686050"/>
            <a:ext cx="48577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1E293B"/>
                </a:solidFill>
              </a:defRPr>
            </a:pPr>
            <a:r>
              <a:rPr sz="1800" b="1">
                <a:solidFill>
                  <a:srgbClr val="1E293B"/>
                </a:solidFill>
              </a:rPr>
              <a:t>基础资料维护</a:t>
            </a:r>
          </a:p>
        </p:txBody>
      </p:sp>
      <p:sp>
        <p:nvSpPr>
          <p:cNvPr id="9" name="">
            <a:extLst xmlns:a="http://schemas.openxmlformats.org/drawingml/2006/main">
              <a:ext uri="{FF2B5EF4-FFF2-40B4-BE49-F238E27FC236}">
                <a16:creationId xmlns:a16="http://schemas.microsoft.com/office/drawing/2014/main" id="{7EEE578E-3A17-42E3-B3F4-5CFDA2F5E31A}"/>
              </a:ext>
            </a:extLst>
          </p:cNvPr>
          <p:cNvSpPr>
            <a:spLocks xmlns:a="http://schemas.openxmlformats.org/drawingml/2006/main" noGrp="1"/>
          </p:cNvSpPr>
          <p:nvPr/>
        </p:nvSpPr>
        <p:spPr>
          <a:xfrm xmlns:a="http://schemas.openxmlformats.org/drawingml/2006/main">
            <a:off x="1162050" y="3086100"/>
            <a:ext cx="4857750" cy="685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0">
                <a:solidFill>
                  <a:srgbClr val="475569"/>
                </a:solidFill>
              </a:defRPr>
            </a:pPr>
            <a:r>
              <a:rPr sz="1500" b="0">
                <a:solidFill>
                  <a:srgbClr val="475569"/>
                </a:solidFill>
              </a:rPr>
              <a:t>• 用户、角色、部门、校区</a:t>
            </a:r>
          </a:p>
          <a:p xmlns:a="http://schemas.openxmlformats.org/drawingml/2006/main">
            <a:pPr>
              <a:defRPr sz="1500" b="0">
                <a:solidFill>
                  <a:srgbClr val="475569"/>
                </a:solidFill>
              </a:defRPr>
            </a:pPr>
            <a:r>
              <a:rPr sz="1500" b="0">
                <a:solidFill>
                  <a:srgbClr val="475569"/>
                </a:solidFill>
              </a:rPr>
              <a:t>• 仓库、库位、物资分类、物资档案</a:t>
            </a:r>
          </a:p>
          <a:p xmlns:a="http://schemas.openxmlformats.org/drawingml/2006/main">
            <a:pPr>
              <a:defRPr sz="1500" b="0">
                <a:solidFill>
                  <a:srgbClr val="475569"/>
                </a:solidFill>
              </a:defRPr>
            </a:pPr>
            <a:r>
              <a:rPr sz="1500" b="0">
                <a:solidFill>
                  <a:srgbClr val="475569"/>
                </a:solidFill>
              </a:rPr>
              <a:t>• 供应商与系统配置</a:t>
            </a:r>
          </a:p>
        </p:txBody>
      </p:sp>
      <p:sp>
        <p:nvSpPr>
          <p:cNvPr id="10" name="">
            <a:extLst xmlns:a="http://schemas.openxmlformats.org/drawingml/2006/main">
              <a:ext uri="{FF2B5EF4-FFF2-40B4-BE49-F238E27FC236}">
                <a16:creationId xmlns:a16="http://schemas.microsoft.com/office/drawing/2014/main" id="{33F22A1B-0068-41DD-A56C-6024236619EA}"/>
              </a:ext>
            </a:extLst>
          </p:cNvPr>
          <p:cNvSpPr>
            <a:spLocks xmlns:a="http://schemas.openxmlformats.org/drawingml/2006/main" noGrp="1"/>
          </p:cNvSpPr>
          <p:nvPr/>
        </p:nvSpPr>
        <p:spPr>
          <a:xfrm xmlns:a="http://schemas.openxmlformats.org/drawingml/2006/main">
            <a:off x="6470650" y="2453640"/>
            <a:ext cx="5346700" cy="3267075"/>
          </a:xfrm>
          <a:prstGeom xmlns:a="http://schemas.openxmlformats.org/drawingml/2006/main" prst="roundRect">
            <a:avLst>
              <a:gd name="adj" fmla="val 6414"/>
            </a:avLst>
          </a:prstGeom>
          <a:solidFill xmlns:a="http://schemas.openxmlformats.org/drawingml/2006/main">
            <a:srgbClr val="ECFDF5"/>
          </a:solidFill>
        </p:spPr>
      </p:sp>
      <p:sp>
        <p:nvSpPr>
          <p:cNvPr id="11" name="">
            <a:extLst xmlns:a="http://schemas.openxmlformats.org/drawingml/2006/main">
              <a:ext uri="{FF2B5EF4-FFF2-40B4-BE49-F238E27FC236}">
                <a16:creationId xmlns:a16="http://schemas.microsoft.com/office/drawing/2014/main" id="{7CB539C0-88BA-4A95-A672-0262B33781DB}"/>
              </a:ext>
            </a:extLst>
          </p:cNvPr>
          <p:cNvSpPr>
            <a:spLocks xmlns:a="http://schemas.openxmlformats.org/drawingml/2006/main" noGrp="1"/>
          </p:cNvSpPr>
          <p:nvPr/>
        </p:nvSpPr>
        <p:spPr>
          <a:xfrm xmlns:a="http://schemas.openxmlformats.org/drawingml/2006/main">
            <a:off x="6724650" y="2686050"/>
            <a:ext cx="48577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1E293B"/>
                </a:solidFill>
              </a:defRPr>
            </a:pPr>
            <a:r>
              <a:rPr sz="1800" b="1">
                <a:solidFill>
                  <a:srgbClr val="1E293B"/>
                </a:solidFill>
              </a:rPr>
              <a:t>库存与批次管理</a:t>
            </a:r>
          </a:p>
        </p:txBody>
      </p:sp>
      <p:sp>
        <p:nvSpPr>
          <p:cNvPr id="12" name="">
            <a:extLst xmlns:a="http://schemas.openxmlformats.org/drawingml/2006/main">
              <a:ext uri="{FF2B5EF4-FFF2-40B4-BE49-F238E27FC236}">
                <a16:creationId xmlns:a16="http://schemas.microsoft.com/office/drawing/2014/main" id="{EE8256B6-2D98-4A8A-B263-81188B30D5F1}"/>
              </a:ext>
            </a:extLst>
          </p:cNvPr>
          <p:cNvSpPr>
            <a:spLocks xmlns:a="http://schemas.openxmlformats.org/drawingml/2006/main" noGrp="1"/>
          </p:cNvSpPr>
          <p:nvPr/>
        </p:nvSpPr>
        <p:spPr>
          <a:xfrm xmlns:a="http://schemas.openxmlformats.org/drawingml/2006/main">
            <a:off x="6724650" y="3086100"/>
            <a:ext cx="4857750" cy="685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0">
                <a:solidFill>
                  <a:srgbClr val="475569"/>
                </a:solidFill>
              </a:defRPr>
            </a:pPr>
            <a:r>
              <a:rPr sz="1500" b="0">
                <a:solidFill>
                  <a:srgbClr val="475569"/>
                </a:solidFill>
              </a:rPr>
              <a:t>• 入库登记、普通出库</a:t>
            </a:r>
          </a:p>
          <a:p xmlns:a="http://schemas.openxmlformats.org/drawingml/2006/main">
            <a:pPr>
              <a:defRPr sz="1500" b="0">
                <a:solidFill>
                  <a:srgbClr val="475569"/>
                </a:solidFill>
              </a:defRPr>
            </a:pPr>
            <a:r>
              <a:rPr sz="1500" b="0">
                <a:solidFill>
                  <a:srgbClr val="475569"/>
                </a:solidFill>
              </a:rPr>
              <a:t>• 库存查询与库存汇总</a:t>
            </a:r>
          </a:p>
          <a:p xmlns:a="http://schemas.openxmlformats.org/drawingml/2006/main">
            <a:pPr>
              <a:defRPr sz="1500" b="0">
                <a:solidFill>
                  <a:srgbClr val="475569"/>
                </a:solidFill>
              </a:defRPr>
            </a:pPr>
            <a:r>
              <a:rPr sz="1500" b="0">
                <a:solidFill>
                  <a:srgbClr val="475569"/>
                </a:solidFill>
              </a:rPr>
              <a:t>• 批次记录、效期和 FEFO 扣减</a:t>
            </a:r>
          </a:p>
        </p:txBody>
      </p:sp>
      <p:sp>
        <p:nvSpPr>
          <p:cNvPr id="13" name="">
            <a:extLst xmlns:a="http://schemas.openxmlformats.org/drawingml/2006/main">
              <a:ext uri="{FF2B5EF4-FFF2-40B4-BE49-F238E27FC236}">
                <a16:creationId xmlns:a16="http://schemas.microsoft.com/office/drawing/2014/main" id="{878FAF5D-8D5E-4BF1-A357-9575A555475D}"/>
              </a:ext>
            </a:extLst>
          </p:cNvPr>
          <p:cNvSpPr>
            <a:spLocks xmlns:a="http://schemas.openxmlformats.org/drawingml/2006/main" noGrp="1"/>
          </p:cNvSpPr>
          <p:nvPr/>
        </p:nvSpPr>
        <p:spPr>
          <a:xfrm xmlns:a="http://schemas.openxmlformats.org/drawingml/2006/main">
            <a:off x="12026900" y="2453640"/>
            <a:ext cx="5346700" cy="3267075"/>
          </a:xfrm>
          <a:prstGeom xmlns:a="http://schemas.openxmlformats.org/drawingml/2006/main" prst="roundRect">
            <a:avLst>
              <a:gd name="adj" fmla="val 6414"/>
            </a:avLst>
          </a:prstGeom>
          <a:solidFill xmlns:a="http://schemas.openxmlformats.org/drawingml/2006/main">
            <a:srgbClr val="FFF7ED"/>
          </a:solidFill>
        </p:spPr>
      </p:sp>
      <p:sp>
        <p:nvSpPr>
          <p:cNvPr id="14" name="">
            <a:extLst xmlns:a="http://schemas.openxmlformats.org/drawingml/2006/main">
              <a:ext uri="{FF2B5EF4-FFF2-40B4-BE49-F238E27FC236}">
                <a16:creationId xmlns:a16="http://schemas.microsoft.com/office/drawing/2014/main" id="{B09D2B9E-AA4F-4039-B6BE-F1BA462632FC}"/>
              </a:ext>
            </a:extLst>
          </p:cNvPr>
          <p:cNvSpPr>
            <a:spLocks xmlns:a="http://schemas.openxmlformats.org/drawingml/2006/main" noGrp="1"/>
          </p:cNvSpPr>
          <p:nvPr/>
        </p:nvSpPr>
        <p:spPr>
          <a:xfrm xmlns:a="http://schemas.openxmlformats.org/drawingml/2006/main">
            <a:off x="12268200" y="2686050"/>
            <a:ext cx="48577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1E293B"/>
                </a:solidFill>
              </a:defRPr>
            </a:pPr>
            <a:r>
              <a:rPr sz="1800" b="1">
                <a:solidFill>
                  <a:srgbClr val="1E293B"/>
                </a:solidFill>
              </a:rPr>
              <a:t>物资申领审批</a:t>
            </a:r>
          </a:p>
        </p:txBody>
      </p:sp>
      <p:sp>
        <p:nvSpPr>
          <p:cNvPr id="15" name="">
            <a:extLst xmlns:a="http://schemas.openxmlformats.org/drawingml/2006/main">
              <a:ext uri="{FF2B5EF4-FFF2-40B4-BE49-F238E27FC236}">
                <a16:creationId xmlns:a16="http://schemas.microsoft.com/office/drawing/2014/main" id="{FB16ADA8-5EE1-4784-BA69-2EDDCBD30D67}"/>
              </a:ext>
            </a:extLst>
          </p:cNvPr>
          <p:cNvSpPr>
            <a:spLocks xmlns:a="http://schemas.openxmlformats.org/drawingml/2006/main" noGrp="1"/>
          </p:cNvSpPr>
          <p:nvPr/>
        </p:nvSpPr>
        <p:spPr>
          <a:xfrm xmlns:a="http://schemas.openxmlformats.org/drawingml/2006/main">
            <a:off x="12268200" y="3086100"/>
            <a:ext cx="4857750" cy="685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0">
                <a:solidFill>
                  <a:srgbClr val="475569"/>
                </a:solidFill>
              </a:defRPr>
            </a:pPr>
            <a:r>
              <a:rPr sz="1500" b="0">
                <a:solidFill>
                  <a:srgbClr val="475569"/>
                </a:solidFill>
              </a:rPr>
              <a:t>• 部门用户创建并提交申领单</a:t>
            </a:r>
          </a:p>
          <a:p xmlns:a="http://schemas.openxmlformats.org/drawingml/2006/main">
            <a:pPr>
              <a:defRPr sz="1500" b="0">
                <a:solidFill>
                  <a:srgbClr val="475569"/>
                </a:solidFill>
              </a:defRPr>
            </a:pPr>
            <a:r>
              <a:rPr sz="1500" b="0">
                <a:solidFill>
                  <a:srgbClr val="475569"/>
                </a:solidFill>
              </a:rPr>
              <a:t>• 审批人员审核</a:t>
            </a:r>
          </a:p>
          <a:p xmlns:a="http://schemas.openxmlformats.org/drawingml/2006/main">
            <a:pPr>
              <a:defRPr sz="1500" b="0">
                <a:solidFill>
                  <a:srgbClr val="475569"/>
                </a:solidFill>
              </a:defRPr>
            </a:pPr>
            <a:r>
              <a:rPr sz="1500" b="0">
                <a:solidFill>
                  <a:srgbClr val="475569"/>
                </a:solidFill>
              </a:rPr>
              <a:t>• 仓库管理员执行出库，部门用户签收</a:t>
            </a:r>
          </a:p>
        </p:txBody>
      </p:sp>
      <p:sp>
        <p:nvSpPr>
          <p:cNvPr id="16" name="">
            <a:extLst xmlns:a="http://schemas.openxmlformats.org/drawingml/2006/main">
              <a:ext uri="{FF2B5EF4-FFF2-40B4-BE49-F238E27FC236}">
                <a16:creationId xmlns:a16="http://schemas.microsoft.com/office/drawing/2014/main" id="{DF25CC1A-B535-4A6F-8F5E-20B8FB4BE96B}"/>
              </a:ext>
            </a:extLst>
          </p:cNvPr>
          <p:cNvSpPr>
            <a:spLocks xmlns:a="http://schemas.openxmlformats.org/drawingml/2006/main" noGrp="1"/>
          </p:cNvSpPr>
          <p:nvPr/>
        </p:nvSpPr>
        <p:spPr>
          <a:xfrm xmlns:a="http://schemas.openxmlformats.org/drawingml/2006/main">
            <a:off x="914400" y="5930265"/>
            <a:ext cx="5346700" cy="3267075"/>
          </a:xfrm>
          <a:prstGeom xmlns:a="http://schemas.openxmlformats.org/drawingml/2006/main" prst="roundRect">
            <a:avLst>
              <a:gd name="adj" fmla="val 6414"/>
            </a:avLst>
          </a:prstGeom>
          <a:solidFill xmlns:a="http://schemas.openxmlformats.org/drawingml/2006/main">
            <a:srgbClr val="FEF2F2"/>
          </a:solidFill>
        </p:spPr>
      </p:sp>
      <p:sp>
        <p:nvSpPr>
          <p:cNvPr id="17" name="">
            <a:extLst xmlns:a="http://schemas.openxmlformats.org/drawingml/2006/main">
              <a:ext uri="{FF2B5EF4-FFF2-40B4-BE49-F238E27FC236}">
                <a16:creationId xmlns:a16="http://schemas.microsoft.com/office/drawing/2014/main" id="{D4375C46-A61E-40D7-8FD5-315BBA4CEE30}"/>
              </a:ext>
            </a:extLst>
          </p:cNvPr>
          <p:cNvSpPr>
            <a:spLocks xmlns:a="http://schemas.openxmlformats.org/drawingml/2006/main" noGrp="1"/>
          </p:cNvSpPr>
          <p:nvPr/>
        </p:nvSpPr>
        <p:spPr>
          <a:xfrm xmlns:a="http://schemas.openxmlformats.org/drawingml/2006/main">
            <a:off x="1162050" y="6153150"/>
            <a:ext cx="48577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1E293B"/>
                </a:solidFill>
              </a:defRPr>
            </a:pPr>
            <a:r>
              <a:rPr sz="1800" b="1">
                <a:solidFill>
                  <a:srgbClr val="1E293B"/>
                </a:solidFill>
              </a:rPr>
              <a:t>仓库调拨处理</a:t>
            </a:r>
          </a:p>
        </p:txBody>
      </p:sp>
      <p:sp>
        <p:nvSpPr>
          <p:cNvPr id="18" name="">
            <a:extLst xmlns:a="http://schemas.openxmlformats.org/drawingml/2006/main">
              <a:ext uri="{FF2B5EF4-FFF2-40B4-BE49-F238E27FC236}">
                <a16:creationId xmlns:a16="http://schemas.microsoft.com/office/drawing/2014/main" id="{53A99657-FD92-49AA-B327-B0C5E795D275}"/>
              </a:ext>
            </a:extLst>
          </p:cNvPr>
          <p:cNvSpPr>
            <a:spLocks xmlns:a="http://schemas.openxmlformats.org/drawingml/2006/main" noGrp="1"/>
          </p:cNvSpPr>
          <p:nvPr/>
        </p:nvSpPr>
        <p:spPr>
          <a:xfrm xmlns:a="http://schemas.openxmlformats.org/drawingml/2006/main">
            <a:off x="1162050" y="6572250"/>
            <a:ext cx="4857750" cy="685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0">
                <a:solidFill>
                  <a:srgbClr val="475569"/>
                </a:solidFill>
              </a:defRPr>
            </a:pPr>
            <a:r>
              <a:rPr sz="1500" b="0">
                <a:solidFill>
                  <a:srgbClr val="475569"/>
                </a:solidFill>
              </a:rPr>
              <a:t>• 调拨创建、提交、审批</a:t>
            </a:r>
          </a:p>
          <a:p xmlns:a="http://schemas.openxmlformats.org/drawingml/2006/main">
            <a:pPr>
              <a:defRPr sz="1500" b="0">
                <a:solidFill>
                  <a:srgbClr val="475569"/>
                </a:solidFill>
              </a:defRPr>
            </a:pPr>
            <a:r>
              <a:rPr sz="1500" b="0">
                <a:solidFill>
                  <a:srgbClr val="475569"/>
                </a:solidFill>
              </a:rPr>
              <a:t>• 调拨执行与签收</a:t>
            </a:r>
          </a:p>
          <a:p xmlns:a="http://schemas.openxmlformats.org/drawingml/2006/main">
            <a:pPr>
              <a:defRPr sz="1500" b="0">
                <a:solidFill>
                  <a:srgbClr val="475569"/>
                </a:solidFill>
              </a:defRPr>
            </a:pPr>
            <a:r>
              <a:rPr sz="1500" b="0">
                <a:solidFill>
                  <a:srgbClr val="475569"/>
                </a:solidFill>
              </a:rPr>
              <a:t>• 源仓与目标仓库存、批次同步变化</a:t>
            </a:r>
          </a:p>
        </p:txBody>
      </p:sp>
      <p:sp>
        <p:nvSpPr>
          <p:cNvPr id="19" name="">
            <a:extLst xmlns:a="http://schemas.openxmlformats.org/drawingml/2006/main">
              <a:ext uri="{FF2B5EF4-FFF2-40B4-BE49-F238E27FC236}">
                <a16:creationId xmlns:a16="http://schemas.microsoft.com/office/drawing/2014/main" id="{740D8EAF-0F0B-4FFA-B9EC-5D518C3993D5}"/>
              </a:ext>
            </a:extLst>
          </p:cNvPr>
          <p:cNvSpPr>
            <a:spLocks xmlns:a="http://schemas.openxmlformats.org/drawingml/2006/main" noGrp="1"/>
          </p:cNvSpPr>
          <p:nvPr/>
        </p:nvSpPr>
        <p:spPr>
          <a:xfrm xmlns:a="http://schemas.openxmlformats.org/drawingml/2006/main">
            <a:off x="6470650" y="5930265"/>
            <a:ext cx="5346700" cy="3267075"/>
          </a:xfrm>
          <a:prstGeom xmlns:a="http://schemas.openxmlformats.org/drawingml/2006/main" prst="roundRect">
            <a:avLst>
              <a:gd name="adj" fmla="val 6414"/>
            </a:avLst>
          </a:prstGeom>
          <a:solidFill xmlns:a="http://schemas.openxmlformats.org/drawingml/2006/main">
            <a:srgbClr val="F8FAFC"/>
          </a:solidFill>
        </p:spPr>
      </p:sp>
      <p:sp>
        <p:nvSpPr>
          <p:cNvPr id="20" name="">
            <a:extLst xmlns:a="http://schemas.openxmlformats.org/drawingml/2006/main">
              <a:ext uri="{FF2B5EF4-FFF2-40B4-BE49-F238E27FC236}">
                <a16:creationId xmlns:a16="http://schemas.microsoft.com/office/drawing/2014/main" id="{A572D89C-624A-4654-A52D-9404C8D06F0B}"/>
              </a:ext>
            </a:extLst>
          </p:cNvPr>
          <p:cNvSpPr>
            <a:spLocks xmlns:a="http://schemas.openxmlformats.org/drawingml/2006/main" noGrp="1"/>
          </p:cNvSpPr>
          <p:nvPr/>
        </p:nvSpPr>
        <p:spPr>
          <a:xfrm xmlns:a="http://schemas.openxmlformats.org/drawingml/2006/main">
            <a:off x="6724650" y="6153150"/>
            <a:ext cx="48577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1E293B"/>
                </a:solidFill>
              </a:defRPr>
            </a:pPr>
            <a:r>
              <a:rPr sz="1800" b="1">
                <a:solidFill>
                  <a:srgbClr val="1E293B"/>
                </a:solidFill>
              </a:rPr>
              <a:t>预警、通知与日志</a:t>
            </a:r>
          </a:p>
        </p:txBody>
      </p:sp>
      <p:sp>
        <p:nvSpPr>
          <p:cNvPr id="21" name="">
            <a:extLst xmlns:a="http://schemas.openxmlformats.org/drawingml/2006/main">
              <a:ext uri="{FF2B5EF4-FFF2-40B4-BE49-F238E27FC236}">
                <a16:creationId xmlns:a16="http://schemas.microsoft.com/office/drawing/2014/main" id="{417BAA11-9157-4820-AB11-B4A008E05C3F}"/>
              </a:ext>
            </a:extLst>
          </p:cNvPr>
          <p:cNvSpPr>
            <a:spLocks xmlns:a="http://schemas.openxmlformats.org/drawingml/2006/main" noGrp="1"/>
          </p:cNvSpPr>
          <p:nvPr/>
        </p:nvSpPr>
        <p:spPr>
          <a:xfrm xmlns:a="http://schemas.openxmlformats.org/drawingml/2006/main">
            <a:off x="6724650" y="6572250"/>
            <a:ext cx="4857750" cy="685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0">
                <a:solidFill>
                  <a:srgbClr val="475569"/>
                </a:solidFill>
              </a:defRPr>
            </a:pPr>
            <a:r>
              <a:rPr sz="1500" b="0">
                <a:solidFill>
                  <a:srgbClr val="475569"/>
                </a:solidFill>
              </a:rPr>
              <a:t>• 低库存、临期、异常消耗预警</a:t>
            </a:r>
          </a:p>
          <a:p xmlns:a="http://schemas.openxmlformats.org/drawingml/2006/main">
            <a:pPr>
              <a:defRPr sz="1500" b="0">
                <a:solidFill>
                  <a:srgbClr val="475569"/>
                </a:solidFill>
              </a:defRPr>
            </a:pPr>
            <a:r>
              <a:rPr sz="1500" b="0">
                <a:solidFill>
                  <a:srgbClr val="475569"/>
                </a:solidFill>
              </a:rPr>
              <a:t>• 事件上报与站内通知</a:t>
            </a:r>
          </a:p>
          <a:p xmlns:a="http://schemas.openxmlformats.org/drawingml/2006/main">
            <a:pPr>
              <a:defRPr sz="1500" b="0">
                <a:solidFill>
                  <a:srgbClr val="475569"/>
                </a:solidFill>
              </a:defRPr>
            </a:pPr>
            <a:r>
              <a:rPr sz="1500" b="0">
                <a:solidFill>
                  <a:srgbClr val="475569"/>
                </a:solidFill>
              </a:rPr>
              <a:t>• 登录日志与操作日志</a:t>
            </a:r>
          </a:p>
        </p:txBody>
      </p:sp>
      <p:sp>
        <p:nvSpPr>
          <p:cNvPr id="22" name="">
            <a:extLst xmlns:a="http://schemas.openxmlformats.org/drawingml/2006/main">
              <a:ext uri="{FF2B5EF4-FFF2-40B4-BE49-F238E27FC236}">
                <a16:creationId xmlns:a16="http://schemas.microsoft.com/office/drawing/2014/main" id="{3AD4E9A6-E28B-463F-9B12-00E9C8346258}"/>
              </a:ext>
            </a:extLst>
          </p:cNvPr>
          <p:cNvSpPr>
            <a:spLocks xmlns:a="http://schemas.openxmlformats.org/drawingml/2006/main" noGrp="1"/>
          </p:cNvSpPr>
          <p:nvPr/>
        </p:nvSpPr>
        <p:spPr>
          <a:xfrm xmlns:a="http://schemas.openxmlformats.org/drawingml/2006/main">
            <a:off x="12026900" y="5930265"/>
            <a:ext cx="5346700" cy="3267075"/>
          </a:xfrm>
          <a:prstGeom xmlns:a="http://schemas.openxmlformats.org/drawingml/2006/main" prst="roundRect">
            <a:avLst>
              <a:gd name="adj" fmla="val 6414"/>
            </a:avLst>
          </a:prstGeom>
          <a:solidFill xmlns:a="http://schemas.openxmlformats.org/drawingml/2006/main">
            <a:srgbClr val="F8FAFC"/>
          </a:solidFill>
        </p:spPr>
      </p:sp>
      <p:sp>
        <p:nvSpPr>
          <p:cNvPr id="23" name="">
            <a:extLst xmlns:a="http://schemas.openxmlformats.org/drawingml/2006/main">
              <a:ext uri="{FF2B5EF4-FFF2-40B4-BE49-F238E27FC236}">
                <a16:creationId xmlns:a16="http://schemas.microsoft.com/office/drawing/2014/main" id="{AB2D0EAF-313A-4049-A31F-8CEDDB3C10FA}"/>
              </a:ext>
            </a:extLst>
          </p:cNvPr>
          <p:cNvSpPr>
            <a:spLocks xmlns:a="http://schemas.openxmlformats.org/drawingml/2006/main" noGrp="1"/>
          </p:cNvSpPr>
          <p:nvPr/>
        </p:nvSpPr>
        <p:spPr>
          <a:xfrm xmlns:a="http://schemas.openxmlformats.org/drawingml/2006/main">
            <a:off x="12268200" y="6153150"/>
            <a:ext cx="48577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1E293B"/>
                </a:solidFill>
              </a:defRPr>
            </a:pPr>
            <a:r>
              <a:rPr sz="1800" b="1">
                <a:solidFill>
                  <a:srgbClr val="1E293B"/>
                </a:solidFill>
              </a:rPr>
              <a:t>统计分析与参考信息</a:t>
            </a:r>
          </a:p>
        </p:txBody>
      </p:sp>
      <p:sp>
        <p:nvSpPr>
          <p:cNvPr id="24" name="">
            <a:extLst xmlns:a="http://schemas.openxmlformats.org/drawingml/2006/main">
              <a:ext uri="{FF2B5EF4-FFF2-40B4-BE49-F238E27FC236}">
                <a16:creationId xmlns:a16="http://schemas.microsoft.com/office/drawing/2014/main" id="{4B92C2DC-B15F-470F-927C-50C5D8510944}"/>
              </a:ext>
            </a:extLst>
          </p:cNvPr>
          <p:cNvSpPr>
            <a:spLocks xmlns:a="http://schemas.openxmlformats.org/drawingml/2006/main" noGrp="1"/>
          </p:cNvSpPr>
          <p:nvPr/>
        </p:nvSpPr>
        <p:spPr>
          <a:xfrm xmlns:a="http://schemas.openxmlformats.org/drawingml/2006/main">
            <a:off x="12268200" y="6572250"/>
            <a:ext cx="4857750" cy="685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0">
                <a:solidFill>
                  <a:srgbClr val="475569"/>
                </a:solidFill>
              </a:defRPr>
            </a:pPr>
            <a:r>
              <a:rPr sz="1500" b="0">
                <a:solidFill>
                  <a:srgbClr val="475569"/>
                </a:solidFill>
              </a:rPr>
              <a:t>• Dashboard 指标卡与 ECharts 图表</a:t>
            </a:r>
          </a:p>
          <a:p xmlns:a="http://schemas.openxmlformats.org/drawingml/2006/main">
            <a:pPr>
              <a:defRPr sz="1500" b="0">
                <a:solidFill>
                  <a:srgbClr val="475569"/>
                </a:solidFill>
              </a:defRPr>
            </a:pPr>
            <a:r>
              <a:rPr sz="1500" b="0">
                <a:solidFill>
                  <a:srgbClr val="475569"/>
                </a:solidFill>
              </a:rPr>
              <a:t>• 补货参考</a:t>
            </a:r>
          </a:p>
          <a:p xmlns:a="http://schemas.openxmlformats.org/drawingml/2006/main">
            <a:pPr>
              <a:defRPr sz="1500" b="0">
                <a:solidFill>
                  <a:srgbClr val="475569"/>
                </a:solidFill>
              </a:defRPr>
            </a:pPr>
            <a:r>
              <a:rPr sz="1500" b="0">
                <a:solidFill>
                  <a:srgbClr val="475569"/>
                </a:solidFill>
              </a:rPr>
              <a:t>• 出库趋势参考</a:t>
            </a:r>
          </a:p>
        </p:txBody>
      </p:sp>
      <p:sp>
        <p:nvSpPr>
          <p:cNvPr id="25" name="">
            <a:extLst xmlns:a="http://schemas.openxmlformats.org/drawingml/2006/main">
              <a:ext uri="{FF2B5EF4-FFF2-40B4-BE49-F238E27FC236}">
                <a16:creationId xmlns:a16="http://schemas.microsoft.com/office/drawing/2014/main" id="{9E7BCF56-6174-4389-B8EA-3C0BFED60F45}"/>
              </a:ext>
            </a:extLst>
          </p:cNvPr>
          <p:cNvSpPr>
            <a:spLocks xmlns:a="http://schemas.openxmlformats.org/drawingml/2006/main" noGrp="1"/>
          </p:cNvSpPr>
          <p:nvPr/>
        </p:nvSpPr>
        <p:spPr>
          <a:xfrm xmlns:a="http://schemas.openxmlformats.org/drawingml/2006/main">
            <a:off x="914400" y="9467850"/>
            <a:ext cx="16459200" cy="152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a:solidFill>
                  <a:srgbClr val="64748B"/>
                </a:solidFill>
              </a:defRPr>
            </a:pPr>
            <a:r>
              <a:rPr sz="900">
                <a:solidFill>
                  <a:srgbClr val="64748B"/>
                </a:solidFill>
              </a:rPr>
              <a:t>依据：当前项目实现、最新论文定稿、全功能闭环自测报告与已有检查材料</a:t>
            </a:r>
          </a:p>
        </p:txBody>
      </p:sp>
    </p:spTree>
    <p:extLst>
      <p:ext uri="{BB962C8B-B14F-4D97-AF65-F5344CB8AC3E}">
        <p14:creationId xmlns:p14="http://schemas.microsoft.com/office/powerpoint/2010/main" val="107590625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7485800-8AEE-4F50-AD8E-B54A66E37206}"/>
              </a:ext>
            </a:extLst>
          </p:cNvPr>
          <p:cNvSpPr>
            <a:spLocks xmlns:a="http://schemas.openxmlformats.org/drawingml/2006/main" noGrp="1"/>
          </p:cNvSpPr>
          <p:nvPr/>
        </p:nvSpPr>
        <p:spPr>
          <a:xfrm xmlns:a="http://schemas.openxmlformats.org/drawingml/2006/main">
            <a:off x="914400" y="685800"/>
            <a:ext cx="838200" cy="5715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2" name="">
            <a:extLst xmlns:a="http://schemas.openxmlformats.org/drawingml/2006/main">
              <a:ext uri="{FF2B5EF4-FFF2-40B4-BE49-F238E27FC236}">
                <a16:creationId xmlns:a16="http://schemas.microsoft.com/office/drawing/2014/main" id="{FDCF406B-5188-4A74-A8BC-6A504C062B1E}"/>
              </a:ext>
            </a:extLst>
          </p:cNvPr>
          <p:cNvSpPr>
            <a:spLocks xmlns:a="http://schemas.openxmlformats.org/drawingml/2006/main" noGrp="1"/>
          </p:cNvSpPr>
          <p:nvPr/>
        </p:nvSpPr>
        <p:spPr>
          <a:xfrm xmlns:a="http://schemas.openxmlformats.org/drawingml/2006/main">
            <a:off x="1924050" y="685800"/>
            <a:ext cx="171450" cy="4191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0F766E"/>
                </a:solidFill>
              </a:defRPr>
            </a:pPr>
            <a:r>
              <a:rPr sz="1350" b="1">
                <a:solidFill>
                  <a:srgbClr val="0F766E"/>
                </a:solidFill>
              </a:rPr>
              <a:t>05</a:t>
            </a:r>
          </a:p>
        </p:txBody>
      </p:sp>
      <p:sp>
        <p:nvSpPr>
          <p:cNvPr id="3" name="">
            <a:extLst xmlns:a="http://schemas.openxmlformats.org/drawingml/2006/main">
              <a:ext uri="{FF2B5EF4-FFF2-40B4-BE49-F238E27FC236}">
                <a16:creationId xmlns:a16="http://schemas.microsoft.com/office/drawing/2014/main" id="{DA91A889-95F1-4376-8C15-42315119140F}"/>
              </a:ext>
            </a:extLst>
          </p:cNvPr>
          <p:cNvSpPr>
            <a:spLocks xmlns:a="http://schemas.openxmlformats.org/drawingml/2006/main" noGrp="1"/>
          </p:cNvSpPr>
          <p:nvPr/>
        </p:nvSpPr>
        <p:spPr>
          <a:xfrm xmlns:a="http://schemas.openxmlformats.org/drawingml/2006/main">
            <a:off x="914400" y="1238250"/>
            <a:ext cx="731520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a:solidFill>
                  <a:srgbClr val="0F172A"/>
                </a:solidFill>
              </a:defRPr>
            </a:pPr>
            <a:r>
              <a:rPr sz="3600" b="1">
                <a:solidFill>
                  <a:srgbClr val="0F172A"/>
                </a:solidFill>
              </a:rPr>
              <a:t>核心流程一：申领审批、出库与签收</a:t>
            </a:r>
          </a:p>
        </p:txBody>
      </p:sp>
      <p:sp>
        <p:nvSpPr>
          <p:cNvPr id="4" name="">
            <a:extLst xmlns:a="http://schemas.openxmlformats.org/drawingml/2006/main">
              <a:ext uri="{FF2B5EF4-FFF2-40B4-BE49-F238E27FC236}">
                <a16:creationId xmlns:a16="http://schemas.microsoft.com/office/drawing/2014/main" id="{014A326D-0E0A-4058-93E9-0DCAF310A837}"/>
              </a:ext>
            </a:extLst>
          </p:cNvPr>
          <p:cNvSpPr>
            <a:spLocks xmlns:a="http://schemas.openxmlformats.org/drawingml/2006/main" noGrp="1"/>
          </p:cNvSpPr>
          <p:nvPr/>
        </p:nvSpPr>
        <p:spPr>
          <a:xfrm xmlns:a="http://schemas.openxmlformats.org/drawingml/2006/main">
            <a:off x="914400" y="1905000"/>
            <a:ext cx="70866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a:solidFill>
                  <a:srgbClr val="475569"/>
                </a:solidFill>
              </a:defRPr>
            </a:pPr>
            <a:r>
              <a:rPr sz="1800">
                <a:solidFill>
                  <a:srgbClr val="475569"/>
                </a:solidFill>
              </a:rPr>
              <a:t>论文和系统演示的主线围绕申领单状态流转、库存扣减与日志留痕展开</a:t>
            </a:r>
          </a:p>
        </p:txBody>
      </p:sp>
      <p:sp>
        <p:nvSpPr>
          <p:cNvPr id="5" name="">
            <a:extLst xmlns:a="http://schemas.openxmlformats.org/drawingml/2006/main">
              <a:ext uri="{FF2B5EF4-FFF2-40B4-BE49-F238E27FC236}">
                <a16:creationId xmlns:a16="http://schemas.microsoft.com/office/drawing/2014/main" id="{06E43A9F-090A-4A1E-AB57-6EF283110082}"/>
              </a:ext>
            </a:extLst>
          </p:cNvPr>
          <p:cNvSpPr>
            <a:spLocks xmlns:a="http://schemas.openxmlformats.org/drawingml/2006/main" noGrp="1"/>
          </p:cNvSpPr>
          <p:nvPr/>
        </p:nvSpPr>
        <p:spPr>
          <a:xfrm xmlns:a="http://schemas.openxmlformats.org/drawingml/2006/main">
            <a:off x="15963900" y="685800"/>
            <a:ext cx="1409700" cy="472440"/>
          </a:xfrm>
          <a:prstGeom xmlns:a="http://schemas.openxmlformats.org/drawingml/2006/main" prst="roundRect">
            <a:avLst>
              <a:gd name="adj" fmla="val 36290"/>
            </a:avLst>
          </a:prstGeom>
          <a:solidFill xmlns:a="http://schemas.openxmlformats.org/drawingml/2006/main">
            <a:srgbClr val="0F172A"/>
          </a:solidFill>
        </p:spPr>
      </p:sp>
      <p:sp>
        <p:nvSpPr>
          <p:cNvPr id="6" name="">
            <a:extLst xmlns:a="http://schemas.openxmlformats.org/drawingml/2006/main">
              <a:ext uri="{FF2B5EF4-FFF2-40B4-BE49-F238E27FC236}">
                <a16:creationId xmlns:a16="http://schemas.microsoft.com/office/drawing/2014/main" id="{F90A7993-AB2F-42B4-9DB3-B7924EB5DF6B}"/>
              </a:ext>
            </a:extLst>
          </p:cNvPr>
          <p:cNvSpPr>
            <a:spLocks xmlns:a="http://schemas.openxmlformats.org/drawingml/2006/main" noGrp="1"/>
          </p:cNvSpPr>
          <p:nvPr/>
        </p:nvSpPr>
        <p:spPr>
          <a:xfrm xmlns:a="http://schemas.openxmlformats.org/drawingml/2006/main">
            <a:off x="16135350" y="819150"/>
            <a:ext cx="10668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FFFFFF"/>
                </a:solidFill>
              </a:defRPr>
            </a:pPr>
            <a:r>
              <a:rPr sz="1350" b="1">
                <a:solidFill>
                  <a:srgbClr val="FFFFFF"/>
                </a:solidFill>
              </a:rPr>
              <a:t>05</a:t>
            </a:r>
          </a:p>
        </p:txBody>
      </p:sp>
      <p:sp>
        <p:nvSpPr>
          <p:cNvPr id="7" name="">
            <a:extLst xmlns:a="http://schemas.openxmlformats.org/drawingml/2006/main">
              <a:ext uri="{FF2B5EF4-FFF2-40B4-BE49-F238E27FC236}">
                <a16:creationId xmlns:a16="http://schemas.microsoft.com/office/drawing/2014/main" id="{D3BC9A7A-D874-4181-8824-4D7AEE6909AE}"/>
              </a:ext>
            </a:extLst>
          </p:cNvPr>
          <p:cNvSpPr>
            <a:spLocks xmlns:a="http://schemas.openxmlformats.org/drawingml/2006/main" noGrp="1"/>
          </p:cNvSpPr>
          <p:nvPr/>
        </p:nvSpPr>
        <p:spPr>
          <a:xfrm xmlns:a="http://schemas.openxmlformats.org/drawingml/2006/main">
            <a:off x="914400" y="2453640"/>
            <a:ext cx="3185160" cy="815340"/>
          </a:xfrm>
          <a:prstGeom xmlns:a="http://schemas.openxmlformats.org/drawingml/2006/main" prst="roundRect">
            <a:avLst>
              <a:gd name="adj" fmla="val 21028"/>
            </a:avLst>
          </a:prstGeom>
          <a:solidFill xmlns:a="http://schemas.openxmlformats.org/drawingml/2006/main">
            <a:srgbClr val="EFF6FF"/>
          </a:solidFill>
        </p:spPr>
      </p:sp>
      <p:sp>
        <p:nvSpPr>
          <p:cNvPr id="8" name="">
            <a:extLst xmlns:a="http://schemas.openxmlformats.org/drawingml/2006/main">
              <a:ext uri="{FF2B5EF4-FFF2-40B4-BE49-F238E27FC236}">
                <a16:creationId xmlns:a16="http://schemas.microsoft.com/office/drawing/2014/main" id="{430AC58D-61E4-4A6E-A8F9-EB189F45B3B8}"/>
              </a:ext>
            </a:extLst>
          </p:cNvPr>
          <p:cNvSpPr>
            <a:spLocks xmlns:a="http://schemas.openxmlformats.org/drawingml/2006/main" noGrp="1"/>
          </p:cNvSpPr>
          <p:nvPr/>
        </p:nvSpPr>
        <p:spPr>
          <a:xfrm xmlns:a="http://schemas.openxmlformats.org/drawingml/2006/main">
            <a:off x="1085850" y="2628900"/>
            <a:ext cx="283845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0F172A"/>
                </a:solidFill>
              </a:defRPr>
            </a:pPr>
            <a:r>
              <a:rPr sz="1350" b="1">
                <a:solidFill>
                  <a:srgbClr val="0F172A"/>
                </a:solidFill>
              </a:rPr>
              <a:t>DRAFT</a:t>
            </a:r>
          </a:p>
        </p:txBody>
      </p:sp>
      <p:sp>
        <p:nvSpPr>
          <p:cNvPr id="9" name="">
            <a:extLst xmlns:a="http://schemas.openxmlformats.org/drawingml/2006/main">
              <a:ext uri="{FF2B5EF4-FFF2-40B4-BE49-F238E27FC236}">
                <a16:creationId xmlns:a16="http://schemas.microsoft.com/office/drawing/2014/main" id="{9A009043-4E4B-4C55-9D46-495FCA763C76}"/>
              </a:ext>
            </a:extLst>
          </p:cNvPr>
          <p:cNvSpPr>
            <a:spLocks xmlns:a="http://schemas.openxmlformats.org/drawingml/2006/main" noGrp="1"/>
          </p:cNvSpPr>
          <p:nvPr/>
        </p:nvSpPr>
        <p:spPr>
          <a:xfrm xmlns:a="http://schemas.openxmlformats.org/drawingml/2006/main">
            <a:off x="1085850" y="2933700"/>
            <a:ext cx="28384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a:solidFill>
                  <a:srgbClr val="475569"/>
                </a:solidFill>
              </a:defRPr>
            </a:pPr>
            <a:r>
              <a:rPr sz="1125">
                <a:solidFill>
                  <a:srgbClr val="475569"/>
                </a:solidFill>
              </a:rPr>
              <a:t>部门用户创建申领单并录入申请数量</a:t>
            </a:r>
          </a:p>
        </p:txBody>
      </p:sp>
      <p:sp>
        <p:nvSpPr>
          <p:cNvPr id="10" name="">
            <a:extLst xmlns:a="http://schemas.openxmlformats.org/drawingml/2006/main">
              <a:ext uri="{FF2B5EF4-FFF2-40B4-BE49-F238E27FC236}">
                <a16:creationId xmlns:a16="http://schemas.microsoft.com/office/drawing/2014/main" id="{4EF91D39-70A3-4D48-A982-F86DF518C574}"/>
              </a:ext>
            </a:extLst>
          </p:cNvPr>
          <p:cNvSpPr>
            <a:spLocks xmlns:a="http://schemas.openxmlformats.org/drawingml/2006/main" noGrp="1"/>
          </p:cNvSpPr>
          <p:nvPr/>
        </p:nvSpPr>
        <p:spPr>
          <a:xfrm xmlns:a="http://schemas.openxmlformats.org/drawingml/2006/main">
            <a:off x="4232910" y="2453640"/>
            <a:ext cx="3185160" cy="815340"/>
          </a:xfrm>
          <a:prstGeom xmlns:a="http://schemas.openxmlformats.org/drawingml/2006/main" prst="roundRect">
            <a:avLst>
              <a:gd name="adj" fmla="val 21028"/>
            </a:avLst>
          </a:prstGeom>
          <a:solidFill xmlns:a="http://schemas.openxmlformats.org/drawingml/2006/main">
            <a:srgbClr val="EFF6FF"/>
          </a:solidFill>
        </p:spPr>
      </p:sp>
      <p:sp>
        <p:nvSpPr>
          <p:cNvPr id="11" name="">
            <a:extLst xmlns:a="http://schemas.openxmlformats.org/drawingml/2006/main">
              <a:ext uri="{FF2B5EF4-FFF2-40B4-BE49-F238E27FC236}">
                <a16:creationId xmlns:a16="http://schemas.microsoft.com/office/drawing/2014/main" id="{C9250180-449D-438D-BDC0-6619CF98B322}"/>
              </a:ext>
            </a:extLst>
          </p:cNvPr>
          <p:cNvSpPr>
            <a:spLocks xmlns:a="http://schemas.openxmlformats.org/drawingml/2006/main" noGrp="1"/>
          </p:cNvSpPr>
          <p:nvPr/>
        </p:nvSpPr>
        <p:spPr>
          <a:xfrm xmlns:a="http://schemas.openxmlformats.org/drawingml/2006/main">
            <a:off x="4400550" y="2628900"/>
            <a:ext cx="283845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0F172A"/>
                </a:solidFill>
              </a:defRPr>
            </a:pPr>
            <a:r>
              <a:rPr sz="1350" b="1">
                <a:solidFill>
                  <a:srgbClr val="0F172A"/>
                </a:solidFill>
              </a:rPr>
              <a:t>SUBMITTED</a:t>
            </a:r>
          </a:p>
        </p:txBody>
      </p:sp>
      <p:sp>
        <p:nvSpPr>
          <p:cNvPr id="12" name="">
            <a:extLst xmlns:a="http://schemas.openxmlformats.org/drawingml/2006/main">
              <a:ext uri="{FF2B5EF4-FFF2-40B4-BE49-F238E27FC236}">
                <a16:creationId xmlns:a16="http://schemas.microsoft.com/office/drawing/2014/main" id="{DAAA6670-8F44-45FF-9921-04F86B299F68}"/>
              </a:ext>
            </a:extLst>
          </p:cNvPr>
          <p:cNvSpPr>
            <a:spLocks xmlns:a="http://schemas.openxmlformats.org/drawingml/2006/main" noGrp="1"/>
          </p:cNvSpPr>
          <p:nvPr/>
        </p:nvSpPr>
        <p:spPr>
          <a:xfrm xmlns:a="http://schemas.openxmlformats.org/drawingml/2006/main">
            <a:off x="4400550" y="2933700"/>
            <a:ext cx="28384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a:solidFill>
                  <a:srgbClr val="475569"/>
                </a:solidFill>
              </a:defRPr>
            </a:pPr>
            <a:r>
              <a:rPr sz="1125">
                <a:solidFill>
                  <a:srgbClr val="475569"/>
                </a:solidFill>
              </a:rPr>
              <a:t>提交后锁定可用库存并记录锁定仓库</a:t>
            </a:r>
          </a:p>
        </p:txBody>
      </p:sp>
      <p:sp>
        <p:nvSpPr>
          <p:cNvPr id="13" name="">
            <a:extLst xmlns:a="http://schemas.openxmlformats.org/drawingml/2006/main">
              <a:ext uri="{FF2B5EF4-FFF2-40B4-BE49-F238E27FC236}">
                <a16:creationId xmlns:a16="http://schemas.microsoft.com/office/drawing/2014/main" id="{B889AC06-C9B3-412D-A06F-FE14B1FD3B9B}"/>
              </a:ext>
            </a:extLst>
          </p:cNvPr>
          <p:cNvSpPr>
            <a:spLocks xmlns:a="http://schemas.openxmlformats.org/drawingml/2006/main" noGrp="1"/>
          </p:cNvSpPr>
          <p:nvPr/>
        </p:nvSpPr>
        <p:spPr>
          <a:xfrm xmlns:a="http://schemas.openxmlformats.org/drawingml/2006/main">
            <a:off x="7551420" y="2453640"/>
            <a:ext cx="3185160" cy="815340"/>
          </a:xfrm>
          <a:prstGeom xmlns:a="http://schemas.openxmlformats.org/drawingml/2006/main" prst="roundRect">
            <a:avLst>
              <a:gd name="adj" fmla="val 21028"/>
            </a:avLst>
          </a:prstGeom>
          <a:solidFill xmlns:a="http://schemas.openxmlformats.org/drawingml/2006/main">
            <a:srgbClr val="ECFDF5"/>
          </a:solidFill>
        </p:spPr>
      </p:sp>
      <p:sp>
        <p:nvSpPr>
          <p:cNvPr id="14" name="">
            <a:extLst xmlns:a="http://schemas.openxmlformats.org/drawingml/2006/main">
              <a:ext uri="{FF2B5EF4-FFF2-40B4-BE49-F238E27FC236}">
                <a16:creationId xmlns:a16="http://schemas.microsoft.com/office/drawing/2014/main" id="{AC18FA41-349C-4D96-8DB3-5802C425EF73}"/>
              </a:ext>
            </a:extLst>
          </p:cNvPr>
          <p:cNvSpPr>
            <a:spLocks xmlns:a="http://schemas.openxmlformats.org/drawingml/2006/main" noGrp="1"/>
          </p:cNvSpPr>
          <p:nvPr/>
        </p:nvSpPr>
        <p:spPr>
          <a:xfrm xmlns:a="http://schemas.openxmlformats.org/drawingml/2006/main">
            <a:off x="7715250" y="2628900"/>
            <a:ext cx="283845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0F172A"/>
                </a:solidFill>
              </a:defRPr>
            </a:pPr>
            <a:r>
              <a:rPr sz="1350" b="1">
                <a:solidFill>
                  <a:srgbClr val="0F172A"/>
                </a:solidFill>
              </a:rPr>
              <a:t>APPROVED</a:t>
            </a:r>
          </a:p>
        </p:txBody>
      </p:sp>
      <p:sp>
        <p:nvSpPr>
          <p:cNvPr id="15" name="">
            <a:extLst xmlns:a="http://schemas.openxmlformats.org/drawingml/2006/main">
              <a:ext uri="{FF2B5EF4-FFF2-40B4-BE49-F238E27FC236}">
                <a16:creationId xmlns:a16="http://schemas.microsoft.com/office/drawing/2014/main" id="{F9D2AC4F-17B9-4FC3-9229-BA077B4B6824}"/>
              </a:ext>
            </a:extLst>
          </p:cNvPr>
          <p:cNvSpPr>
            <a:spLocks xmlns:a="http://schemas.openxmlformats.org/drawingml/2006/main" noGrp="1"/>
          </p:cNvSpPr>
          <p:nvPr/>
        </p:nvSpPr>
        <p:spPr>
          <a:xfrm xmlns:a="http://schemas.openxmlformats.org/drawingml/2006/main">
            <a:off x="7715250" y="2933700"/>
            <a:ext cx="28384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a:solidFill>
                  <a:srgbClr val="475569"/>
                </a:solidFill>
              </a:defRPr>
            </a:pPr>
            <a:r>
              <a:rPr sz="1125">
                <a:solidFill>
                  <a:srgbClr val="475569"/>
                </a:solidFill>
              </a:rPr>
              <a:t>审批人员审核通过，等待仓库执行</a:t>
            </a:r>
          </a:p>
        </p:txBody>
      </p:sp>
      <p:sp>
        <p:nvSpPr>
          <p:cNvPr id="16" name="">
            <a:extLst xmlns:a="http://schemas.openxmlformats.org/drawingml/2006/main">
              <a:ext uri="{FF2B5EF4-FFF2-40B4-BE49-F238E27FC236}">
                <a16:creationId xmlns:a16="http://schemas.microsoft.com/office/drawing/2014/main" id="{681D39F3-4232-4699-9AE5-6817AA4B1144}"/>
              </a:ext>
            </a:extLst>
          </p:cNvPr>
          <p:cNvSpPr>
            <a:spLocks xmlns:a="http://schemas.openxmlformats.org/drawingml/2006/main" noGrp="1"/>
          </p:cNvSpPr>
          <p:nvPr/>
        </p:nvSpPr>
        <p:spPr>
          <a:xfrm xmlns:a="http://schemas.openxmlformats.org/drawingml/2006/main">
            <a:off x="10869930" y="2453640"/>
            <a:ext cx="3185160" cy="815340"/>
          </a:xfrm>
          <a:prstGeom xmlns:a="http://schemas.openxmlformats.org/drawingml/2006/main" prst="roundRect">
            <a:avLst>
              <a:gd name="adj" fmla="val 21028"/>
            </a:avLst>
          </a:prstGeom>
          <a:solidFill xmlns:a="http://schemas.openxmlformats.org/drawingml/2006/main">
            <a:srgbClr val="FFF7ED"/>
          </a:solidFill>
        </p:spPr>
      </p:sp>
      <p:sp>
        <p:nvSpPr>
          <p:cNvPr id="17" name="">
            <a:extLst xmlns:a="http://schemas.openxmlformats.org/drawingml/2006/main">
              <a:ext uri="{FF2B5EF4-FFF2-40B4-BE49-F238E27FC236}">
                <a16:creationId xmlns:a16="http://schemas.microsoft.com/office/drawing/2014/main" id="{63E61752-8CCC-422C-96BE-235BA8747B9C}"/>
              </a:ext>
            </a:extLst>
          </p:cNvPr>
          <p:cNvSpPr>
            <a:spLocks xmlns:a="http://schemas.openxmlformats.org/drawingml/2006/main" noGrp="1"/>
          </p:cNvSpPr>
          <p:nvPr/>
        </p:nvSpPr>
        <p:spPr>
          <a:xfrm xmlns:a="http://schemas.openxmlformats.org/drawingml/2006/main">
            <a:off x="11049000" y="2628900"/>
            <a:ext cx="283845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0F172A"/>
                </a:solidFill>
              </a:defRPr>
            </a:pPr>
            <a:r>
              <a:rPr sz="1350" b="1">
                <a:solidFill>
                  <a:srgbClr val="0F172A"/>
                </a:solidFill>
              </a:rPr>
              <a:t>OUTBOUND</a:t>
            </a:r>
          </a:p>
        </p:txBody>
      </p:sp>
      <p:sp>
        <p:nvSpPr>
          <p:cNvPr id="18" name="">
            <a:extLst xmlns:a="http://schemas.openxmlformats.org/drawingml/2006/main">
              <a:ext uri="{FF2B5EF4-FFF2-40B4-BE49-F238E27FC236}">
                <a16:creationId xmlns:a16="http://schemas.microsoft.com/office/drawing/2014/main" id="{4B09C03D-5F39-48C3-876B-9C1F1DC226F2}"/>
              </a:ext>
            </a:extLst>
          </p:cNvPr>
          <p:cNvSpPr>
            <a:spLocks xmlns:a="http://schemas.openxmlformats.org/drawingml/2006/main" noGrp="1"/>
          </p:cNvSpPr>
          <p:nvPr/>
        </p:nvSpPr>
        <p:spPr>
          <a:xfrm xmlns:a="http://schemas.openxmlformats.org/drawingml/2006/main">
            <a:off x="11049000" y="2933700"/>
            <a:ext cx="28384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a:solidFill>
                  <a:srgbClr val="475569"/>
                </a:solidFill>
              </a:defRPr>
            </a:pPr>
            <a:r>
              <a:rPr sz="1125">
                <a:solidFill>
                  <a:srgbClr val="475569"/>
                </a:solidFill>
              </a:rPr>
              <a:t>仓库管理员按审批结果出库，写入实际数量</a:t>
            </a:r>
          </a:p>
        </p:txBody>
      </p:sp>
      <p:sp>
        <p:nvSpPr>
          <p:cNvPr id="19" name="">
            <a:extLst xmlns:a="http://schemas.openxmlformats.org/drawingml/2006/main">
              <a:ext uri="{FF2B5EF4-FFF2-40B4-BE49-F238E27FC236}">
                <a16:creationId xmlns:a16="http://schemas.microsoft.com/office/drawing/2014/main" id="{82BB8F1B-323B-4097-BD58-328C497D8514}"/>
              </a:ext>
            </a:extLst>
          </p:cNvPr>
          <p:cNvSpPr>
            <a:spLocks xmlns:a="http://schemas.openxmlformats.org/drawingml/2006/main" noGrp="1"/>
          </p:cNvSpPr>
          <p:nvPr/>
        </p:nvSpPr>
        <p:spPr>
          <a:xfrm xmlns:a="http://schemas.openxmlformats.org/drawingml/2006/main">
            <a:off x="14188440" y="2453640"/>
            <a:ext cx="3185160" cy="815340"/>
          </a:xfrm>
          <a:prstGeom xmlns:a="http://schemas.openxmlformats.org/drawingml/2006/main" prst="roundRect">
            <a:avLst>
              <a:gd name="adj" fmla="val 21028"/>
            </a:avLst>
          </a:prstGeom>
          <a:solidFill xmlns:a="http://schemas.openxmlformats.org/drawingml/2006/main">
            <a:srgbClr val="FEF2F2"/>
          </a:solidFill>
        </p:spPr>
      </p:sp>
      <p:sp>
        <p:nvSpPr>
          <p:cNvPr id="20" name="">
            <a:extLst xmlns:a="http://schemas.openxmlformats.org/drawingml/2006/main">
              <a:ext uri="{FF2B5EF4-FFF2-40B4-BE49-F238E27FC236}">
                <a16:creationId xmlns:a16="http://schemas.microsoft.com/office/drawing/2014/main" id="{3AD5319D-D2BB-46AB-9B2B-A816D26CF605}"/>
              </a:ext>
            </a:extLst>
          </p:cNvPr>
          <p:cNvSpPr>
            <a:spLocks xmlns:a="http://schemas.openxmlformats.org/drawingml/2006/main" noGrp="1"/>
          </p:cNvSpPr>
          <p:nvPr/>
        </p:nvSpPr>
        <p:spPr>
          <a:xfrm xmlns:a="http://schemas.openxmlformats.org/drawingml/2006/main">
            <a:off x="14363700" y="2628900"/>
            <a:ext cx="283845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0F172A"/>
                </a:solidFill>
              </a:defRPr>
            </a:pPr>
            <a:r>
              <a:rPr sz="1350" b="1">
                <a:solidFill>
                  <a:srgbClr val="0F172A"/>
                </a:solidFill>
              </a:rPr>
              <a:t>RECEIVED</a:t>
            </a:r>
          </a:p>
        </p:txBody>
      </p:sp>
      <p:sp>
        <p:nvSpPr>
          <p:cNvPr id="21" name="">
            <a:extLst xmlns:a="http://schemas.openxmlformats.org/drawingml/2006/main">
              <a:ext uri="{FF2B5EF4-FFF2-40B4-BE49-F238E27FC236}">
                <a16:creationId xmlns:a16="http://schemas.microsoft.com/office/drawing/2014/main" id="{4D3575A3-849B-4E54-B33C-81FCC0614A96}"/>
              </a:ext>
            </a:extLst>
          </p:cNvPr>
          <p:cNvSpPr>
            <a:spLocks xmlns:a="http://schemas.openxmlformats.org/drawingml/2006/main" noGrp="1"/>
          </p:cNvSpPr>
          <p:nvPr/>
        </p:nvSpPr>
        <p:spPr>
          <a:xfrm xmlns:a="http://schemas.openxmlformats.org/drawingml/2006/main">
            <a:off x="14363700" y="2933700"/>
            <a:ext cx="28384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a:solidFill>
                  <a:srgbClr val="475569"/>
                </a:solidFill>
              </a:defRPr>
            </a:pPr>
            <a:r>
              <a:rPr sz="1125">
                <a:solidFill>
                  <a:srgbClr val="475569"/>
                </a:solidFill>
              </a:rPr>
              <a:t>部门用户签收，释放锁定字段并完成闭环</a:t>
            </a:r>
          </a:p>
        </p:txBody>
      </p:sp>
      <p:sp>
        <p:nvSpPr>
          <p:cNvPr id="22" name="">
            <a:extLst xmlns:a="http://schemas.openxmlformats.org/drawingml/2006/main">
              <a:ext uri="{FF2B5EF4-FFF2-40B4-BE49-F238E27FC236}">
                <a16:creationId xmlns:a16="http://schemas.microsoft.com/office/drawing/2014/main" id="{BA2852A8-6944-4275-B9CE-4F77DF9EEC4E}"/>
              </a:ext>
            </a:extLst>
          </p:cNvPr>
          <p:cNvSpPr>
            <a:spLocks xmlns:a="http://schemas.openxmlformats.org/drawingml/2006/main" noGrp="1"/>
          </p:cNvSpPr>
          <p:nvPr/>
        </p:nvSpPr>
        <p:spPr>
          <a:xfrm xmlns:a="http://schemas.openxmlformats.org/drawingml/2006/main">
            <a:off x="914400" y="3497580"/>
            <a:ext cx="7448550" cy="1619250"/>
          </a:xfrm>
          <a:prstGeom xmlns:a="http://schemas.openxmlformats.org/drawingml/2006/main" prst="roundRect">
            <a:avLst>
              <a:gd name="adj" fmla="val 12941"/>
            </a:avLst>
          </a:prstGeom>
          <a:solidFill xmlns:a="http://schemas.openxmlformats.org/drawingml/2006/main">
            <a:srgbClr val="F8FAFC"/>
          </a:solidFill>
        </p:spPr>
      </p:sp>
      <p:sp>
        <p:nvSpPr>
          <p:cNvPr id="23" name="">
            <a:extLst xmlns:a="http://schemas.openxmlformats.org/drawingml/2006/main">
              <a:ext uri="{FF2B5EF4-FFF2-40B4-BE49-F238E27FC236}">
                <a16:creationId xmlns:a16="http://schemas.microsoft.com/office/drawing/2014/main" id="{75B2CC9E-A751-43D1-8219-8A0B46818314}"/>
              </a:ext>
            </a:extLst>
          </p:cNvPr>
          <p:cNvSpPr>
            <a:spLocks xmlns:a="http://schemas.openxmlformats.org/drawingml/2006/main" noGrp="1"/>
          </p:cNvSpPr>
          <p:nvPr/>
        </p:nvSpPr>
        <p:spPr>
          <a:xfrm xmlns:a="http://schemas.openxmlformats.org/drawingml/2006/main">
            <a:off x="1162050" y="3733800"/>
            <a:ext cx="69532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1E293B"/>
                </a:solidFill>
              </a:defRPr>
            </a:pPr>
            <a:r>
              <a:rPr sz="1800" b="1">
                <a:solidFill>
                  <a:srgbClr val="1E293B"/>
                </a:solidFill>
              </a:rPr>
              <a:t>流程角色分工</a:t>
            </a:r>
          </a:p>
        </p:txBody>
      </p:sp>
      <p:sp>
        <p:nvSpPr>
          <p:cNvPr id="24" name="">
            <a:extLst xmlns:a="http://schemas.openxmlformats.org/drawingml/2006/main">
              <a:ext uri="{FF2B5EF4-FFF2-40B4-BE49-F238E27FC236}">
                <a16:creationId xmlns:a16="http://schemas.microsoft.com/office/drawing/2014/main" id="{971E7289-1E2E-4FF8-BA05-455C4BC52D8C}"/>
              </a:ext>
            </a:extLst>
          </p:cNvPr>
          <p:cNvSpPr>
            <a:spLocks xmlns:a="http://schemas.openxmlformats.org/drawingml/2006/main" noGrp="1"/>
          </p:cNvSpPr>
          <p:nvPr/>
        </p:nvSpPr>
        <p:spPr>
          <a:xfrm xmlns:a="http://schemas.openxmlformats.org/drawingml/2006/main">
            <a:off x="1162050" y="4133850"/>
            <a:ext cx="6953250" cy="762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b="0">
                <a:solidFill>
                  <a:srgbClr val="475569"/>
                </a:solidFill>
              </a:defRPr>
            </a:pPr>
            <a:r>
              <a:rPr sz="1650" b="0">
                <a:solidFill>
                  <a:srgbClr val="475569"/>
                </a:solidFill>
              </a:rPr>
              <a:t>• 部门用户：创建、提交、查看状态、签收确认</a:t>
            </a:r>
          </a:p>
          <a:p xmlns:a="http://schemas.openxmlformats.org/drawingml/2006/main">
            <a:pPr>
              <a:defRPr sz="1650" b="0">
                <a:solidFill>
                  <a:srgbClr val="475569"/>
                </a:solidFill>
              </a:defRPr>
            </a:pPr>
            <a:r>
              <a:rPr sz="1650" b="0">
                <a:solidFill>
                  <a:srgbClr val="475569"/>
                </a:solidFill>
              </a:rPr>
              <a:t>• 审批人员：根据申请内容完成审核</a:t>
            </a:r>
          </a:p>
          <a:p xmlns:a="http://schemas.openxmlformats.org/drawingml/2006/main">
            <a:pPr>
              <a:defRPr sz="1650" b="0">
                <a:solidFill>
                  <a:srgbClr val="475569"/>
                </a:solidFill>
              </a:defRPr>
            </a:pPr>
            <a:r>
              <a:rPr sz="1650" b="0">
                <a:solidFill>
                  <a:srgbClr val="475569"/>
                </a:solidFill>
              </a:rPr>
              <a:t>• 仓库管理员：执行出库并同步扣减库存</a:t>
            </a:r>
          </a:p>
        </p:txBody>
      </p:sp>
      <p:sp>
        <p:nvSpPr>
          <p:cNvPr id="25" name="">
            <a:extLst xmlns:a="http://schemas.openxmlformats.org/drawingml/2006/main">
              <a:ext uri="{FF2B5EF4-FFF2-40B4-BE49-F238E27FC236}">
                <a16:creationId xmlns:a16="http://schemas.microsoft.com/office/drawing/2014/main" id="{159F9096-0FC8-4EF9-BBCE-36D02CB809D6}"/>
              </a:ext>
            </a:extLst>
          </p:cNvPr>
          <p:cNvSpPr>
            <a:spLocks xmlns:a="http://schemas.openxmlformats.org/drawingml/2006/main" noGrp="1"/>
          </p:cNvSpPr>
          <p:nvPr/>
        </p:nvSpPr>
        <p:spPr>
          <a:xfrm xmlns:a="http://schemas.openxmlformats.org/drawingml/2006/main">
            <a:off x="8629650" y="3497580"/>
            <a:ext cx="8743950" cy="2065020"/>
          </a:xfrm>
          <a:prstGeom xmlns:a="http://schemas.openxmlformats.org/drawingml/2006/main" prst="roundRect">
            <a:avLst>
              <a:gd name="adj" fmla="val 10148"/>
            </a:avLst>
          </a:prstGeom>
          <a:solidFill xmlns:a="http://schemas.openxmlformats.org/drawingml/2006/main">
            <a:srgbClr val="F8FAFC"/>
          </a:solidFill>
        </p:spPr>
      </p:sp>
      <p:sp>
        <p:nvSpPr>
          <p:cNvPr id="26" name="">
            <a:extLst xmlns:a="http://schemas.openxmlformats.org/drawingml/2006/main">
              <a:ext uri="{FF2B5EF4-FFF2-40B4-BE49-F238E27FC236}">
                <a16:creationId xmlns:a16="http://schemas.microsoft.com/office/drawing/2014/main" id="{421AE8B6-1FC4-4101-90AF-0FEBE091B9AC}"/>
              </a:ext>
            </a:extLst>
          </p:cNvPr>
          <p:cNvSpPr>
            <a:spLocks xmlns:a="http://schemas.openxmlformats.org/drawingml/2006/main" noGrp="1"/>
          </p:cNvSpPr>
          <p:nvPr/>
        </p:nvSpPr>
        <p:spPr>
          <a:xfrm xmlns:a="http://schemas.openxmlformats.org/drawingml/2006/main">
            <a:off x="8877300" y="3733800"/>
            <a:ext cx="82486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1E293B"/>
                </a:solidFill>
              </a:defRPr>
            </a:pPr>
            <a:r>
              <a:rPr sz="1800" b="1">
                <a:solidFill>
                  <a:srgbClr val="1E293B"/>
                </a:solidFill>
              </a:rPr>
              <a:t>数据库联动点</a:t>
            </a:r>
          </a:p>
        </p:txBody>
      </p:sp>
      <p:sp>
        <p:nvSpPr>
          <p:cNvPr id="27" name="">
            <a:extLst xmlns:a="http://schemas.openxmlformats.org/drawingml/2006/main">
              <a:ext uri="{FF2B5EF4-FFF2-40B4-BE49-F238E27FC236}">
                <a16:creationId xmlns:a16="http://schemas.microsoft.com/office/drawing/2014/main" id="{BD7D502C-1186-4221-96D1-A0D465FF1034}"/>
              </a:ext>
            </a:extLst>
          </p:cNvPr>
          <p:cNvSpPr>
            <a:spLocks xmlns:a="http://schemas.openxmlformats.org/drawingml/2006/main" noGrp="1"/>
          </p:cNvSpPr>
          <p:nvPr/>
        </p:nvSpPr>
        <p:spPr>
          <a:xfrm xmlns:a="http://schemas.openxmlformats.org/drawingml/2006/main">
            <a:off x="8877300" y="4133850"/>
            <a:ext cx="8248650" cy="1200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75" b="0">
                <a:solidFill>
                  <a:srgbClr val="475569"/>
                </a:solidFill>
              </a:defRPr>
            </a:pPr>
            <a:r>
              <a:rPr sz="1575" b="0">
                <a:solidFill>
                  <a:srgbClr val="475569"/>
                </a:solidFill>
              </a:rPr>
              <a:t>• apply_order.status：DRAFT → SUBMITTED → APPROVED → OUTBOUND → RECEIVED</a:t>
            </a:r>
          </a:p>
          <a:p xmlns:a="http://schemas.openxmlformats.org/drawingml/2006/main">
            <a:pPr>
              <a:defRPr sz="1575" b="0">
                <a:solidFill>
                  <a:srgbClr val="475569"/>
                </a:solidFill>
              </a:defRPr>
            </a:pPr>
            <a:r>
              <a:rPr sz="1575" b="0">
                <a:solidFill>
                  <a:srgbClr val="475569"/>
                </a:solidFill>
              </a:rPr>
              <a:t>• apply_order.reserved_warehouse_id：锁仓时写入，签收后释放</a:t>
            </a:r>
          </a:p>
          <a:p xmlns:a="http://schemas.openxmlformats.org/drawingml/2006/main">
            <a:pPr>
              <a:defRPr sz="1575" b="0">
                <a:solidFill>
                  <a:srgbClr val="475569"/>
                </a:solidFill>
              </a:defRPr>
            </a:pPr>
            <a:r>
              <a:rPr sz="1575" b="0">
                <a:solidFill>
                  <a:srgbClr val="475569"/>
                </a:solidFill>
              </a:rPr>
              <a:t>• inventory.current_qty 与 locked_qty：提交、出库、驳回时联动更新</a:t>
            </a:r>
          </a:p>
          <a:p xmlns:a="http://schemas.openxmlformats.org/drawingml/2006/main">
            <a:pPr>
              <a:defRPr sz="1575" b="0">
                <a:solidFill>
                  <a:srgbClr val="475569"/>
                </a:solidFill>
              </a:defRPr>
            </a:pPr>
            <a:r>
              <a:rPr sz="1575" b="0">
                <a:solidFill>
                  <a:srgbClr val="475569"/>
                </a:solidFill>
              </a:rPr>
              <a:t>• inventory_batch.remain_qty：出库阶段按 FEFO 扣减</a:t>
            </a:r>
          </a:p>
          <a:p xmlns:a="http://schemas.openxmlformats.org/drawingml/2006/main">
            <a:pPr>
              <a:defRPr sz="1575" b="0">
                <a:solidFill>
                  <a:srgbClr val="475569"/>
                </a:solidFill>
              </a:defRPr>
            </a:pPr>
            <a:r>
              <a:rPr sz="1575" b="0">
                <a:solidFill>
                  <a:srgbClr val="475569"/>
                </a:solidFill>
              </a:rPr>
              <a:t>• operation_log：关键动作全部留痕</a:t>
            </a:r>
          </a:p>
        </p:txBody>
      </p:sp>
      <p:sp>
        <p:nvSpPr>
          <p:cNvPr id="28" name="">
            <a:extLst xmlns:a="http://schemas.openxmlformats.org/drawingml/2006/main">
              <a:ext uri="{FF2B5EF4-FFF2-40B4-BE49-F238E27FC236}">
                <a16:creationId xmlns:a16="http://schemas.microsoft.com/office/drawing/2014/main" id="{08FB38DF-0F34-46F1-AE22-5F8A937E6F8C}"/>
              </a:ext>
            </a:extLst>
          </p:cNvPr>
          <p:cNvSpPr>
            <a:spLocks xmlns:a="http://schemas.openxmlformats.org/drawingml/2006/main" noGrp="1"/>
          </p:cNvSpPr>
          <p:nvPr/>
        </p:nvSpPr>
        <p:spPr>
          <a:xfrm xmlns:a="http://schemas.openxmlformats.org/drawingml/2006/main">
            <a:off x="914400" y="9467850"/>
            <a:ext cx="16459200" cy="152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a:solidFill>
                  <a:srgbClr val="64748B"/>
                </a:solidFill>
              </a:defRPr>
            </a:pPr>
            <a:r>
              <a:rPr sz="900">
                <a:solidFill>
                  <a:srgbClr val="64748B"/>
                </a:solidFill>
              </a:rPr>
              <a:t>依据：当前项目实现、最新论文定稿、全功能闭环自测报告与已有检查材料</a:t>
            </a:r>
          </a:p>
        </p:txBody>
      </p:sp>
    </p:spTree>
    <p:extLst>
      <p:ext uri="{BB962C8B-B14F-4D97-AF65-F5344CB8AC3E}">
        <p14:creationId xmlns:p14="http://schemas.microsoft.com/office/powerpoint/2010/main" val="116421117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3DBB21B-FF75-4345-99D5-C9B1F164E596}"/>
              </a:ext>
            </a:extLst>
          </p:cNvPr>
          <p:cNvSpPr>
            <a:spLocks xmlns:a="http://schemas.openxmlformats.org/drawingml/2006/main" noGrp="1"/>
          </p:cNvSpPr>
          <p:nvPr/>
        </p:nvSpPr>
        <p:spPr>
          <a:xfrm xmlns:a="http://schemas.openxmlformats.org/drawingml/2006/main">
            <a:off x="914400" y="685800"/>
            <a:ext cx="838200" cy="5715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2" name="">
            <a:extLst xmlns:a="http://schemas.openxmlformats.org/drawingml/2006/main">
              <a:ext uri="{FF2B5EF4-FFF2-40B4-BE49-F238E27FC236}">
                <a16:creationId xmlns:a16="http://schemas.microsoft.com/office/drawing/2014/main" id="{0831544E-B6FA-4C9A-9589-54CA71A5D5FA}"/>
              </a:ext>
            </a:extLst>
          </p:cNvPr>
          <p:cNvSpPr>
            <a:spLocks xmlns:a="http://schemas.openxmlformats.org/drawingml/2006/main" noGrp="1"/>
          </p:cNvSpPr>
          <p:nvPr/>
        </p:nvSpPr>
        <p:spPr>
          <a:xfrm xmlns:a="http://schemas.openxmlformats.org/drawingml/2006/main">
            <a:off x="1924050" y="685800"/>
            <a:ext cx="171450" cy="4191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0F766E"/>
                </a:solidFill>
              </a:defRPr>
            </a:pPr>
            <a:r>
              <a:rPr sz="1350" b="1">
                <a:solidFill>
                  <a:srgbClr val="0F766E"/>
                </a:solidFill>
              </a:rPr>
              <a:t>06</a:t>
            </a:r>
          </a:p>
        </p:txBody>
      </p:sp>
      <p:sp>
        <p:nvSpPr>
          <p:cNvPr id="3" name="">
            <a:extLst xmlns:a="http://schemas.openxmlformats.org/drawingml/2006/main">
              <a:ext uri="{FF2B5EF4-FFF2-40B4-BE49-F238E27FC236}">
                <a16:creationId xmlns:a16="http://schemas.microsoft.com/office/drawing/2014/main" id="{220DC162-E53D-4BE9-B168-FFB759391F41}"/>
              </a:ext>
            </a:extLst>
          </p:cNvPr>
          <p:cNvSpPr>
            <a:spLocks xmlns:a="http://schemas.openxmlformats.org/drawingml/2006/main" noGrp="1"/>
          </p:cNvSpPr>
          <p:nvPr/>
        </p:nvSpPr>
        <p:spPr>
          <a:xfrm xmlns:a="http://schemas.openxmlformats.org/drawingml/2006/main">
            <a:off x="914400" y="1238250"/>
            <a:ext cx="731520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a:solidFill>
                  <a:srgbClr val="0F172A"/>
                </a:solidFill>
              </a:defRPr>
            </a:pPr>
            <a:r>
              <a:rPr sz="3600" b="1">
                <a:solidFill>
                  <a:srgbClr val="0F172A"/>
                </a:solidFill>
              </a:rPr>
              <a:t>核心流程二：调拨、预警与站内通知</a:t>
            </a:r>
          </a:p>
        </p:txBody>
      </p:sp>
      <p:sp>
        <p:nvSpPr>
          <p:cNvPr id="4" name="">
            <a:extLst xmlns:a="http://schemas.openxmlformats.org/drawingml/2006/main">
              <a:ext uri="{FF2B5EF4-FFF2-40B4-BE49-F238E27FC236}">
                <a16:creationId xmlns:a16="http://schemas.microsoft.com/office/drawing/2014/main" id="{9947FD74-1E0B-4551-B077-63CA56C0C37D}"/>
              </a:ext>
            </a:extLst>
          </p:cNvPr>
          <p:cNvSpPr>
            <a:spLocks xmlns:a="http://schemas.openxmlformats.org/drawingml/2006/main" noGrp="1"/>
          </p:cNvSpPr>
          <p:nvPr/>
        </p:nvSpPr>
        <p:spPr>
          <a:xfrm xmlns:a="http://schemas.openxmlformats.org/drawingml/2006/main">
            <a:off x="914400" y="1905000"/>
            <a:ext cx="70866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a:solidFill>
                  <a:srgbClr val="475569"/>
                </a:solidFill>
              </a:defRPr>
            </a:pPr>
            <a:r>
              <a:rPr sz="1800">
                <a:solidFill>
                  <a:srgbClr val="475569"/>
                </a:solidFill>
              </a:rPr>
              <a:t>调拨链路负责跨仓物资流转，预警与通知链路负责风险提示和状态反馈</a:t>
            </a:r>
          </a:p>
        </p:txBody>
      </p:sp>
      <p:sp>
        <p:nvSpPr>
          <p:cNvPr id="5" name="">
            <a:extLst xmlns:a="http://schemas.openxmlformats.org/drawingml/2006/main">
              <a:ext uri="{FF2B5EF4-FFF2-40B4-BE49-F238E27FC236}">
                <a16:creationId xmlns:a16="http://schemas.microsoft.com/office/drawing/2014/main" id="{73D9D3D7-EB35-4C9C-919C-1CE6560429CE}"/>
              </a:ext>
            </a:extLst>
          </p:cNvPr>
          <p:cNvSpPr>
            <a:spLocks xmlns:a="http://schemas.openxmlformats.org/drawingml/2006/main" noGrp="1"/>
          </p:cNvSpPr>
          <p:nvPr/>
        </p:nvSpPr>
        <p:spPr>
          <a:xfrm xmlns:a="http://schemas.openxmlformats.org/drawingml/2006/main">
            <a:off x="15963900" y="685800"/>
            <a:ext cx="1409700" cy="472440"/>
          </a:xfrm>
          <a:prstGeom xmlns:a="http://schemas.openxmlformats.org/drawingml/2006/main" prst="roundRect">
            <a:avLst>
              <a:gd name="adj" fmla="val 36290"/>
            </a:avLst>
          </a:prstGeom>
          <a:solidFill xmlns:a="http://schemas.openxmlformats.org/drawingml/2006/main">
            <a:srgbClr val="0F172A"/>
          </a:solidFill>
        </p:spPr>
      </p:sp>
      <p:sp>
        <p:nvSpPr>
          <p:cNvPr id="6" name="">
            <a:extLst xmlns:a="http://schemas.openxmlformats.org/drawingml/2006/main">
              <a:ext uri="{FF2B5EF4-FFF2-40B4-BE49-F238E27FC236}">
                <a16:creationId xmlns:a16="http://schemas.microsoft.com/office/drawing/2014/main" id="{DF055D8C-8755-4CBE-8650-0818E5C28C4E}"/>
              </a:ext>
            </a:extLst>
          </p:cNvPr>
          <p:cNvSpPr>
            <a:spLocks xmlns:a="http://schemas.openxmlformats.org/drawingml/2006/main" noGrp="1"/>
          </p:cNvSpPr>
          <p:nvPr/>
        </p:nvSpPr>
        <p:spPr>
          <a:xfrm xmlns:a="http://schemas.openxmlformats.org/drawingml/2006/main">
            <a:off x="16135350" y="819150"/>
            <a:ext cx="10668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FFFFFF"/>
                </a:solidFill>
              </a:defRPr>
            </a:pPr>
            <a:r>
              <a:rPr sz="1350" b="1">
                <a:solidFill>
                  <a:srgbClr val="FFFFFF"/>
                </a:solidFill>
              </a:rPr>
              <a:t>06</a:t>
            </a:r>
          </a:p>
        </p:txBody>
      </p:sp>
      <p:sp>
        <p:nvSpPr>
          <p:cNvPr id="7" name="">
            <a:extLst xmlns:a="http://schemas.openxmlformats.org/drawingml/2006/main">
              <a:ext uri="{FF2B5EF4-FFF2-40B4-BE49-F238E27FC236}">
                <a16:creationId xmlns:a16="http://schemas.microsoft.com/office/drawing/2014/main" id="{BF8915D3-5BC6-43BC-B2FC-45C6FE52E5F6}"/>
              </a:ext>
            </a:extLst>
          </p:cNvPr>
          <p:cNvSpPr>
            <a:spLocks xmlns:a="http://schemas.openxmlformats.org/drawingml/2006/main" noGrp="1"/>
          </p:cNvSpPr>
          <p:nvPr/>
        </p:nvSpPr>
        <p:spPr>
          <a:xfrm xmlns:a="http://schemas.openxmlformats.org/drawingml/2006/main">
            <a:off x="914400" y="2453640"/>
            <a:ext cx="8743950" cy="2552700"/>
          </a:xfrm>
          <a:prstGeom xmlns:a="http://schemas.openxmlformats.org/drawingml/2006/main" prst="roundRect">
            <a:avLst>
              <a:gd name="adj" fmla="val 8209"/>
            </a:avLst>
          </a:prstGeom>
          <a:solidFill xmlns:a="http://schemas.openxmlformats.org/drawingml/2006/main">
            <a:srgbClr val="F8FAFC"/>
          </a:solidFill>
        </p:spPr>
      </p:sp>
      <p:sp>
        <p:nvSpPr>
          <p:cNvPr id="8" name="">
            <a:extLst xmlns:a="http://schemas.openxmlformats.org/drawingml/2006/main">
              <a:ext uri="{FF2B5EF4-FFF2-40B4-BE49-F238E27FC236}">
                <a16:creationId xmlns:a16="http://schemas.microsoft.com/office/drawing/2014/main" id="{D2CF3998-196D-4080-B2FE-E8C6BCF9BD27}"/>
              </a:ext>
            </a:extLst>
          </p:cNvPr>
          <p:cNvSpPr>
            <a:spLocks xmlns:a="http://schemas.openxmlformats.org/drawingml/2006/main" noGrp="1"/>
          </p:cNvSpPr>
          <p:nvPr/>
        </p:nvSpPr>
        <p:spPr>
          <a:xfrm xmlns:a="http://schemas.openxmlformats.org/drawingml/2006/main">
            <a:off x="1162050" y="2686050"/>
            <a:ext cx="82486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1E293B"/>
                </a:solidFill>
              </a:defRPr>
            </a:pPr>
            <a:r>
              <a:rPr sz="1800" b="1">
                <a:solidFill>
                  <a:srgbClr val="1E293B"/>
                </a:solidFill>
              </a:rPr>
              <a:t>调拨状态流转</a:t>
            </a:r>
          </a:p>
        </p:txBody>
      </p:sp>
      <p:sp>
        <p:nvSpPr>
          <p:cNvPr id="9" name="">
            <a:extLst xmlns:a="http://schemas.openxmlformats.org/drawingml/2006/main">
              <a:ext uri="{FF2B5EF4-FFF2-40B4-BE49-F238E27FC236}">
                <a16:creationId xmlns:a16="http://schemas.microsoft.com/office/drawing/2014/main" id="{CFD46BB5-A72F-4174-B328-5F862EBBDCCA}"/>
              </a:ext>
            </a:extLst>
          </p:cNvPr>
          <p:cNvSpPr>
            <a:spLocks xmlns:a="http://schemas.openxmlformats.org/drawingml/2006/main" noGrp="1"/>
          </p:cNvSpPr>
          <p:nvPr/>
        </p:nvSpPr>
        <p:spPr>
          <a:xfrm xmlns:a="http://schemas.openxmlformats.org/drawingml/2006/main">
            <a:off x="1162050" y="3089910"/>
            <a:ext cx="1558290" cy="815340"/>
          </a:xfrm>
          <a:prstGeom xmlns:a="http://schemas.openxmlformats.org/drawingml/2006/main" prst="roundRect">
            <a:avLst>
              <a:gd name="adj" fmla="val 21028"/>
            </a:avLst>
          </a:prstGeom>
          <a:solidFill xmlns:a="http://schemas.openxmlformats.org/drawingml/2006/main">
            <a:srgbClr val="EFF6FF"/>
          </a:solidFill>
        </p:spPr>
      </p:sp>
      <p:sp>
        <p:nvSpPr>
          <p:cNvPr id="10" name="">
            <a:extLst xmlns:a="http://schemas.openxmlformats.org/drawingml/2006/main">
              <a:ext uri="{FF2B5EF4-FFF2-40B4-BE49-F238E27FC236}">
                <a16:creationId xmlns:a16="http://schemas.microsoft.com/office/drawing/2014/main" id="{388B822A-7021-4988-B7BC-D9DBF27EBE56}"/>
              </a:ext>
            </a:extLst>
          </p:cNvPr>
          <p:cNvSpPr>
            <a:spLocks xmlns:a="http://schemas.openxmlformats.org/drawingml/2006/main" noGrp="1"/>
          </p:cNvSpPr>
          <p:nvPr/>
        </p:nvSpPr>
        <p:spPr>
          <a:xfrm xmlns:a="http://schemas.openxmlformats.org/drawingml/2006/main">
            <a:off x="1333500" y="3257550"/>
            <a:ext cx="12192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0F172A"/>
                </a:solidFill>
              </a:defRPr>
            </a:pPr>
            <a:r>
              <a:rPr sz="1350" b="1">
                <a:solidFill>
                  <a:srgbClr val="0F172A"/>
                </a:solidFill>
              </a:rPr>
              <a:t>DRAFT</a:t>
            </a:r>
          </a:p>
        </p:txBody>
      </p:sp>
      <p:sp>
        <p:nvSpPr>
          <p:cNvPr id="11" name="">
            <a:extLst xmlns:a="http://schemas.openxmlformats.org/drawingml/2006/main">
              <a:ext uri="{FF2B5EF4-FFF2-40B4-BE49-F238E27FC236}">
                <a16:creationId xmlns:a16="http://schemas.microsoft.com/office/drawing/2014/main" id="{DE9C989A-89DB-4B8A-9F29-034EE91ED731}"/>
              </a:ext>
            </a:extLst>
          </p:cNvPr>
          <p:cNvSpPr>
            <a:spLocks xmlns:a="http://schemas.openxmlformats.org/drawingml/2006/main" noGrp="1"/>
          </p:cNvSpPr>
          <p:nvPr/>
        </p:nvSpPr>
        <p:spPr>
          <a:xfrm xmlns:a="http://schemas.openxmlformats.org/drawingml/2006/main">
            <a:off x="1333500" y="3562350"/>
            <a:ext cx="12192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a:solidFill>
                  <a:srgbClr val="475569"/>
                </a:solidFill>
              </a:defRPr>
            </a:pPr>
            <a:r>
              <a:rPr sz="1125">
                <a:solidFill>
                  <a:srgbClr val="475569"/>
                </a:solidFill>
              </a:rPr>
              <a:t>创建调拨单</a:t>
            </a:r>
          </a:p>
        </p:txBody>
      </p:sp>
      <p:sp>
        <p:nvSpPr>
          <p:cNvPr id="12" name="">
            <a:extLst xmlns:a="http://schemas.openxmlformats.org/drawingml/2006/main">
              <a:ext uri="{FF2B5EF4-FFF2-40B4-BE49-F238E27FC236}">
                <a16:creationId xmlns:a16="http://schemas.microsoft.com/office/drawing/2014/main" id="{42AFA444-A510-4B51-B8AD-DEDD09DA6229}"/>
              </a:ext>
            </a:extLst>
          </p:cNvPr>
          <p:cNvSpPr>
            <a:spLocks xmlns:a="http://schemas.openxmlformats.org/drawingml/2006/main" noGrp="1"/>
          </p:cNvSpPr>
          <p:nvPr/>
        </p:nvSpPr>
        <p:spPr>
          <a:xfrm xmlns:a="http://schemas.openxmlformats.org/drawingml/2006/main">
            <a:off x="2834640" y="3089910"/>
            <a:ext cx="1558290" cy="815340"/>
          </a:xfrm>
          <a:prstGeom xmlns:a="http://schemas.openxmlformats.org/drawingml/2006/main" prst="roundRect">
            <a:avLst>
              <a:gd name="adj" fmla="val 21028"/>
            </a:avLst>
          </a:prstGeom>
          <a:solidFill xmlns:a="http://schemas.openxmlformats.org/drawingml/2006/main">
            <a:srgbClr val="EFF6FF"/>
          </a:solidFill>
        </p:spPr>
      </p:sp>
      <p:sp>
        <p:nvSpPr>
          <p:cNvPr id="13" name="">
            <a:extLst xmlns:a="http://schemas.openxmlformats.org/drawingml/2006/main">
              <a:ext uri="{FF2B5EF4-FFF2-40B4-BE49-F238E27FC236}">
                <a16:creationId xmlns:a16="http://schemas.microsoft.com/office/drawing/2014/main" id="{0372B51F-AF96-42F9-B08A-25225979D1A7}"/>
              </a:ext>
            </a:extLst>
          </p:cNvPr>
          <p:cNvSpPr>
            <a:spLocks xmlns:a="http://schemas.openxmlformats.org/drawingml/2006/main" noGrp="1"/>
          </p:cNvSpPr>
          <p:nvPr/>
        </p:nvSpPr>
        <p:spPr>
          <a:xfrm xmlns:a="http://schemas.openxmlformats.org/drawingml/2006/main">
            <a:off x="3009900" y="3257550"/>
            <a:ext cx="12192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0F172A"/>
                </a:solidFill>
              </a:defRPr>
            </a:pPr>
            <a:r>
              <a:rPr sz="1350" b="1">
                <a:solidFill>
                  <a:srgbClr val="0F172A"/>
                </a:solidFill>
              </a:rPr>
              <a:t>SUBMITTED</a:t>
            </a:r>
          </a:p>
        </p:txBody>
      </p:sp>
      <p:sp>
        <p:nvSpPr>
          <p:cNvPr id="14" name="">
            <a:extLst xmlns:a="http://schemas.openxmlformats.org/drawingml/2006/main">
              <a:ext uri="{FF2B5EF4-FFF2-40B4-BE49-F238E27FC236}">
                <a16:creationId xmlns:a16="http://schemas.microsoft.com/office/drawing/2014/main" id="{3430E104-FCFB-4E1B-BECC-F27E8998DF46}"/>
              </a:ext>
            </a:extLst>
          </p:cNvPr>
          <p:cNvSpPr>
            <a:spLocks xmlns:a="http://schemas.openxmlformats.org/drawingml/2006/main" noGrp="1"/>
          </p:cNvSpPr>
          <p:nvPr/>
        </p:nvSpPr>
        <p:spPr>
          <a:xfrm xmlns:a="http://schemas.openxmlformats.org/drawingml/2006/main">
            <a:off x="3009900" y="3562350"/>
            <a:ext cx="12192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a:solidFill>
                  <a:srgbClr val="475569"/>
                </a:solidFill>
              </a:defRPr>
            </a:pPr>
            <a:r>
              <a:rPr sz="1125">
                <a:solidFill>
                  <a:srgbClr val="475569"/>
                </a:solidFill>
              </a:rPr>
              <a:t>提交审核</a:t>
            </a:r>
          </a:p>
        </p:txBody>
      </p:sp>
      <p:sp>
        <p:nvSpPr>
          <p:cNvPr id="15" name="">
            <a:extLst xmlns:a="http://schemas.openxmlformats.org/drawingml/2006/main">
              <a:ext uri="{FF2B5EF4-FFF2-40B4-BE49-F238E27FC236}">
                <a16:creationId xmlns:a16="http://schemas.microsoft.com/office/drawing/2014/main" id="{FE8901BB-D44D-432D-9596-A94406A305DE}"/>
              </a:ext>
            </a:extLst>
          </p:cNvPr>
          <p:cNvSpPr>
            <a:spLocks xmlns:a="http://schemas.openxmlformats.org/drawingml/2006/main" noGrp="1"/>
          </p:cNvSpPr>
          <p:nvPr/>
        </p:nvSpPr>
        <p:spPr>
          <a:xfrm xmlns:a="http://schemas.openxmlformats.org/drawingml/2006/main">
            <a:off x="4507230" y="3089910"/>
            <a:ext cx="1558290" cy="815340"/>
          </a:xfrm>
          <a:prstGeom xmlns:a="http://schemas.openxmlformats.org/drawingml/2006/main" prst="roundRect">
            <a:avLst>
              <a:gd name="adj" fmla="val 21028"/>
            </a:avLst>
          </a:prstGeom>
          <a:solidFill xmlns:a="http://schemas.openxmlformats.org/drawingml/2006/main">
            <a:srgbClr val="ECFDF5"/>
          </a:solidFill>
        </p:spPr>
      </p:sp>
      <p:sp>
        <p:nvSpPr>
          <p:cNvPr id="16" name="">
            <a:extLst xmlns:a="http://schemas.openxmlformats.org/drawingml/2006/main">
              <a:ext uri="{FF2B5EF4-FFF2-40B4-BE49-F238E27FC236}">
                <a16:creationId xmlns:a16="http://schemas.microsoft.com/office/drawing/2014/main" id="{F9122431-16BE-4F88-8EED-503C39BB08A9}"/>
              </a:ext>
            </a:extLst>
          </p:cNvPr>
          <p:cNvSpPr>
            <a:spLocks xmlns:a="http://schemas.openxmlformats.org/drawingml/2006/main" noGrp="1"/>
          </p:cNvSpPr>
          <p:nvPr/>
        </p:nvSpPr>
        <p:spPr>
          <a:xfrm xmlns:a="http://schemas.openxmlformats.org/drawingml/2006/main">
            <a:off x="4686300" y="3257550"/>
            <a:ext cx="12192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0F172A"/>
                </a:solidFill>
              </a:defRPr>
            </a:pPr>
            <a:r>
              <a:rPr sz="1350" b="1">
                <a:solidFill>
                  <a:srgbClr val="0F172A"/>
                </a:solidFill>
              </a:rPr>
              <a:t>APPROVED</a:t>
            </a:r>
          </a:p>
        </p:txBody>
      </p:sp>
      <p:sp>
        <p:nvSpPr>
          <p:cNvPr id="17" name="">
            <a:extLst xmlns:a="http://schemas.openxmlformats.org/drawingml/2006/main">
              <a:ext uri="{FF2B5EF4-FFF2-40B4-BE49-F238E27FC236}">
                <a16:creationId xmlns:a16="http://schemas.microsoft.com/office/drawing/2014/main" id="{A6EEAF52-D38A-4A76-9F0A-F9D76C7F75E8}"/>
              </a:ext>
            </a:extLst>
          </p:cNvPr>
          <p:cNvSpPr>
            <a:spLocks xmlns:a="http://schemas.openxmlformats.org/drawingml/2006/main" noGrp="1"/>
          </p:cNvSpPr>
          <p:nvPr/>
        </p:nvSpPr>
        <p:spPr>
          <a:xfrm xmlns:a="http://schemas.openxmlformats.org/drawingml/2006/main">
            <a:off x="4686300" y="3562350"/>
            <a:ext cx="12192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a:solidFill>
                  <a:srgbClr val="475569"/>
                </a:solidFill>
              </a:defRPr>
            </a:pPr>
            <a:r>
              <a:rPr sz="1125">
                <a:solidFill>
                  <a:srgbClr val="475569"/>
                </a:solidFill>
              </a:rPr>
              <a:t>审批通过</a:t>
            </a:r>
          </a:p>
        </p:txBody>
      </p:sp>
      <p:sp>
        <p:nvSpPr>
          <p:cNvPr id="18" name="">
            <a:extLst xmlns:a="http://schemas.openxmlformats.org/drawingml/2006/main">
              <a:ext uri="{FF2B5EF4-FFF2-40B4-BE49-F238E27FC236}">
                <a16:creationId xmlns:a16="http://schemas.microsoft.com/office/drawing/2014/main" id="{0EC34B68-AB4E-4259-A181-849E2FB584BF}"/>
              </a:ext>
            </a:extLst>
          </p:cNvPr>
          <p:cNvSpPr>
            <a:spLocks xmlns:a="http://schemas.openxmlformats.org/drawingml/2006/main" noGrp="1"/>
          </p:cNvSpPr>
          <p:nvPr/>
        </p:nvSpPr>
        <p:spPr>
          <a:xfrm xmlns:a="http://schemas.openxmlformats.org/drawingml/2006/main">
            <a:off x="6179820" y="3089910"/>
            <a:ext cx="1558290" cy="815340"/>
          </a:xfrm>
          <a:prstGeom xmlns:a="http://schemas.openxmlformats.org/drawingml/2006/main" prst="roundRect">
            <a:avLst>
              <a:gd name="adj" fmla="val 21028"/>
            </a:avLst>
          </a:prstGeom>
          <a:solidFill xmlns:a="http://schemas.openxmlformats.org/drawingml/2006/main">
            <a:srgbClr val="FFF7ED"/>
          </a:solidFill>
        </p:spPr>
      </p:sp>
      <p:sp>
        <p:nvSpPr>
          <p:cNvPr id="19" name="">
            <a:extLst xmlns:a="http://schemas.openxmlformats.org/drawingml/2006/main">
              <a:ext uri="{FF2B5EF4-FFF2-40B4-BE49-F238E27FC236}">
                <a16:creationId xmlns:a16="http://schemas.microsoft.com/office/drawing/2014/main" id="{49B1489E-ACBF-4622-AF44-C4B87B2410D6}"/>
              </a:ext>
            </a:extLst>
          </p:cNvPr>
          <p:cNvSpPr>
            <a:spLocks xmlns:a="http://schemas.openxmlformats.org/drawingml/2006/main" noGrp="1"/>
          </p:cNvSpPr>
          <p:nvPr/>
        </p:nvSpPr>
        <p:spPr>
          <a:xfrm xmlns:a="http://schemas.openxmlformats.org/drawingml/2006/main">
            <a:off x="6343650" y="3257550"/>
            <a:ext cx="12192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0F172A"/>
                </a:solidFill>
              </a:defRPr>
            </a:pPr>
            <a:r>
              <a:rPr sz="1350" b="1">
                <a:solidFill>
                  <a:srgbClr val="0F172A"/>
                </a:solidFill>
              </a:rPr>
              <a:t>OUTBOUND</a:t>
            </a:r>
          </a:p>
        </p:txBody>
      </p:sp>
      <p:sp>
        <p:nvSpPr>
          <p:cNvPr id="20" name="">
            <a:extLst xmlns:a="http://schemas.openxmlformats.org/drawingml/2006/main">
              <a:ext uri="{FF2B5EF4-FFF2-40B4-BE49-F238E27FC236}">
                <a16:creationId xmlns:a16="http://schemas.microsoft.com/office/drawing/2014/main" id="{6FA528B6-5C10-455C-8309-7853F506AC13}"/>
              </a:ext>
            </a:extLst>
          </p:cNvPr>
          <p:cNvSpPr>
            <a:spLocks xmlns:a="http://schemas.openxmlformats.org/drawingml/2006/main" noGrp="1"/>
          </p:cNvSpPr>
          <p:nvPr/>
        </p:nvSpPr>
        <p:spPr>
          <a:xfrm xmlns:a="http://schemas.openxmlformats.org/drawingml/2006/main">
            <a:off x="6343650" y="3562350"/>
            <a:ext cx="12192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a:solidFill>
                  <a:srgbClr val="475569"/>
                </a:solidFill>
              </a:defRPr>
            </a:pPr>
            <a:r>
              <a:rPr sz="1125">
                <a:solidFill>
                  <a:srgbClr val="475569"/>
                </a:solidFill>
              </a:rPr>
              <a:t>执行调拨</a:t>
            </a:r>
          </a:p>
        </p:txBody>
      </p:sp>
      <p:sp>
        <p:nvSpPr>
          <p:cNvPr id="21" name="">
            <a:extLst xmlns:a="http://schemas.openxmlformats.org/drawingml/2006/main">
              <a:ext uri="{FF2B5EF4-FFF2-40B4-BE49-F238E27FC236}">
                <a16:creationId xmlns:a16="http://schemas.microsoft.com/office/drawing/2014/main" id="{B199D6B7-28C5-4458-BDA4-F82E046C5E8B}"/>
              </a:ext>
            </a:extLst>
          </p:cNvPr>
          <p:cNvSpPr>
            <a:spLocks xmlns:a="http://schemas.openxmlformats.org/drawingml/2006/main" noGrp="1"/>
          </p:cNvSpPr>
          <p:nvPr/>
        </p:nvSpPr>
        <p:spPr>
          <a:xfrm xmlns:a="http://schemas.openxmlformats.org/drawingml/2006/main">
            <a:off x="7852410" y="3089910"/>
            <a:ext cx="1558290" cy="815340"/>
          </a:xfrm>
          <a:prstGeom xmlns:a="http://schemas.openxmlformats.org/drawingml/2006/main" prst="roundRect">
            <a:avLst>
              <a:gd name="adj" fmla="val 21028"/>
            </a:avLst>
          </a:prstGeom>
          <a:solidFill xmlns:a="http://schemas.openxmlformats.org/drawingml/2006/main">
            <a:srgbClr val="FEF2F2"/>
          </a:solidFill>
        </p:spPr>
      </p:sp>
      <p:sp>
        <p:nvSpPr>
          <p:cNvPr id="22" name="">
            <a:extLst xmlns:a="http://schemas.openxmlformats.org/drawingml/2006/main">
              <a:ext uri="{FF2B5EF4-FFF2-40B4-BE49-F238E27FC236}">
                <a16:creationId xmlns:a16="http://schemas.microsoft.com/office/drawing/2014/main" id="{D1431A02-4915-4030-99FF-562F7E85A23F}"/>
              </a:ext>
            </a:extLst>
          </p:cNvPr>
          <p:cNvSpPr>
            <a:spLocks xmlns:a="http://schemas.openxmlformats.org/drawingml/2006/main" noGrp="1"/>
          </p:cNvSpPr>
          <p:nvPr/>
        </p:nvSpPr>
        <p:spPr>
          <a:xfrm xmlns:a="http://schemas.openxmlformats.org/drawingml/2006/main">
            <a:off x="8020050" y="3257550"/>
            <a:ext cx="12192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0F172A"/>
                </a:solidFill>
              </a:defRPr>
            </a:pPr>
            <a:r>
              <a:rPr sz="1350" b="1">
                <a:solidFill>
                  <a:srgbClr val="0F172A"/>
                </a:solidFill>
              </a:rPr>
              <a:t>RECEIVED</a:t>
            </a:r>
          </a:p>
        </p:txBody>
      </p:sp>
      <p:sp>
        <p:nvSpPr>
          <p:cNvPr id="23" name="">
            <a:extLst xmlns:a="http://schemas.openxmlformats.org/drawingml/2006/main">
              <a:ext uri="{FF2B5EF4-FFF2-40B4-BE49-F238E27FC236}">
                <a16:creationId xmlns:a16="http://schemas.microsoft.com/office/drawing/2014/main" id="{23E9A72D-E244-445A-937C-1E70304EC2BD}"/>
              </a:ext>
            </a:extLst>
          </p:cNvPr>
          <p:cNvSpPr>
            <a:spLocks xmlns:a="http://schemas.openxmlformats.org/drawingml/2006/main" noGrp="1"/>
          </p:cNvSpPr>
          <p:nvPr/>
        </p:nvSpPr>
        <p:spPr>
          <a:xfrm xmlns:a="http://schemas.openxmlformats.org/drawingml/2006/main">
            <a:off x="8020050" y="3562350"/>
            <a:ext cx="12192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a:solidFill>
                  <a:srgbClr val="475569"/>
                </a:solidFill>
              </a:defRPr>
            </a:pPr>
            <a:r>
              <a:rPr sz="1125">
                <a:solidFill>
                  <a:srgbClr val="475569"/>
                </a:solidFill>
              </a:rPr>
              <a:t>目标仓签收</a:t>
            </a:r>
          </a:p>
        </p:txBody>
      </p:sp>
      <p:sp>
        <p:nvSpPr>
          <p:cNvPr id="24" name="">
            <a:extLst xmlns:a="http://schemas.openxmlformats.org/drawingml/2006/main">
              <a:ext uri="{FF2B5EF4-FFF2-40B4-BE49-F238E27FC236}">
                <a16:creationId xmlns:a16="http://schemas.microsoft.com/office/drawing/2014/main" id="{6FBCF541-B81D-4C22-81AD-5A4DB0094836}"/>
              </a:ext>
            </a:extLst>
          </p:cNvPr>
          <p:cNvSpPr>
            <a:spLocks xmlns:a="http://schemas.openxmlformats.org/drawingml/2006/main" noGrp="1"/>
          </p:cNvSpPr>
          <p:nvPr/>
        </p:nvSpPr>
        <p:spPr>
          <a:xfrm xmlns:a="http://schemas.openxmlformats.org/drawingml/2006/main">
            <a:off x="1162050" y="4057650"/>
            <a:ext cx="8248650" cy="723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75" b="0">
                <a:solidFill>
                  <a:srgbClr val="475569"/>
                </a:solidFill>
              </a:defRPr>
            </a:pPr>
            <a:r>
              <a:rPr sz="1575" b="0">
                <a:solidFill>
                  <a:srgbClr val="475569"/>
                </a:solidFill>
              </a:rPr>
              <a:t>• 执行调拨时源仓库存减少，目标仓库存增加</a:t>
            </a:r>
          </a:p>
          <a:p xmlns:a="http://schemas.openxmlformats.org/drawingml/2006/main">
            <a:pPr>
              <a:defRPr sz="1575" b="0">
                <a:solidFill>
                  <a:srgbClr val="475569"/>
                </a:solidFill>
              </a:defRPr>
            </a:pPr>
            <a:r>
              <a:rPr sz="1575" b="0">
                <a:solidFill>
                  <a:srgbClr val="475569"/>
                </a:solidFill>
              </a:rPr>
              <a:t>• 源批次扣减后，在目标仓生成镜像批次记录</a:t>
            </a:r>
          </a:p>
          <a:p xmlns:a="http://schemas.openxmlformats.org/drawingml/2006/main">
            <a:pPr>
              <a:defRPr sz="1575" b="0">
                <a:solidFill>
                  <a:srgbClr val="475569"/>
                </a:solidFill>
              </a:defRPr>
            </a:pPr>
            <a:r>
              <a:rPr sz="1575" b="0">
                <a:solidFill>
                  <a:srgbClr val="475569"/>
                </a:solidFill>
              </a:rPr>
              <a:t>• 调拨单、批次和操作日志同步变化，避免只改状态不改库存</a:t>
            </a:r>
          </a:p>
        </p:txBody>
      </p:sp>
      <p:sp>
        <p:nvSpPr>
          <p:cNvPr id="25" name="">
            <a:extLst xmlns:a="http://schemas.openxmlformats.org/drawingml/2006/main">
              <a:ext uri="{FF2B5EF4-FFF2-40B4-BE49-F238E27FC236}">
                <a16:creationId xmlns:a16="http://schemas.microsoft.com/office/drawing/2014/main" id="{69872021-C805-4793-A099-74F4F2D28AC2}"/>
              </a:ext>
            </a:extLst>
          </p:cNvPr>
          <p:cNvSpPr>
            <a:spLocks xmlns:a="http://schemas.openxmlformats.org/drawingml/2006/main" noGrp="1"/>
          </p:cNvSpPr>
          <p:nvPr/>
        </p:nvSpPr>
        <p:spPr>
          <a:xfrm xmlns:a="http://schemas.openxmlformats.org/drawingml/2006/main">
            <a:off x="9925050" y="2453640"/>
            <a:ext cx="7448550" cy="1322070"/>
          </a:xfrm>
          <a:prstGeom xmlns:a="http://schemas.openxmlformats.org/drawingml/2006/main" prst="roundRect">
            <a:avLst>
              <a:gd name="adj" fmla="val 15850"/>
            </a:avLst>
          </a:prstGeom>
          <a:solidFill xmlns:a="http://schemas.openxmlformats.org/drawingml/2006/main">
            <a:srgbClr val="ECFDF5"/>
          </a:solidFill>
        </p:spPr>
      </p:sp>
      <p:sp>
        <p:nvSpPr>
          <p:cNvPr id="26" name="">
            <a:extLst xmlns:a="http://schemas.openxmlformats.org/drawingml/2006/main">
              <a:ext uri="{FF2B5EF4-FFF2-40B4-BE49-F238E27FC236}">
                <a16:creationId xmlns:a16="http://schemas.microsoft.com/office/drawing/2014/main" id="{3DE15BB1-EB31-4A77-B7F3-EF30A5B18E72}"/>
              </a:ext>
            </a:extLst>
          </p:cNvPr>
          <p:cNvSpPr>
            <a:spLocks xmlns:a="http://schemas.openxmlformats.org/drawingml/2006/main" noGrp="1"/>
          </p:cNvSpPr>
          <p:nvPr/>
        </p:nvSpPr>
        <p:spPr>
          <a:xfrm xmlns:a="http://schemas.openxmlformats.org/drawingml/2006/main">
            <a:off x="10172700" y="2686050"/>
            <a:ext cx="69532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1E293B"/>
                </a:solidFill>
              </a:defRPr>
            </a:pPr>
            <a:r>
              <a:rPr sz="1800" b="1">
                <a:solidFill>
                  <a:srgbClr val="1E293B"/>
                </a:solidFill>
              </a:rPr>
              <a:t>预警处理</a:t>
            </a:r>
          </a:p>
        </p:txBody>
      </p:sp>
      <p:sp>
        <p:nvSpPr>
          <p:cNvPr id="27" name="">
            <a:extLst xmlns:a="http://schemas.openxmlformats.org/drawingml/2006/main">
              <a:ext uri="{FF2B5EF4-FFF2-40B4-BE49-F238E27FC236}">
                <a16:creationId xmlns:a16="http://schemas.microsoft.com/office/drawing/2014/main" id="{A6FB994A-E8E3-4519-A438-C456AA6901BF}"/>
              </a:ext>
            </a:extLst>
          </p:cNvPr>
          <p:cNvSpPr>
            <a:spLocks xmlns:a="http://schemas.openxmlformats.org/drawingml/2006/main" noGrp="1"/>
          </p:cNvSpPr>
          <p:nvPr/>
        </p:nvSpPr>
        <p:spPr>
          <a:xfrm xmlns:a="http://schemas.openxmlformats.org/drawingml/2006/main">
            <a:off x="10172700" y="3086100"/>
            <a:ext cx="695325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0">
                <a:solidFill>
                  <a:srgbClr val="475569"/>
                </a:solidFill>
              </a:defRPr>
            </a:pPr>
            <a:r>
              <a:rPr sz="1500" b="0">
                <a:solidFill>
                  <a:srgbClr val="475569"/>
                </a:solidFill>
              </a:rPr>
              <a:t>• 支持低库存、临期、过期、异常消耗等预警记录</a:t>
            </a:r>
          </a:p>
          <a:p xmlns:a="http://schemas.openxmlformats.org/drawingml/2006/main">
            <a:pPr>
              <a:defRPr sz="1500" b="0">
                <a:solidFill>
                  <a:srgbClr val="475569"/>
                </a:solidFill>
              </a:defRPr>
            </a:pPr>
            <a:r>
              <a:rPr sz="1500" b="0">
                <a:solidFill>
                  <a:srgbClr val="475569"/>
                </a:solidFill>
              </a:rPr>
              <a:t>• 可执行手动扫描和预警处理，并记录处理人、备注和时间</a:t>
            </a:r>
          </a:p>
        </p:txBody>
      </p:sp>
      <p:sp>
        <p:nvSpPr>
          <p:cNvPr id="28" name="">
            <a:extLst xmlns:a="http://schemas.openxmlformats.org/drawingml/2006/main">
              <a:ext uri="{FF2B5EF4-FFF2-40B4-BE49-F238E27FC236}">
                <a16:creationId xmlns:a16="http://schemas.microsoft.com/office/drawing/2014/main" id="{CD2032E1-92DF-4920-A6D4-D9648BAD8491}"/>
              </a:ext>
            </a:extLst>
          </p:cNvPr>
          <p:cNvSpPr>
            <a:spLocks xmlns:a="http://schemas.openxmlformats.org/drawingml/2006/main" noGrp="1"/>
          </p:cNvSpPr>
          <p:nvPr/>
        </p:nvSpPr>
        <p:spPr>
          <a:xfrm xmlns:a="http://schemas.openxmlformats.org/drawingml/2006/main">
            <a:off x="9925050" y="3966210"/>
            <a:ext cx="7448550" cy="1322070"/>
          </a:xfrm>
          <a:prstGeom xmlns:a="http://schemas.openxmlformats.org/drawingml/2006/main" prst="roundRect">
            <a:avLst>
              <a:gd name="adj" fmla="val 15850"/>
            </a:avLst>
          </a:prstGeom>
          <a:solidFill xmlns:a="http://schemas.openxmlformats.org/drawingml/2006/main">
            <a:srgbClr val="EFF6FF"/>
          </a:solidFill>
        </p:spPr>
      </p:sp>
      <p:sp>
        <p:nvSpPr>
          <p:cNvPr id="29" name="">
            <a:extLst xmlns:a="http://schemas.openxmlformats.org/drawingml/2006/main">
              <a:ext uri="{FF2B5EF4-FFF2-40B4-BE49-F238E27FC236}">
                <a16:creationId xmlns:a16="http://schemas.microsoft.com/office/drawing/2014/main" id="{118CA5D9-BA13-4BDF-90BB-0B3C4D1B0228}"/>
              </a:ext>
            </a:extLst>
          </p:cNvPr>
          <p:cNvSpPr>
            <a:spLocks xmlns:a="http://schemas.openxmlformats.org/drawingml/2006/main" noGrp="1"/>
          </p:cNvSpPr>
          <p:nvPr/>
        </p:nvSpPr>
        <p:spPr>
          <a:xfrm xmlns:a="http://schemas.openxmlformats.org/drawingml/2006/main">
            <a:off x="10172700" y="4191000"/>
            <a:ext cx="69532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1E293B"/>
                </a:solidFill>
              </a:defRPr>
            </a:pPr>
            <a:r>
              <a:rPr sz="1800" b="1">
                <a:solidFill>
                  <a:srgbClr val="1E293B"/>
                </a:solidFill>
              </a:rPr>
              <a:t>事件上报与通知</a:t>
            </a:r>
          </a:p>
        </p:txBody>
      </p:sp>
      <p:sp>
        <p:nvSpPr>
          <p:cNvPr id="30" name="">
            <a:extLst xmlns:a="http://schemas.openxmlformats.org/drawingml/2006/main">
              <a:ext uri="{FF2B5EF4-FFF2-40B4-BE49-F238E27FC236}">
                <a16:creationId xmlns:a16="http://schemas.microsoft.com/office/drawing/2014/main" id="{BE798E7C-7200-42EB-A8B2-07992369A948}"/>
              </a:ext>
            </a:extLst>
          </p:cNvPr>
          <p:cNvSpPr>
            <a:spLocks xmlns:a="http://schemas.openxmlformats.org/drawingml/2006/main" noGrp="1"/>
          </p:cNvSpPr>
          <p:nvPr/>
        </p:nvSpPr>
        <p:spPr>
          <a:xfrm xmlns:a="http://schemas.openxmlformats.org/drawingml/2006/main">
            <a:off x="10172700" y="4610100"/>
            <a:ext cx="695325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0">
                <a:solidFill>
                  <a:srgbClr val="475569"/>
                </a:solidFill>
              </a:defRPr>
            </a:pPr>
            <a:r>
              <a:rPr sz="1500" b="0">
                <a:solidFill>
                  <a:srgbClr val="475569"/>
                </a:solidFill>
              </a:rPr>
              <a:t>• 业务事件可生成站内通知并投递到目标用户</a:t>
            </a:r>
          </a:p>
          <a:p xmlns:a="http://schemas.openxmlformats.org/drawingml/2006/main">
            <a:pPr>
              <a:defRPr sz="1500" b="0">
                <a:solidFill>
                  <a:srgbClr val="475569"/>
                </a:solidFill>
              </a:defRPr>
            </a:pPr>
            <a:r>
              <a:rPr sz="1500" b="0">
                <a:solidFill>
                  <a:srgbClr val="475569"/>
                </a:solidFill>
              </a:rPr>
              <a:t>• 通知中心支持未读数量统计、标记已读和删除</a:t>
            </a:r>
          </a:p>
        </p:txBody>
      </p:sp>
      <p:sp>
        <p:nvSpPr>
          <p:cNvPr id="31" name="">
            <a:extLst xmlns:a="http://schemas.openxmlformats.org/drawingml/2006/main">
              <a:ext uri="{FF2B5EF4-FFF2-40B4-BE49-F238E27FC236}">
                <a16:creationId xmlns:a16="http://schemas.microsoft.com/office/drawing/2014/main" id="{FE7733AA-E0BD-4714-9D42-E274D325E56B}"/>
              </a:ext>
            </a:extLst>
          </p:cNvPr>
          <p:cNvSpPr>
            <a:spLocks xmlns:a="http://schemas.openxmlformats.org/drawingml/2006/main" noGrp="1"/>
          </p:cNvSpPr>
          <p:nvPr/>
        </p:nvSpPr>
        <p:spPr>
          <a:xfrm xmlns:a="http://schemas.openxmlformats.org/drawingml/2006/main">
            <a:off x="9925050" y="5478780"/>
            <a:ext cx="7448550" cy="1322070"/>
          </a:xfrm>
          <a:prstGeom xmlns:a="http://schemas.openxmlformats.org/drawingml/2006/main" prst="roundRect">
            <a:avLst>
              <a:gd name="adj" fmla="val 15850"/>
            </a:avLst>
          </a:prstGeom>
          <a:solidFill xmlns:a="http://schemas.openxmlformats.org/drawingml/2006/main">
            <a:srgbClr val="FFF7ED"/>
          </a:solidFill>
        </p:spPr>
      </p:sp>
      <p:sp>
        <p:nvSpPr>
          <p:cNvPr id="32" name="">
            <a:extLst xmlns:a="http://schemas.openxmlformats.org/drawingml/2006/main">
              <a:ext uri="{FF2B5EF4-FFF2-40B4-BE49-F238E27FC236}">
                <a16:creationId xmlns:a16="http://schemas.microsoft.com/office/drawing/2014/main" id="{A3B69F5F-FA6E-46DA-B4D9-9C6537E602A6}"/>
              </a:ext>
            </a:extLst>
          </p:cNvPr>
          <p:cNvSpPr>
            <a:spLocks xmlns:a="http://schemas.openxmlformats.org/drawingml/2006/main" noGrp="1"/>
          </p:cNvSpPr>
          <p:nvPr/>
        </p:nvSpPr>
        <p:spPr>
          <a:xfrm xmlns:a="http://schemas.openxmlformats.org/drawingml/2006/main">
            <a:off x="10172700" y="5715000"/>
            <a:ext cx="69532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1E293B"/>
                </a:solidFill>
              </a:defRPr>
            </a:pPr>
            <a:r>
              <a:rPr sz="1800" b="1">
                <a:solidFill>
                  <a:srgbClr val="1E293B"/>
                </a:solidFill>
              </a:rPr>
              <a:t>审计记录</a:t>
            </a:r>
          </a:p>
        </p:txBody>
      </p:sp>
      <p:sp>
        <p:nvSpPr>
          <p:cNvPr id="33" name="">
            <a:extLst xmlns:a="http://schemas.openxmlformats.org/drawingml/2006/main">
              <a:ext uri="{FF2B5EF4-FFF2-40B4-BE49-F238E27FC236}">
                <a16:creationId xmlns:a16="http://schemas.microsoft.com/office/drawing/2014/main" id="{7B0BB0EA-62B9-4522-8636-3896147D0317}"/>
              </a:ext>
            </a:extLst>
          </p:cNvPr>
          <p:cNvSpPr>
            <a:spLocks xmlns:a="http://schemas.openxmlformats.org/drawingml/2006/main" noGrp="1"/>
          </p:cNvSpPr>
          <p:nvPr/>
        </p:nvSpPr>
        <p:spPr>
          <a:xfrm xmlns:a="http://schemas.openxmlformats.org/drawingml/2006/main">
            <a:off x="10172700" y="6115050"/>
            <a:ext cx="695325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0">
                <a:solidFill>
                  <a:srgbClr val="475569"/>
                </a:solidFill>
              </a:defRPr>
            </a:pPr>
            <a:r>
              <a:rPr sz="1500" b="0">
                <a:solidFill>
                  <a:srgbClr val="475569"/>
                </a:solidFill>
              </a:rPr>
              <a:t>• 登录日志记录登录行为</a:t>
            </a:r>
          </a:p>
          <a:p xmlns:a="http://schemas.openxmlformats.org/drawingml/2006/main">
            <a:pPr>
              <a:defRPr sz="1500" b="0">
                <a:solidFill>
                  <a:srgbClr val="475569"/>
                </a:solidFill>
              </a:defRPr>
            </a:pPr>
            <a:r>
              <a:rPr sz="1500" b="0">
                <a:solidFill>
                  <a:srgbClr val="475569"/>
                </a:solidFill>
              </a:rPr>
              <a:t>• 操作日志覆盖建档、审批、出库、调拨、预警和事件处理</a:t>
            </a:r>
          </a:p>
        </p:txBody>
      </p:sp>
      <p:sp>
        <p:nvSpPr>
          <p:cNvPr id="34" name="">
            <a:extLst xmlns:a="http://schemas.openxmlformats.org/drawingml/2006/main">
              <a:ext uri="{FF2B5EF4-FFF2-40B4-BE49-F238E27FC236}">
                <a16:creationId xmlns:a16="http://schemas.microsoft.com/office/drawing/2014/main" id="{E9BBBCA2-CDC5-498C-8AE3-FB0BE42649B5}"/>
              </a:ext>
            </a:extLst>
          </p:cNvPr>
          <p:cNvSpPr>
            <a:spLocks xmlns:a="http://schemas.openxmlformats.org/drawingml/2006/main" noGrp="1"/>
          </p:cNvSpPr>
          <p:nvPr/>
        </p:nvSpPr>
        <p:spPr>
          <a:xfrm xmlns:a="http://schemas.openxmlformats.org/drawingml/2006/main">
            <a:off x="914400" y="9467850"/>
            <a:ext cx="16459200" cy="152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a:solidFill>
                  <a:srgbClr val="64748B"/>
                </a:solidFill>
              </a:defRPr>
            </a:pPr>
            <a:r>
              <a:rPr sz="900">
                <a:solidFill>
                  <a:srgbClr val="64748B"/>
                </a:solidFill>
              </a:rPr>
              <a:t>依据：当前项目实现、最新论文定稿、全功能闭环自测报告与已有检查材料</a:t>
            </a:r>
          </a:p>
        </p:txBody>
      </p:sp>
    </p:spTree>
    <p:extLst>
      <p:ext uri="{BB962C8B-B14F-4D97-AF65-F5344CB8AC3E}">
        <p14:creationId xmlns:p14="http://schemas.microsoft.com/office/powerpoint/2010/main" val="77861256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F7CF78B-67B5-439F-965F-925AAF784BAB}"/>
              </a:ext>
            </a:extLst>
          </p:cNvPr>
          <p:cNvSpPr>
            <a:spLocks xmlns:a="http://schemas.openxmlformats.org/drawingml/2006/main" noGrp="1"/>
          </p:cNvSpPr>
          <p:nvPr/>
        </p:nvSpPr>
        <p:spPr>
          <a:xfrm xmlns:a="http://schemas.openxmlformats.org/drawingml/2006/main">
            <a:off x="914400" y="685800"/>
            <a:ext cx="838200" cy="5715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2" name="">
            <a:extLst xmlns:a="http://schemas.openxmlformats.org/drawingml/2006/main">
              <a:ext uri="{FF2B5EF4-FFF2-40B4-BE49-F238E27FC236}">
                <a16:creationId xmlns:a16="http://schemas.microsoft.com/office/drawing/2014/main" id="{ACC8B581-A873-4F02-A86D-3814D52E624E}"/>
              </a:ext>
            </a:extLst>
          </p:cNvPr>
          <p:cNvSpPr>
            <a:spLocks xmlns:a="http://schemas.openxmlformats.org/drawingml/2006/main" noGrp="1"/>
          </p:cNvSpPr>
          <p:nvPr/>
        </p:nvSpPr>
        <p:spPr>
          <a:xfrm xmlns:a="http://schemas.openxmlformats.org/drawingml/2006/main">
            <a:off x="1924050" y="685800"/>
            <a:ext cx="171450" cy="4191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0F766E"/>
                </a:solidFill>
              </a:defRPr>
            </a:pPr>
            <a:r>
              <a:rPr sz="1350" b="1">
                <a:solidFill>
                  <a:srgbClr val="0F766E"/>
                </a:solidFill>
              </a:rPr>
              <a:t>07</a:t>
            </a:r>
          </a:p>
        </p:txBody>
      </p:sp>
      <p:sp>
        <p:nvSpPr>
          <p:cNvPr id="3" name="">
            <a:extLst xmlns:a="http://schemas.openxmlformats.org/drawingml/2006/main">
              <a:ext uri="{FF2B5EF4-FFF2-40B4-BE49-F238E27FC236}">
                <a16:creationId xmlns:a16="http://schemas.microsoft.com/office/drawing/2014/main" id="{01AE2594-F8D0-4463-8128-D25497F1B00A}"/>
              </a:ext>
            </a:extLst>
          </p:cNvPr>
          <p:cNvSpPr>
            <a:spLocks xmlns:a="http://schemas.openxmlformats.org/drawingml/2006/main" noGrp="1"/>
          </p:cNvSpPr>
          <p:nvPr/>
        </p:nvSpPr>
        <p:spPr>
          <a:xfrm xmlns:a="http://schemas.openxmlformats.org/drawingml/2006/main">
            <a:off x="914400" y="1238250"/>
            <a:ext cx="548640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a:solidFill>
                  <a:srgbClr val="0F172A"/>
                </a:solidFill>
              </a:defRPr>
            </a:pPr>
            <a:r>
              <a:rPr sz="3600" b="1">
                <a:solidFill>
                  <a:srgbClr val="0F172A"/>
                </a:solidFill>
              </a:rPr>
              <a:t>统计分析与规则化辅助能力</a:t>
            </a:r>
          </a:p>
        </p:txBody>
      </p:sp>
      <p:sp>
        <p:nvSpPr>
          <p:cNvPr id="4" name="">
            <a:extLst xmlns:a="http://schemas.openxmlformats.org/drawingml/2006/main">
              <a:ext uri="{FF2B5EF4-FFF2-40B4-BE49-F238E27FC236}">
                <a16:creationId xmlns:a16="http://schemas.microsoft.com/office/drawing/2014/main" id="{5E863EEB-8A7D-4C6E-8528-4314229F0E23}"/>
              </a:ext>
            </a:extLst>
          </p:cNvPr>
          <p:cNvSpPr>
            <a:spLocks xmlns:a="http://schemas.openxmlformats.org/drawingml/2006/main" noGrp="1"/>
          </p:cNvSpPr>
          <p:nvPr/>
        </p:nvSpPr>
        <p:spPr>
          <a:xfrm xmlns:a="http://schemas.openxmlformats.org/drawingml/2006/main">
            <a:off x="914400" y="1905000"/>
            <a:ext cx="73152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a:solidFill>
                  <a:srgbClr val="475569"/>
                </a:solidFill>
              </a:defRPr>
            </a:pPr>
            <a:r>
              <a:rPr sz="1800">
                <a:solidFill>
                  <a:srgbClr val="475569"/>
                </a:solidFill>
              </a:rPr>
              <a:t>统计页面的数据来自后端真实接口，重点服务于库存监控和管理决策参考</a:t>
            </a:r>
          </a:p>
        </p:txBody>
      </p:sp>
      <p:sp>
        <p:nvSpPr>
          <p:cNvPr id="5" name="">
            <a:extLst xmlns:a="http://schemas.openxmlformats.org/drawingml/2006/main">
              <a:ext uri="{FF2B5EF4-FFF2-40B4-BE49-F238E27FC236}">
                <a16:creationId xmlns:a16="http://schemas.microsoft.com/office/drawing/2014/main" id="{87487DB0-DBF4-486C-8F4F-A23F70F2992B}"/>
              </a:ext>
            </a:extLst>
          </p:cNvPr>
          <p:cNvSpPr>
            <a:spLocks xmlns:a="http://schemas.openxmlformats.org/drawingml/2006/main" noGrp="1"/>
          </p:cNvSpPr>
          <p:nvPr/>
        </p:nvSpPr>
        <p:spPr>
          <a:xfrm xmlns:a="http://schemas.openxmlformats.org/drawingml/2006/main">
            <a:off x="15963900" y="685800"/>
            <a:ext cx="1409700" cy="472440"/>
          </a:xfrm>
          <a:prstGeom xmlns:a="http://schemas.openxmlformats.org/drawingml/2006/main" prst="roundRect">
            <a:avLst>
              <a:gd name="adj" fmla="val 36290"/>
            </a:avLst>
          </a:prstGeom>
          <a:solidFill xmlns:a="http://schemas.openxmlformats.org/drawingml/2006/main">
            <a:srgbClr val="0F172A"/>
          </a:solidFill>
        </p:spPr>
      </p:sp>
      <p:sp>
        <p:nvSpPr>
          <p:cNvPr id="6" name="">
            <a:extLst xmlns:a="http://schemas.openxmlformats.org/drawingml/2006/main">
              <a:ext uri="{FF2B5EF4-FFF2-40B4-BE49-F238E27FC236}">
                <a16:creationId xmlns:a16="http://schemas.microsoft.com/office/drawing/2014/main" id="{2B1CE5D8-2C5F-4F1F-8B75-4F1B42C5DB87}"/>
              </a:ext>
            </a:extLst>
          </p:cNvPr>
          <p:cNvSpPr>
            <a:spLocks xmlns:a="http://schemas.openxmlformats.org/drawingml/2006/main" noGrp="1"/>
          </p:cNvSpPr>
          <p:nvPr/>
        </p:nvSpPr>
        <p:spPr>
          <a:xfrm xmlns:a="http://schemas.openxmlformats.org/drawingml/2006/main">
            <a:off x="16135350" y="819150"/>
            <a:ext cx="10668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FFFFFF"/>
                </a:solidFill>
              </a:defRPr>
            </a:pPr>
            <a:r>
              <a:rPr sz="1350" b="1">
                <a:solidFill>
                  <a:srgbClr val="FFFFFF"/>
                </a:solidFill>
              </a:rPr>
              <a:t>07</a:t>
            </a:r>
          </a:p>
        </p:txBody>
      </p:sp>
      <p:sp>
        <p:nvSpPr>
          <p:cNvPr id="7" name="">
            <a:extLst xmlns:a="http://schemas.openxmlformats.org/drawingml/2006/main">
              <a:ext uri="{FF2B5EF4-FFF2-40B4-BE49-F238E27FC236}">
                <a16:creationId xmlns:a16="http://schemas.microsoft.com/office/drawing/2014/main" id="{63FA5A6E-E490-4FF4-84C2-6549F4A7439C}"/>
              </a:ext>
            </a:extLst>
          </p:cNvPr>
          <p:cNvSpPr>
            <a:spLocks xmlns:a="http://schemas.openxmlformats.org/drawingml/2006/main" noGrp="1"/>
          </p:cNvSpPr>
          <p:nvPr/>
        </p:nvSpPr>
        <p:spPr>
          <a:xfrm xmlns:a="http://schemas.openxmlformats.org/drawingml/2006/main">
            <a:off x="914400" y="2453640"/>
            <a:ext cx="8258175" cy="1619250"/>
          </a:xfrm>
          <a:prstGeom xmlns:a="http://schemas.openxmlformats.org/drawingml/2006/main" prst="roundRect">
            <a:avLst>
              <a:gd name="adj" fmla="val 12941"/>
            </a:avLst>
          </a:prstGeom>
          <a:solidFill xmlns:a="http://schemas.openxmlformats.org/drawingml/2006/main">
            <a:srgbClr val="F8FAFC"/>
          </a:solidFill>
        </p:spPr>
      </p:sp>
      <p:sp>
        <p:nvSpPr>
          <p:cNvPr id="8" name="">
            <a:extLst xmlns:a="http://schemas.openxmlformats.org/drawingml/2006/main">
              <a:ext uri="{FF2B5EF4-FFF2-40B4-BE49-F238E27FC236}">
                <a16:creationId xmlns:a16="http://schemas.microsoft.com/office/drawing/2014/main" id="{09FF3620-F1F6-4B68-93E2-8B52F5AC8D1B}"/>
              </a:ext>
            </a:extLst>
          </p:cNvPr>
          <p:cNvSpPr>
            <a:spLocks xmlns:a="http://schemas.openxmlformats.org/drawingml/2006/main" noGrp="1"/>
          </p:cNvSpPr>
          <p:nvPr/>
        </p:nvSpPr>
        <p:spPr>
          <a:xfrm xmlns:a="http://schemas.openxmlformats.org/drawingml/2006/main">
            <a:off x="1162050" y="2686050"/>
            <a:ext cx="77724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1E293B"/>
                </a:solidFill>
              </a:defRPr>
            </a:pPr>
            <a:r>
              <a:rPr sz="1800" b="1">
                <a:solidFill>
                  <a:srgbClr val="1E293B"/>
                </a:solidFill>
              </a:rPr>
              <a:t>Dashboard 与图表展示</a:t>
            </a:r>
          </a:p>
        </p:txBody>
      </p:sp>
      <p:sp>
        <p:nvSpPr>
          <p:cNvPr id="9" name="">
            <a:extLst xmlns:a="http://schemas.openxmlformats.org/drawingml/2006/main">
              <a:ext uri="{FF2B5EF4-FFF2-40B4-BE49-F238E27FC236}">
                <a16:creationId xmlns:a16="http://schemas.microsoft.com/office/drawing/2014/main" id="{1DCE021C-28F7-4948-9DA7-03FC694A1B46}"/>
              </a:ext>
            </a:extLst>
          </p:cNvPr>
          <p:cNvSpPr>
            <a:spLocks xmlns:a="http://schemas.openxmlformats.org/drawingml/2006/main" noGrp="1"/>
          </p:cNvSpPr>
          <p:nvPr/>
        </p:nvSpPr>
        <p:spPr>
          <a:xfrm xmlns:a="http://schemas.openxmlformats.org/drawingml/2006/main">
            <a:off x="1162050" y="3086100"/>
            <a:ext cx="7772400" cy="762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b="0">
                <a:solidFill>
                  <a:srgbClr val="475569"/>
                </a:solidFill>
              </a:defRPr>
            </a:pPr>
            <a:r>
              <a:rPr sz="1650" b="0">
                <a:solidFill>
                  <a:srgbClr val="475569"/>
                </a:solidFill>
              </a:rPr>
              <a:t>• 首页指标卡：物资、仓库、用户、预警等核心数量概览</a:t>
            </a:r>
          </a:p>
          <a:p xmlns:a="http://schemas.openxmlformats.org/drawingml/2006/main">
            <a:pPr>
              <a:defRPr sz="1650" b="0">
                <a:solidFill>
                  <a:srgbClr val="475569"/>
                </a:solidFill>
              </a:defRPr>
            </a:pPr>
            <a:r>
              <a:rPr sz="1650" b="0">
                <a:solidFill>
                  <a:srgbClr val="475569"/>
                </a:solidFill>
              </a:rPr>
              <a:t>• 可视化图表：库存占比、仓库分布、部门排行、效期统计等</a:t>
            </a:r>
          </a:p>
          <a:p xmlns:a="http://schemas.openxmlformats.org/drawingml/2006/main">
            <a:pPr>
              <a:defRPr sz="1650" b="0">
                <a:solidFill>
                  <a:srgbClr val="475569"/>
                </a:solidFill>
              </a:defRPr>
            </a:pPr>
            <a:r>
              <a:rPr sz="1650" b="0">
                <a:solidFill>
                  <a:srgbClr val="475569"/>
                </a:solidFill>
              </a:rPr>
              <a:t>• 业务联调后，新增物资、入库、出库、申领和调拨会驱动统计数据变化</a:t>
            </a:r>
          </a:p>
        </p:txBody>
      </p:sp>
      <p:sp>
        <p:nvSpPr>
          <p:cNvPr id="10" name="">
            <a:extLst xmlns:a="http://schemas.openxmlformats.org/drawingml/2006/main">
              <a:ext uri="{FF2B5EF4-FFF2-40B4-BE49-F238E27FC236}">
                <a16:creationId xmlns:a16="http://schemas.microsoft.com/office/drawing/2014/main" id="{04D0B5F6-523A-4E4C-97CF-9136C6FFB5E0}"/>
              </a:ext>
            </a:extLst>
          </p:cNvPr>
          <p:cNvSpPr>
            <a:spLocks xmlns:a="http://schemas.openxmlformats.org/drawingml/2006/main" noGrp="1"/>
          </p:cNvSpPr>
          <p:nvPr/>
        </p:nvSpPr>
        <p:spPr>
          <a:xfrm xmlns:a="http://schemas.openxmlformats.org/drawingml/2006/main">
            <a:off x="914400" y="4282440"/>
            <a:ext cx="8258175" cy="1619250"/>
          </a:xfrm>
          <a:prstGeom xmlns:a="http://schemas.openxmlformats.org/drawingml/2006/main" prst="roundRect">
            <a:avLst>
              <a:gd name="adj" fmla="val 12941"/>
            </a:avLst>
          </a:prstGeom>
          <a:solidFill xmlns:a="http://schemas.openxmlformats.org/drawingml/2006/main">
            <a:srgbClr val="EFF6FF"/>
          </a:solidFill>
        </p:spPr>
      </p:sp>
      <p:sp>
        <p:nvSpPr>
          <p:cNvPr id="11" name="">
            <a:extLst xmlns:a="http://schemas.openxmlformats.org/drawingml/2006/main">
              <a:ext uri="{FF2B5EF4-FFF2-40B4-BE49-F238E27FC236}">
                <a16:creationId xmlns:a16="http://schemas.microsoft.com/office/drawing/2014/main" id="{E47A06E8-8F7E-4569-B59C-DEB13BAE7BE9}"/>
              </a:ext>
            </a:extLst>
          </p:cNvPr>
          <p:cNvSpPr>
            <a:spLocks xmlns:a="http://schemas.openxmlformats.org/drawingml/2006/main" noGrp="1"/>
          </p:cNvSpPr>
          <p:nvPr/>
        </p:nvSpPr>
        <p:spPr>
          <a:xfrm xmlns:a="http://schemas.openxmlformats.org/drawingml/2006/main">
            <a:off x="1162050" y="4514850"/>
            <a:ext cx="77724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1E293B"/>
                </a:solidFill>
              </a:defRPr>
            </a:pPr>
            <a:r>
              <a:rPr sz="1800" b="1">
                <a:solidFill>
                  <a:srgbClr val="1E293B"/>
                </a:solidFill>
              </a:rPr>
              <a:t>规则化辅助能力</a:t>
            </a:r>
          </a:p>
        </p:txBody>
      </p:sp>
      <p:sp>
        <p:nvSpPr>
          <p:cNvPr id="12" name="">
            <a:extLst xmlns:a="http://schemas.openxmlformats.org/drawingml/2006/main">
              <a:ext uri="{FF2B5EF4-FFF2-40B4-BE49-F238E27FC236}">
                <a16:creationId xmlns:a16="http://schemas.microsoft.com/office/drawing/2014/main" id="{5C89CA9C-C339-47BD-88B8-B2BA2827CB2D}"/>
              </a:ext>
            </a:extLst>
          </p:cNvPr>
          <p:cNvSpPr>
            <a:spLocks xmlns:a="http://schemas.openxmlformats.org/drawingml/2006/main" noGrp="1"/>
          </p:cNvSpPr>
          <p:nvPr/>
        </p:nvSpPr>
        <p:spPr>
          <a:xfrm xmlns:a="http://schemas.openxmlformats.org/drawingml/2006/main">
            <a:off x="1162050" y="4914900"/>
            <a:ext cx="7772400" cy="762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b="0">
                <a:solidFill>
                  <a:srgbClr val="475569"/>
                </a:solidFill>
              </a:defRPr>
            </a:pPr>
            <a:r>
              <a:rPr sz="1650" b="0">
                <a:solidFill>
                  <a:srgbClr val="475569"/>
                </a:solidFill>
              </a:rPr>
              <a:t>• 补货参考：结合库存阈值和统计结果为后续补货提供参考</a:t>
            </a:r>
          </a:p>
          <a:p xmlns:a="http://schemas.openxmlformats.org/drawingml/2006/main">
            <a:pPr>
              <a:defRPr sz="1650" b="0">
                <a:solidFill>
                  <a:srgbClr val="475569"/>
                </a:solidFill>
              </a:defRPr>
            </a:pPr>
            <a:r>
              <a:rPr sz="1650" b="0">
                <a:solidFill>
                  <a:srgbClr val="475569"/>
                </a:solidFill>
              </a:rPr>
              <a:t>• 出库趋势参考：按历史出库数据汇总近阶段趋势信息</a:t>
            </a:r>
          </a:p>
          <a:p xmlns:a="http://schemas.openxmlformats.org/drawingml/2006/main">
            <a:pPr>
              <a:defRPr sz="1650" b="0">
                <a:solidFill>
                  <a:srgbClr val="475569"/>
                </a:solidFill>
              </a:defRPr>
            </a:pPr>
            <a:r>
              <a:rPr sz="1650" b="0">
                <a:solidFill>
                  <a:srgbClr val="475569"/>
                </a:solidFill>
              </a:rPr>
              <a:t>• 候选仓排序：为调拨或库存处理提供可解释的仓库选择参考</a:t>
            </a:r>
          </a:p>
        </p:txBody>
      </p:sp>
      <p:sp>
        <p:nvSpPr>
          <p:cNvPr id="13" name="">
            <a:extLst xmlns:a="http://schemas.openxmlformats.org/drawingml/2006/main">
              <a:ext uri="{FF2B5EF4-FFF2-40B4-BE49-F238E27FC236}">
                <a16:creationId xmlns:a16="http://schemas.microsoft.com/office/drawing/2014/main" id="{D80D5BC5-FDFF-4609-8D19-1DAA83C36953}"/>
              </a:ext>
            </a:extLst>
          </p:cNvPr>
          <p:cNvSpPr>
            <a:spLocks xmlns:a="http://schemas.openxmlformats.org/drawingml/2006/main" noGrp="1"/>
          </p:cNvSpPr>
          <p:nvPr/>
        </p:nvSpPr>
        <p:spPr>
          <a:xfrm xmlns:a="http://schemas.openxmlformats.org/drawingml/2006/main">
            <a:off x="9439275" y="2453640"/>
            <a:ext cx="3881438" cy="1562100"/>
          </a:xfrm>
          <a:prstGeom xmlns:a="http://schemas.openxmlformats.org/drawingml/2006/main" prst="roundRect">
            <a:avLst>
              <a:gd name="adj" fmla="val 12195"/>
            </a:avLst>
          </a:prstGeom>
          <a:solidFill xmlns:a="http://schemas.openxmlformats.org/drawingml/2006/main">
            <a:srgbClr val="ECFDF5"/>
          </a:solidFill>
        </p:spPr>
      </p:sp>
      <p:sp>
        <p:nvSpPr>
          <p:cNvPr id="14" name="">
            <a:extLst xmlns:a="http://schemas.openxmlformats.org/drawingml/2006/main">
              <a:ext uri="{FF2B5EF4-FFF2-40B4-BE49-F238E27FC236}">
                <a16:creationId xmlns:a16="http://schemas.microsoft.com/office/drawing/2014/main" id="{F4922916-B644-4643-838C-BCB4949B13A4}"/>
              </a:ext>
            </a:extLst>
          </p:cNvPr>
          <p:cNvSpPr>
            <a:spLocks xmlns:a="http://schemas.openxmlformats.org/drawingml/2006/main" noGrp="1"/>
          </p:cNvSpPr>
          <p:nvPr/>
        </p:nvSpPr>
        <p:spPr>
          <a:xfrm xmlns:a="http://schemas.openxmlformats.org/drawingml/2006/main">
            <a:off x="9677400" y="2667000"/>
            <a:ext cx="34290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1">
                <a:solidFill>
                  <a:srgbClr val="475569"/>
                </a:solidFill>
              </a:defRPr>
            </a:pPr>
            <a:r>
              <a:rPr sz="1500" b="1">
                <a:solidFill>
                  <a:srgbClr val="475569"/>
                </a:solidFill>
              </a:rPr>
              <a:t>统计展示</a:t>
            </a:r>
          </a:p>
        </p:txBody>
      </p:sp>
      <p:sp>
        <p:nvSpPr>
          <p:cNvPr id="15" name="">
            <a:extLst xmlns:a="http://schemas.openxmlformats.org/drawingml/2006/main">
              <a:ext uri="{FF2B5EF4-FFF2-40B4-BE49-F238E27FC236}">
                <a16:creationId xmlns:a16="http://schemas.microsoft.com/office/drawing/2014/main" id="{4CB7EE9D-6507-4FE7-8486-30532B203D17}"/>
              </a:ext>
            </a:extLst>
          </p:cNvPr>
          <p:cNvSpPr>
            <a:spLocks xmlns:a="http://schemas.openxmlformats.org/drawingml/2006/main" noGrp="1"/>
          </p:cNvSpPr>
          <p:nvPr/>
        </p:nvSpPr>
        <p:spPr>
          <a:xfrm xmlns:a="http://schemas.openxmlformats.org/drawingml/2006/main">
            <a:off x="9677400" y="3009900"/>
            <a:ext cx="3429000" cy="514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300" b="1">
                <a:solidFill>
                  <a:srgbClr val="0F172A"/>
                </a:solidFill>
              </a:defRPr>
            </a:pPr>
            <a:r>
              <a:rPr sz="3300" b="1">
                <a:solidFill>
                  <a:srgbClr val="0F172A"/>
                </a:solidFill>
              </a:rPr>
              <a:t>6+</a:t>
            </a:r>
          </a:p>
        </p:txBody>
      </p:sp>
      <p:sp>
        <p:nvSpPr>
          <p:cNvPr id="16" name="">
            <a:extLst xmlns:a="http://schemas.openxmlformats.org/drawingml/2006/main">
              <a:ext uri="{FF2B5EF4-FFF2-40B4-BE49-F238E27FC236}">
                <a16:creationId xmlns:a16="http://schemas.microsoft.com/office/drawing/2014/main" id="{04EA0093-ABAA-4074-8F42-75E3C341B672}"/>
              </a:ext>
            </a:extLst>
          </p:cNvPr>
          <p:cNvSpPr>
            <a:spLocks xmlns:a="http://schemas.openxmlformats.org/drawingml/2006/main" noGrp="1"/>
          </p:cNvSpPr>
          <p:nvPr/>
        </p:nvSpPr>
        <p:spPr>
          <a:xfrm xmlns:a="http://schemas.openxmlformats.org/drawingml/2006/main">
            <a:off x="9677400" y="3619500"/>
            <a:ext cx="34290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a:solidFill>
                  <a:srgbClr val="64748B"/>
                </a:solidFill>
              </a:defRPr>
            </a:pPr>
            <a:r>
              <a:rPr sz="1200">
                <a:solidFill>
                  <a:srgbClr val="64748B"/>
                </a:solidFill>
              </a:rPr>
              <a:t>物资、库存、申领、调拨、预警等主题</a:t>
            </a:r>
          </a:p>
        </p:txBody>
      </p:sp>
      <p:sp>
        <p:nvSpPr>
          <p:cNvPr id="17" name="">
            <a:extLst xmlns:a="http://schemas.openxmlformats.org/drawingml/2006/main">
              <a:ext uri="{FF2B5EF4-FFF2-40B4-BE49-F238E27FC236}">
                <a16:creationId xmlns:a16="http://schemas.microsoft.com/office/drawing/2014/main" id="{B23F9754-6FEA-452B-86D9-368C9FB78717}"/>
              </a:ext>
            </a:extLst>
          </p:cNvPr>
          <p:cNvSpPr>
            <a:spLocks xmlns:a="http://schemas.openxmlformats.org/drawingml/2006/main" noGrp="1"/>
          </p:cNvSpPr>
          <p:nvPr/>
        </p:nvSpPr>
        <p:spPr>
          <a:xfrm xmlns:a="http://schemas.openxmlformats.org/drawingml/2006/main">
            <a:off x="13492163" y="2453640"/>
            <a:ext cx="3881438" cy="1562100"/>
          </a:xfrm>
          <a:prstGeom xmlns:a="http://schemas.openxmlformats.org/drawingml/2006/main" prst="roundRect">
            <a:avLst>
              <a:gd name="adj" fmla="val 12195"/>
            </a:avLst>
          </a:prstGeom>
          <a:solidFill xmlns:a="http://schemas.openxmlformats.org/drawingml/2006/main">
            <a:srgbClr val="FFF7ED"/>
          </a:solidFill>
        </p:spPr>
      </p:sp>
      <p:sp>
        <p:nvSpPr>
          <p:cNvPr id="18" name="">
            <a:extLst xmlns:a="http://schemas.openxmlformats.org/drawingml/2006/main">
              <a:ext uri="{FF2B5EF4-FFF2-40B4-BE49-F238E27FC236}">
                <a16:creationId xmlns:a16="http://schemas.microsoft.com/office/drawing/2014/main" id="{1F0C7DED-9FB7-4652-8E66-BD5BF1DCB624}"/>
              </a:ext>
            </a:extLst>
          </p:cNvPr>
          <p:cNvSpPr>
            <a:spLocks xmlns:a="http://schemas.openxmlformats.org/drawingml/2006/main" noGrp="1"/>
          </p:cNvSpPr>
          <p:nvPr/>
        </p:nvSpPr>
        <p:spPr>
          <a:xfrm xmlns:a="http://schemas.openxmlformats.org/drawingml/2006/main">
            <a:off x="13716000" y="2667000"/>
            <a:ext cx="34290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1">
                <a:solidFill>
                  <a:srgbClr val="475569"/>
                </a:solidFill>
              </a:defRPr>
            </a:pPr>
            <a:r>
              <a:rPr sz="1500" b="1">
                <a:solidFill>
                  <a:srgbClr val="475569"/>
                </a:solidFill>
              </a:rPr>
              <a:t>图表来源</a:t>
            </a:r>
          </a:p>
        </p:txBody>
      </p:sp>
      <p:sp>
        <p:nvSpPr>
          <p:cNvPr id="19" name="">
            <a:extLst xmlns:a="http://schemas.openxmlformats.org/drawingml/2006/main">
              <a:ext uri="{FF2B5EF4-FFF2-40B4-BE49-F238E27FC236}">
                <a16:creationId xmlns:a16="http://schemas.microsoft.com/office/drawing/2014/main" id="{477418C6-95CA-4313-A4DE-2627708817B5}"/>
              </a:ext>
            </a:extLst>
          </p:cNvPr>
          <p:cNvSpPr>
            <a:spLocks xmlns:a="http://schemas.openxmlformats.org/drawingml/2006/main" noGrp="1"/>
          </p:cNvSpPr>
          <p:nvPr/>
        </p:nvSpPr>
        <p:spPr>
          <a:xfrm xmlns:a="http://schemas.openxmlformats.org/drawingml/2006/main">
            <a:off x="13716000" y="3009900"/>
            <a:ext cx="3429000" cy="514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300" b="1">
                <a:solidFill>
                  <a:srgbClr val="0F172A"/>
                </a:solidFill>
              </a:defRPr>
            </a:pPr>
            <a:r>
              <a:rPr sz="3300" b="1">
                <a:solidFill>
                  <a:srgbClr val="0F172A"/>
                </a:solidFill>
              </a:rPr>
              <a:t>后端接口</a:t>
            </a:r>
          </a:p>
        </p:txBody>
      </p:sp>
      <p:sp>
        <p:nvSpPr>
          <p:cNvPr id="20" name="">
            <a:extLst xmlns:a="http://schemas.openxmlformats.org/drawingml/2006/main">
              <a:ext uri="{FF2B5EF4-FFF2-40B4-BE49-F238E27FC236}">
                <a16:creationId xmlns:a16="http://schemas.microsoft.com/office/drawing/2014/main" id="{22A3DC35-0485-497E-92FF-A99E1CA500F6}"/>
              </a:ext>
            </a:extLst>
          </p:cNvPr>
          <p:cNvSpPr>
            <a:spLocks xmlns:a="http://schemas.openxmlformats.org/drawingml/2006/main" noGrp="1"/>
          </p:cNvSpPr>
          <p:nvPr/>
        </p:nvSpPr>
        <p:spPr>
          <a:xfrm xmlns:a="http://schemas.openxmlformats.org/drawingml/2006/main">
            <a:off x="13716000" y="3619500"/>
            <a:ext cx="34290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a:solidFill>
                  <a:srgbClr val="64748B"/>
                </a:solidFill>
              </a:defRPr>
            </a:pPr>
            <a:r>
              <a:rPr sz="1200">
                <a:solidFill>
                  <a:srgbClr val="64748B"/>
                </a:solidFill>
              </a:rPr>
              <a:t>不是前端写死数据</a:t>
            </a:r>
          </a:p>
        </p:txBody>
      </p:sp>
      <p:sp>
        <p:nvSpPr>
          <p:cNvPr id="21" name="">
            <a:extLst xmlns:a="http://schemas.openxmlformats.org/drawingml/2006/main">
              <a:ext uri="{FF2B5EF4-FFF2-40B4-BE49-F238E27FC236}">
                <a16:creationId xmlns:a16="http://schemas.microsoft.com/office/drawing/2014/main" id="{7A8FB915-A4CD-4146-B956-44598D8D3197}"/>
              </a:ext>
            </a:extLst>
          </p:cNvPr>
          <p:cNvSpPr>
            <a:spLocks xmlns:a="http://schemas.openxmlformats.org/drawingml/2006/main" noGrp="1"/>
          </p:cNvSpPr>
          <p:nvPr/>
        </p:nvSpPr>
        <p:spPr>
          <a:xfrm xmlns:a="http://schemas.openxmlformats.org/drawingml/2006/main">
            <a:off x="9439275" y="4187190"/>
            <a:ext cx="3881438" cy="1562100"/>
          </a:xfrm>
          <a:prstGeom xmlns:a="http://schemas.openxmlformats.org/drawingml/2006/main" prst="roundRect">
            <a:avLst>
              <a:gd name="adj" fmla="val 12195"/>
            </a:avLst>
          </a:prstGeom>
          <a:solidFill xmlns:a="http://schemas.openxmlformats.org/drawingml/2006/main">
            <a:srgbClr val="EFF6FF"/>
          </a:solidFill>
        </p:spPr>
      </p:sp>
      <p:sp>
        <p:nvSpPr>
          <p:cNvPr id="22" name="">
            <a:extLst xmlns:a="http://schemas.openxmlformats.org/drawingml/2006/main">
              <a:ext uri="{FF2B5EF4-FFF2-40B4-BE49-F238E27FC236}">
                <a16:creationId xmlns:a16="http://schemas.microsoft.com/office/drawing/2014/main" id="{29FEC105-FDCF-494F-906F-3AE17A745754}"/>
              </a:ext>
            </a:extLst>
          </p:cNvPr>
          <p:cNvSpPr>
            <a:spLocks xmlns:a="http://schemas.openxmlformats.org/drawingml/2006/main" noGrp="1"/>
          </p:cNvSpPr>
          <p:nvPr/>
        </p:nvSpPr>
        <p:spPr>
          <a:xfrm xmlns:a="http://schemas.openxmlformats.org/drawingml/2006/main">
            <a:off x="9677400" y="4400550"/>
            <a:ext cx="34290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1">
                <a:solidFill>
                  <a:srgbClr val="475569"/>
                </a:solidFill>
              </a:defRPr>
            </a:pPr>
            <a:r>
              <a:rPr sz="1500" b="1">
                <a:solidFill>
                  <a:srgbClr val="475569"/>
                </a:solidFill>
              </a:rPr>
              <a:t>业务联动</a:t>
            </a:r>
          </a:p>
        </p:txBody>
      </p:sp>
      <p:sp>
        <p:nvSpPr>
          <p:cNvPr id="23" name="">
            <a:extLst xmlns:a="http://schemas.openxmlformats.org/drawingml/2006/main">
              <a:ext uri="{FF2B5EF4-FFF2-40B4-BE49-F238E27FC236}">
                <a16:creationId xmlns:a16="http://schemas.microsoft.com/office/drawing/2014/main" id="{F676DD85-502A-4A93-ADF0-B8B00003A290}"/>
              </a:ext>
            </a:extLst>
          </p:cNvPr>
          <p:cNvSpPr>
            <a:spLocks xmlns:a="http://schemas.openxmlformats.org/drawingml/2006/main" noGrp="1"/>
          </p:cNvSpPr>
          <p:nvPr/>
        </p:nvSpPr>
        <p:spPr>
          <a:xfrm xmlns:a="http://schemas.openxmlformats.org/drawingml/2006/main">
            <a:off x="9677400" y="4743450"/>
            <a:ext cx="3429000" cy="514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300" b="1">
                <a:solidFill>
                  <a:srgbClr val="0F172A"/>
                </a:solidFill>
              </a:defRPr>
            </a:pPr>
            <a:r>
              <a:rPr sz="3300" b="1">
                <a:solidFill>
                  <a:srgbClr val="0F172A"/>
                </a:solidFill>
              </a:rPr>
              <a:t>实时刷新</a:t>
            </a:r>
          </a:p>
        </p:txBody>
      </p:sp>
      <p:sp>
        <p:nvSpPr>
          <p:cNvPr id="24" name="">
            <a:extLst xmlns:a="http://schemas.openxmlformats.org/drawingml/2006/main">
              <a:ext uri="{FF2B5EF4-FFF2-40B4-BE49-F238E27FC236}">
                <a16:creationId xmlns:a16="http://schemas.microsoft.com/office/drawing/2014/main" id="{05639407-D353-4F41-8FC4-8F57BFCAC058}"/>
              </a:ext>
            </a:extLst>
          </p:cNvPr>
          <p:cNvSpPr>
            <a:spLocks xmlns:a="http://schemas.openxmlformats.org/drawingml/2006/main" noGrp="1"/>
          </p:cNvSpPr>
          <p:nvPr/>
        </p:nvSpPr>
        <p:spPr>
          <a:xfrm xmlns:a="http://schemas.openxmlformats.org/drawingml/2006/main">
            <a:off x="9677400" y="5353050"/>
            <a:ext cx="34290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a:solidFill>
                  <a:srgbClr val="64748B"/>
                </a:solidFill>
              </a:defRPr>
            </a:pPr>
            <a:r>
              <a:rPr sz="1200">
                <a:solidFill>
                  <a:srgbClr val="64748B"/>
                </a:solidFill>
              </a:rPr>
              <a:t>完成出入库和单据流转后可观察变化</a:t>
            </a:r>
          </a:p>
        </p:txBody>
      </p:sp>
      <p:sp>
        <p:nvSpPr>
          <p:cNvPr id="25" name="">
            <a:extLst xmlns:a="http://schemas.openxmlformats.org/drawingml/2006/main">
              <a:ext uri="{FF2B5EF4-FFF2-40B4-BE49-F238E27FC236}">
                <a16:creationId xmlns:a16="http://schemas.microsoft.com/office/drawing/2014/main" id="{2E4CB6FA-337A-472B-AB78-9E437C9702DA}"/>
              </a:ext>
            </a:extLst>
          </p:cNvPr>
          <p:cNvSpPr>
            <a:spLocks xmlns:a="http://schemas.openxmlformats.org/drawingml/2006/main" noGrp="1"/>
          </p:cNvSpPr>
          <p:nvPr/>
        </p:nvSpPr>
        <p:spPr>
          <a:xfrm xmlns:a="http://schemas.openxmlformats.org/drawingml/2006/main">
            <a:off x="13492163" y="4187190"/>
            <a:ext cx="3881438" cy="1562100"/>
          </a:xfrm>
          <a:prstGeom xmlns:a="http://schemas.openxmlformats.org/drawingml/2006/main" prst="roundRect">
            <a:avLst>
              <a:gd name="adj" fmla="val 12195"/>
            </a:avLst>
          </a:prstGeom>
          <a:solidFill xmlns:a="http://schemas.openxmlformats.org/drawingml/2006/main">
            <a:srgbClr val="F8FAFC"/>
          </a:solidFill>
        </p:spPr>
      </p:sp>
      <p:sp>
        <p:nvSpPr>
          <p:cNvPr id="26" name="">
            <a:extLst xmlns:a="http://schemas.openxmlformats.org/drawingml/2006/main">
              <a:ext uri="{FF2B5EF4-FFF2-40B4-BE49-F238E27FC236}">
                <a16:creationId xmlns:a16="http://schemas.microsoft.com/office/drawing/2014/main" id="{9A06A6C3-F3A9-479B-8570-AB9CD7AF576D}"/>
              </a:ext>
            </a:extLst>
          </p:cNvPr>
          <p:cNvSpPr>
            <a:spLocks xmlns:a="http://schemas.openxmlformats.org/drawingml/2006/main" noGrp="1"/>
          </p:cNvSpPr>
          <p:nvPr/>
        </p:nvSpPr>
        <p:spPr>
          <a:xfrm xmlns:a="http://schemas.openxmlformats.org/drawingml/2006/main">
            <a:off x="13716000" y="4400550"/>
            <a:ext cx="34290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1">
                <a:solidFill>
                  <a:srgbClr val="475569"/>
                </a:solidFill>
              </a:defRPr>
            </a:pPr>
            <a:r>
              <a:rPr sz="1500" b="1">
                <a:solidFill>
                  <a:srgbClr val="475569"/>
                </a:solidFill>
              </a:rPr>
              <a:t>智能化边界</a:t>
            </a:r>
          </a:p>
        </p:txBody>
      </p:sp>
      <p:sp>
        <p:nvSpPr>
          <p:cNvPr id="27" name="">
            <a:extLst xmlns:a="http://schemas.openxmlformats.org/drawingml/2006/main">
              <a:ext uri="{FF2B5EF4-FFF2-40B4-BE49-F238E27FC236}">
                <a16:creationId xmlns:a16="http://schemas.microsoft.com/office/drawing/2014/main" id="{A6906F9D-4896-4D79-BC88-03210CDF3371}"/>
              </a:ext>
            </a:extLst>
          </p:cNvPr>
          <p:cNvSpPr>
            <a:spLocks xmlns:a="http://schemas.openxmlformats.org/drawingml/2006/main" noGrp="1"/>
          </p:cNvSpPr>
          <p:nvPr/>
        </p:nvSpPr>
        <p:spPr>
          <a:xfrm xmlns:a="http://schemas.openxmlformats.org/drawingml/2006/main">
            <a:off x="13716000" y="4743450"/>
            <a:ext cx="3429000" cy="514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300" b="1">
                <a:solidFill>
                  <a:srgbClr val="0F172A"/>
                </a:solidFill>
              </a:defRPr>
            </a:pPr>
            <a:r>
              <a:rPr sz="3300" b="1">
                <a:solidFill>
                  <a:srgbClr val="0F172A"/>
                </a:solidFill>
              </a:rPr>
              <a:t>规则化</a:t>
            </a:r>
          </a:p>
        </p:txBody>
      </p:sp>
      <p:sp>
        <p:nvSpPr>
          <p:cNvPr id="28" name="">
            <a:extLst xmlns:a="http://schemas.openxmlformats.org/drawingml/2006/main">
              <a:ext uri="{FF2B5EF4-FFF2-40B4-BE49-F238E27FC236}">
                <a16:creationId xmlns:a16="http://schemas.microsoft.com/office/drawing/2014/main" id="{B342F012-69E1-4A7E-ABD9-E045155B8F7B}"/>
              </a:ext>
            </a:extLst>
          </p:cNvPr>
          <p:cNvSpPr>
            <a:spLocks xmlns:a="http://schemas.openxmlformats.org/drawingml/2006/main" noGrp="1"/>
          </p:cNvSpPr>
          <p:nvPr/>
        </p:nvSpPr>
        <p:spPr>
          <a:xfrm xmlns:a="http://schemas.openxmlformats.org/drawingml/2006/main">
            <a:off x="13716000" y="5353050"/>
            <a:ext cx="34290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a:solidFill>
                  <a:srgbClr val="64748B"/>
                </a:solidFill>
              </a:defRPr>
            </a:pPr>
            <a:r>
              <a:rPr sz="1200">
                <a:solidFill>
                  <a:srgbClr val="64748B"/>
                </a:solidFill>
              </a:rPr>
              <a:t>不夸大为 AI 或机器学习能力</a:t>
            </a:r>
          </a:p>
        </p:txBody>
      </p:sp>
      <p:sp>
        <p:nvSpPr>
          <p:cNvPr id="29" name="">
            <a:extLst xmlns:a="http://schemas.openxmlformats.org/drawingml/2006/main">
              <a:ext uri="{FF2B5EF4-FFF2-40B4-BE49-F238E27FC236}">
                <a16:creationId xmlns:a16="http://schemas.microsoft.com/office/drawing/2014/main" id="{5CC55A86-301D-46C9-8E3B-938A362AC67A}"/>
              </a:ext>
            </a:extLst>
          </p:cNvPr>
          <p:cNvSpPr>
            <a:spLocks xmlns:a="http://schemas.openxmlformats.org/drawingml/2006/main" noGrp="1"/>
          </p:cNvSpPr>
          <p:nvPr/>
        </p:nvSpPr>
        <p:spPr>
          <a:xfrm xmlns:a="http://schemas.openxmlformats.org/drawingml/2006/main">
            <a:off x="914400" y="9467850"/>
            <a:ext cx="16459200" cy="152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a:solidFill>
                  <a:srgbClr val="64748B"/>
                </a:solidFill>
              </a:defRPr>
            </a:pPr>
            <a:r>
              <a:rPr sz="900">
                <a:solidFill>
                  <a:srgbClr val="64748B"/>
                </a:solidFill>
              </a:rPr>
              <a:t>依据：当前项目实现、最新论文定稿、全功能闭环自测报告与已有检查材料</a:t>
            </a:r>
          </a:p>
        </p:txBody>
      </p:sp>
    </p:spTree>
    <p:extLst>
      <p:ext uri="{BB962C8B-B14F-4D97-AF65-F5344CB8AC3E}">
        <p14:creationId xmlns:p14="http://schemas.microsoft.com/office/powerpoint/2010/main" val="199547474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49EABD4-DBB9-4D31-8510-66B242EA6290}"/>
              </a:ext>
            </a:extLst>
          </p:cNvPr>
          <p:cNvSpPr>
            <a:spLocks xmlns:a="http://schemas.openxmlformats.org/drawingml/2006/main" noGrp="1"/>
          </p:cNvSpPr>
          <p:nvPr/>
        </p:nvSpPr>
        <p:spPr>
          <a:xfrm xmlns:a="http://schemas.openxmlformats.org/drawingml/2006/main">
            <a:off x="914400" y="685800"/>
            <a:ext cx="838200" cy="5715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2" name="">
            <a:extLst xmlns:a="http://schemas.openxmlformats.org/drawingml/2006/main">
              <a:ext uri="{FF2B5EF4-FFF2-40B4-BE49-F238E27FC236}">
                <a16:creationId xmlns:a16="http://schemas.microsoft.com/office/drawing/2014/main" id="{A4263C12-DDC2-4B14-AA12-A4ED18CECEF3}"/>
              </a:ext>
            </a:extLst>
          </p:cNvPr>
          <p:cNvSpPr>
            <a:spLocks xmlns:a="http://schemas.openxmlformats.org/drawingml/2006/main" noGrp="1"/>
          </p:cNvSpPr>
          <p:nvPr/>
        </p:nvSpPr>
        <p:spPr>
          <a:xfrm xmlns:a="http://schemas.openxmlformats.org/drawingml/2006/main">
            <a:off x="1924050" y="685800"/>
            <a:ext cx="171450" cy="4191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0F766E"/>
                </a:solidFill>
              </a:defRPr>
            </a:pPr>
            <a:r>
              <a:rPr sz="1350" b="1">
                <a:solidFill>
                  <a:srgbClr val="0F766E"/>
                </a:solidFill>
              </a:rPr>
              <a:t>08</a:t>
            </a:r>
          </a:p>
        </p:txBody>
      </p:sp>
      <p:sp>
        <p:nvSpPr>
          <p:cNvPr id="3" name="">
            <a:extLst xmlns:a="http://schemas.openxmlformats.org/drawingml/2006/main">
              <a:ext uri="{FF2B5EF4-FFF2-40B4-BE49-F238E27FC236}">
                <a16:creationId xmlns:a16="http://schemas.microsoft.com/office/drawing/2014/main" id="{E6884877-C23F-4BC3-BE38-CD2524A194B5}"/>
              </a:ext>
            </a:extLst>
          </p:cNvPr>
          <p:cNvSpPr>
            <a:spLocks xmlns:a="http://schemas.openxmlformats.org/drawingml/2006/main" noGrp="1"/>
          </p:cNvSpPr>
          <p:nvPr/>
        </p:nvSpPr>
        <p:spPr>
          <a:xfrm xmlns:a="http://schemas.openxmlformats.org/drawingml/2006/main">
            <a:off x="914400" y="1238250"/>
            <a:ext cx="548640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a:solidFill>
                  <a:srgbClr val="0F172A"/>
                </a:solidFill>
              </a:defRPr>
            </a:pPr>
            <a:r>
              <a:rPr sz="3600" b="1">
                <a:solidFill>
                  <a:srgbClr val="0F172A"/>
                </a:solidFill>
              </a:rPr>
              <a:t>系统测试结果与真实性结论</a:t>
            </a:r>
          </a:p>
        </p:txBody>
      </p:sp>
      <p:sp>
        <p:nvSpPr>
          <p:cNvPr id="4" name="">
            <a:extLst xmlns:a="http://schemas.openxmlformats.org/drawingml/2006/main">
              <a:ext uri="{FF2B5EF4-FFF2-40B4-BE49-F238E27FC236}">
                <a16:creationId xmlns:a16="http://schemas.microsoft.com/office/drawing/2014/main" id="{22C78F05-86EF-4700-9E23-E7DC38BF72E1}"/>
              </a:ext>
            </a:extLst>
          </p:cNvPr>
          <p:cNvSpPr>
            <a:spLocks xmlns:a="http://schemas.openxmlformats.org/drawingml/2006/main" noGrp="1"/>
          </p:cNvSpPr>
          <p:nvPr/>
        </p:nvSpPr>
        <p:spPr>
          <a:xfrm xmlns:a="http://schemas.openxmlformats.org/drawingml/2006/main">
            <a:off x="914400" y="1905000"/>
            <a:ext cx="868680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a:solidFill>
                  <a:srgbClr val="475569"/>
                </a:solidFill>
              </a:defRPr>
            </a:pPr>
            <a:r>
              <a:rPr sz="1800">
                <a:solidFill>
                  <a:srgbClr val="475569"/>
                </a:solidFill>
              </a:rPr>
              <a:t>测试围绕“前端页面 → 后端接口 → 数据库落库 → 状态流转 → 日志/通知/统计展示”展开</a:t>
            </a:r>
          </a:p>
        </p:txBody>
      </p:sp>
      <p:sp>
        <p:nvSpPr>
          <p:cNvPr id="5" name="">
            <a:extLst xmlns:a="http://schemas.openxmlformats.org/drawingml/2006/main">
              <a:ext uri="{FF2B5EF4-FFF2-40B4-BE49-F238E27FC236}">
                <a16:creationId xmlns:a16="http://schemas.microsoft.com/office/drawing/2014/main" id="{33F34E69-51F6-4036-B376-E0A4333DC56D}"/>
              </a:ext>
            </a:extLst>
          </p:cNvPr>
          <p:cNvSpPr>
            <a:spLocks xmlns:a="http://schemas.openxmlformats.org/drawingml/2006/main" noGrp="1"/>
          </p:cNvSpPr>
          <p:nvPr/>
        </p:nvSpPr>
        <p:spPr>
          <a:xfrm xmlns:a="http://schemas.openxmlformats.org/drawingml/2006/main">
            <a:off x="15963900" y="685800"/>
            <a:ext cx="1409700" cy="472440"/>
          </a:xfrm>
          <a:prstGeom xmlns:a="http://schemas.openxmlformats.org/drawingml/2006/main" prst="roundRect">
            <a:avLst>
              <a:gd name="adj" fmla="val 36290"/>
            </a:avLst>
          </a:prstGeom>
          <a:solidFill xmlns:a="http://schemas.openxmlformats.org/drawingml/2006/main">
            <a:srgbClr val="0F172A"/>
          </a:solidFill>
        </p:spPr>
      </p:sp>
      <p:sp>
        <p:nvSpPr>
          <p:cNvPr id="6" name="">
            <a:extLst xmlns:a="http://schemas.openxmlformats.org/drawingml/2006/main">
              <a:ext uri="{FF2B5EF4-FFF2-40B4-BE49-F238E27FC236}">
                <a16:creationId xmlns:a16="http://schemas.microsoft.com/office/drawing/2014/main" id="{320A24F7-88A9-4891-92E8-8B17346983F2}"/>
              </a:ext>
            </a:extLst>
          </p:cNvPr>
          <p:cNvSpPr>
            <a:spLocks xmlns:a="http://schemas.openxmlformats.org/drawingml/2006/main" noGrp="1"/>
          </p:cNvSpPr>
          <p:nvPr/>
        </p:nvSpPr>
        <p:spPr>
          <a:xfrm xmlns:a="http://schemas.openxmlformats.org/drawingml/2006/main">
            <a:off x="16135350" y="819150"/>
            <a:ext cx="10668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FFFFFF"/>
                </a:solidFill>
              </a:defRPr>
            </a:pPr>
            <a:r>
              <a:rPr sz="1350" b="1">
                <a:solidFill>
                  <a:srgbClr val="FFFFFF"/>
                </a:solidFill>
              </a:rPr>
              <a:t>08</a:t>
            </a:r>
          </a:p>
        </p:txBody>
      </p:sp>
      <p:sp>
        <p:nvSpPr>
          <p:cNvPr id="7" name="">
            <a:extLst xmlns:a="http://schemas.openxmlformats.org/drawingml/2006/main">
              <a:ext uri="{FF2B5EF4-FFF2-40B4-BE49-F238E27FC236}">
                <a16:creationId xmlns:a16="http://schemas.microsoft.com/office/drawing/2014/main" id="{917DDDB8-CB87-4AA3-9370-40DE7467183A}"/>
              </a:ext>
            </a:extLst>
          </p:cNvPr>
          <p:cNvSpPr>
            <a:spLocks xmlns:a="http://schemas.openxmlformats.org/drawingml/2006/main" noGrp="1"/>
          </p:cNvSpPr>
          <p:nvPr/>
        </p:nvSpPr>
        <p:spPr>
          <a:xfrm xmlns:a="http://schemas.openxmlformats.org/drawingml/2006/main">
            <a:off x="914400" y="2727960"/>
            <a:ext cx="3986213" cy="1744980"/>
          </a:xfrm>
          <a:prstGeom xmlns:a="http://schemas.openxmlformats.org/drawingml/2006/main" prst="roundRect">
            <a:avLst>
              <a:gd name="adj" fmla="val 10917"/>
            </a:avLst>
          </a:prstGeom>
          <a:solidFill xmlns:a="http://schemas.openxmlformats.org/drawingml/2006/main">
            <a:srgbClr val="EFF6FF"/>
          </a:solidFill>
        </p:spPr>
      </p:sp>
      <p:sp>
        <p:nvSpPr>
          <p:cNvPr id="8" name="">
            <a:extLst xmlns:a="http://schemas.openxmlformats.org/drawingml/2006/main">
              <a:ext uri="{FF2B5EF4-FFF2-40B4-BE49-F238E27FC236}">
                <a16:creationId xmlns:a16="http://schemas.microsoft.com/office/drawing/2014/main" id="{69C09E1C-F50C-4C33-B509-87896B0E7FB1}"/>
              </a:ext>
            </a:extLst>
          </p:cNvPr>
          <p:cNvSpPr>
            <a:spLocks xmlns:a="http://schemas.openxmlformats.org/drawingml/2006/main" noGrp="1"/>
          </p:cNvSpPr>
          <p:nvPr/>
        </p:nvSpPr>
        <p:spPr>
          <a:xfrm xmlns:a="http://schemas.openxmlformats.org/drawingml/2006/main">
            <a:off x="1143000" y="2933700"/>
            <a:ext cx="352425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1">
                <a:solidFill>
                  <a:srgbClr val="475569"/>
                </a:solidFill>
              </a:defRPr>
            </a:pPr>
            <a:r>
              <a:rPr sz="1500" b="1">
                <a:solidFill>
                  <a:srgbClr val="475569"/>
                </a:solidFill>
              </a:rPr>
              <a:t>角色登录</a:t>
            </a:r>
          </a:p>
        </p:txBody>
      </p:sp>
      <p:sp>
        <p:nvSpPr>
          <p:cNvPr id="9" name="">
            <a:extLst xmlns:a="http://schemas.openxmlformats.org/drawingml/2006/main">
              <a:ext uri="{FF2B5EF4-FFF2-40B4-BE49-F238E27FC236}">
                <a16:creationId xmlns:a16="http://schemas.microsoft.com/office/drawing/2014/main" id="{25C87183-9649-4C14-A5CD-6FA030ADDCFA}"/>
              </a:ext>
            </a:extLst>
          </p:cNvPr>
          <p:cNvSpPr>
            <a:spLocks xmlns:a="http://schemas.openxmlformats.org/drawingml/2006/main" noGrp="1"/>
          </p:cNvSpPr>
          <p:nvPr/>
        </p:nvSpPr>
        <p:spPr>
          <a:xfrm xmlns:a="http://schemas.openxmlformats.org/drawingml/2006/main">
            <a:off x="1143000" y="3276600"/>
            <a:ext cx="3524250" cy="514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300" b="1">
                <a:solidFill>
                  <a:srgbClr val="0F172A"/>
                </a:solidFill>
              </a:defRPr>
            </a:pPr>
            <a:r>
              <a:rPr sz="3300" b="1">
                <a:solidFill>
                  <a:srgbClr val="0F172A"/>
                </a:solidFill>
              </a:rPr>
              <a:t>4 类</a:t>
            </a:r>
          </a:p>
        </p:txBody>
      </p:sp>
      <p:sp>
        <p:nvSpPr>
          <p:cNvPr id="10" name="">
            <a:extLst xmlns:a="http://schemas.openxmlformats.org/drawingml/2006/main">
              <a:ext uri="{FF2B5EF4-FFF2-40B4-BE49-F238E27FC236}">
                <a16:creationId xmlns:a16="http://schemas.microsoft.com/office/drawing/2014/main" id="{EF5461A2-3B21-47A4-BED5-AE1EA7837C37}"/>
              </a:ext>
            </a:extLst>
          </p:cNvPr>
          <p:cNvSpPr>
            <a:spLocks xmlns:a="http://schemas.openxmlformats.org/drawingml/2006/main" noGrp="1"/>
          </p:cNvSpPr>
          <p:nvPr/>
        </p:nvSpPr>
        <p:spPr>
          <a:xfrm xmlns:a="http://schemas.openxmlformats.org/drawingml/2006/main">
            <a:off x="1143000" y="3905250"/>
            <a:ext cx="352425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a:solidFill>
                  <a:srgbClr val="64748B"/>
                </a:solidFill>
              </a:defRPr>
            </a:pPr>
            <a:r>
              <a:rPr sz="1200">
                <a:solidFill>
                  <a:srgbClr val="64748B"/>
                </a:solidFill>
              </a:rPr>
              <a:t>ADMIN / WAREHOUSE_ADMIN / APPROVER / DEPT_USER</a:t>
            </a:r>
          </a:p>
        </p:txBody>
      </p:sp>
      <p:sp>
        <p:nvSpPr>
          <p:cNvPr id="11" name="">
            <a:extLst xmlns:a="http://schemas.openxmlformats.org/drawingml/2006/main">
              <a:ext uri="{FF2B5EF4-FFF2-40B4-BE49-F238E27FC236}">
                <a16:creationId xmlns:a16="http://schemas.microsoft.com/office/drawing/2014/main" id="{58B54577-AF7F-4EFD-913A-C09BAEB59FC3}"/>
              </a:ext>
            </a:extLst>
          </p:cNvPr>
          <p:cNvSpPr>
            <a:spLocks xmlns:a="http://schemas.openxmlformats.org/drawingml/2006/main" noGrp="1"/>
          </p:cNvSpPr>
          <p:nvPr/>
        </p:nvSpPr>
        <p:spPr>
          <a:xfrm xmlns:a="http://schemas.openxmlformats.org/drawingml/2006/main">
            <a:off x="5072063" y="2727960"/>
            <a:ext cx="3986213" cy="1562100"/>
          </a:xfrm>
          <a:prstGeom xmlns:a="http://schemas.openxmlformats.org/drawingml/2006/main" prst="roundRect">
            <a:avLst>
              <a:gd name="adj" fmla="val 12195"/>
            </a:avLst>
          </a:prstGeom>
          <a:solidFill xmlns:a="http://schemas.openxmlformats.org/drawingml/2006/main">
            <a:srgbClr val="ECFDF5"/>
          </a:solidFill>
        </p:spPr>
      </p:sp>
      <p:sp>
        <p:nvSpPr>
          <p:cNvPr id="12" name="">
            <a:extLst xmlns:a="http://schemas.openxmlformats.org/drawingml/2006/main">
              <a:ext uri="{FF2B5EF4-FFF2-40B4-BE49-F238E27FC236}">
                <a16:creationId xmlns:a16="http://schemas.microsoft.com/office/drawing/2014/main" id="{9EE3B53A-8456-4BB3-B661-4EA6B1F23727}"/>
              </a:ext>
            </a:extLst>
          </p:cNvPr>
          <p:cNvSpPr>
            <a:spLocks xmlns:a="http://schemas.openxmlformats.org/drawingml/2006/main" noGrp="1"/>
          </p:cNvSpPr>
          <p:nvPr/>
        </p:nvSpPr>
        <p:spPr>
          <a:xfrm xmlns:a="http://schemas.openxmlformats.org/drawingml/2006/main">
            <a:off x="5295900" y="2933700"/>
            <a:ext cx="352425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1">
                <a:solidFill>
                  <a:srgbClr val="475569"/>
                </a:solidFill>
              </a:defRPr>
            </a:pPr>
            <a:r>
              <a:rPr sz="1500" b="1">
                <a:solidFill>
                  <a:srgbClr val="475569"/>
                </a:solidFill>
              </a:rPr>
              <a:t>核心闭环</a:t>
            </a:r>
          </a:p>
        </p:txBody>
      </p:sp>
      <p:sp>
        <p:nvSpPr>
          <p:cNvPr id="13" name="">
            <a:extLst xmlns:a="http://schemas.openxmlformats.org/drawingml/2006/main">
              <a:ext uri="{FF2B5EF4-FFF2-40B4-BE49-F238E27FC236}">
                <a16:creationId xmlns:a16="http://schemas.microsoft.com/office/drawing/2014/main" id="{242A4449-80A7-4F32-B402-F56C4C60FC09}"/>
              </a:ext>
            </a:extLst>
          </p:cNvPr>
          <p:cNvSpPr>
            <a:spLocks xmlns:a="http://schemas.openxmlformats.org/drawingml/2006/main" noGrp="1"/>
          </p:cNvSpPr>
          <p:nvPr/>
        </p:nvSpPr>
        <p:spPr>
          <a:xfrm xmlns:a="http://schemas.openxmlformats.org/drawingml/2006/main">
            <a:off x="5295900" y="3276600"/>
            <a:ext cx="3524250" cy="514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300" b="1">
                <a:solidFill>
                  <a:srgbClr val="0F172A"/>
                </a:solidFill>
              </a:defRPr>
            </a:pPr>
            <a:r>
              <a:rPr sz="3300" b="1">
                <a:solidFill>
                  <a:srgbClr val="0F172A"/>
                </a:solidFill>
              </a:rPr>
              <a:t>已打通</a:t>
            </a:r>
          </a:p>
        </p:txBody>
      </p:sp>
      <p:sp>
        <p:nvSpPr>
          <p:cNvPr id="14" name="">
            <a:extLst xmlns:a="http://schemas.openxmlformats.org/drawingml/2006/main">
              <a:ext uri="{FF2B5EF4-FFF2-40B4-BE49-F238E27FC236}">
                <a16:creationId xmlns:a16="http://schemas.microsoft.com/office/drawing/2014/main" id="{D3A83D65-F458-4E03-94DE-7C7F5F88B7BC}"/>
              </a:ext>
            </a:extLst>
          </p:cNvPr>
          <p:cNvSpPr>
            <a:spLocks xmlns:a="http://schemas.openxmlformats.org/drawingml/2006/main" noGrp="1"/>
          </p:cNvSpPr>
          <p:nvPr/>
        </p:nvSpPr>
        <p:spPr>
          <a:xfrm xmlns:a="http://schemas.openxmlformats.org/drawingml/2006/main">
            <a:off x="5295900" y="3905250"/>
            <a:ext cx="35242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a:solidFill>
                  <a:srgbClr val="64748B"/>
                </a:solidFill>
              </a:defRPr>
            </a:pPr>
            <a:r>
              <a:rPr sz="1200">
                <a:solidFill>
                  <a:srgbClr val="64748B"/>
                </a:solidFill>
              </a:rPr>
              <a:t>申领、调拨、预警、通知、统计均完成联调验证</a:t>
            </a:r>
          </a:p>
        </p:txBody>
      </p:sp>
      <p:sp>
        <p:nvSpPr>
          <p:cNvPr id="15" name="">
            <a:extLst xmlns:a="http://schemas.openxmlformats.org/drawingml/2006/main">
              <a:ext uri="{FF2B5EF4-FFF2-40B4-BE49-F238E27FC236}">
                <a16:creationId xmlns:a16="http://schemas.microsoft.com/office/drawing/2014/main" id="{5DB09D86-12E6-446B-9EA0-FEFC008F253B}"/>
              </a:ext>
            </a:extLst>
          </p:cNvPr>
          <p:cNvSpPr>
            <a:spLocks xmlns:a="http://schemas.openxmlformats.org/drawingml/2006/main" noGrp="1"/>
          </p:cNvSpPr>
          <p:nvPr/>
        </p:nvSpPr>
        <p:spPr>
          <a:xfrm xmlns:a="http://schemas.openxmlformats.org/drawingml/2006/main">
            <a:off x="9229725" y="2727960"/>
            <a:ext cx="3986213" cy="1562100"/>
          </a:xfrm>
          <a:prstGeom xmlns:a="http://schemas.openxmlformats.org/drawingml/2006/main" prst="roundRect">
            <a:avLst>
              <a:gd name="adj" fmla="val 12195"/>
            </a:avLst>
          </a:prstGeom>
          <a:solidFill xmlns:a="http://schemas.openxmlformats.org/drawingml/2006/main">
            <a:srgbClr val="FFF7ED"/>
          </a:solidFill>
        </p:spPr>
      </p:sp>
      <p:sp>
        <p:nvSpPr>
          <p:cNvPr id="16" name="">
            <a:extLst xmlns:a="http://schemas.openxmlformats.org/drawingml/2006/main">
              <a:ext uri="{FF2B5EF4-FFF2-40B4-BE49-F238E27FC236}">
                <a16:creationId xmlns:a16="http://schemas.microsoft.com/office/drawing/2014/main" id="{FC332979-DBF5-479B-8E8E-08E33795010B}"/>
              </a:ext>
            </a:extLst>
          </p:cNvPr>
          <p:cNvSpPr>
            <a:spLocks xmlns:a="http://schemas.openxmlformats.org/drawingml/2006/main" noGrp="1"/>
          </p:cNvSpPr>
          <p:nvPr/>
        </p:nvSpPr>
        <p:spPr>
          <a:xfrm xmlns:a="http://schemas.openxmlformats.org/drawingml/2006/main">
            <a:off x="9467850" y="2933700"/>
            <a:ext cx="352425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1">
                <a:solidFill>
                  <a:srgbClr val="475569"/>
                </a:solidFill>
              </a:defRPr>
            </a:pPr>
            <a:r>
              <a:rPr sz="1500" b="1">
                <a:solidFill>
                  <a:srgbClr val="475569"/>
                </a:solidFill>
              </a:rPr>
              <a:t>权限语义</a:t>
            </a:r>
          </a:p>
        </p:txBody>
      </p:sp>
      <p:sp>
        <p:nvSpPr>
          <p:cNvPr id="17" name="">
            <a:extLst xmlns:a="http://schemas.openxmlformats.org/drawingml/2006/main">
              <a:ext uri="{FF2B5EF4-FFF2-40B4-BE49-F238E27FC236}">
                <a16:creationId xmlns:a16="http://schemas.microsoft.com/office/drawing/2014/main" id="{4EA0523B-00EB-4EDF-8F2E-C272777F4BEE}"/>
              </a:ext>
            </a:extLst>
          </p:cNvPr>
          <p:cNvSpPr>
            <a:spLocks xmlns:a="http://schemas.openxmlformats.org/drawingml/2006/main" noGrp="1"/>
          </p:cNvSpPr>
          <p:nvPr/>
        </p:nvSpPr>
        <p:spPr>
          <a:xfrm xmlns:a="http://schemas.openxmlformats.org/drawingml/2006/main">
            <a:off x="9467850" y="3276600"/>
            <a:ext cx="3524250" cy="514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300" b="1">
                <a:solidFill>
                  <a:srgbClr val="0F172A"/>
                </a:solidFill>
              </a:defRPr>
            </a:pPr>
            <a:r>
              <a:rPr sz="3300" b="1">
                <a:solidFill>
                  <a:srgbClr val="0F172A"/>
                </a:solidFill>
              </a:rPr>
              <a:t>401 / 403 / 409</a:t>
            </a:r>
          </a:p>
        </p:txBody>
      </p:sp>
      <p:sp>
        <p:nvSpPr>
          <p:cNvPr id="18" name="">
            <a:extLst xmlns:a="http://schemas.openxmlformats.org/drawingml/2006/main">
              <a:ext uri="{FF2B5EF4-FFF2-40B4-BE49-F238E27FC236}">
                <a16:creationId xmlns:a16="http://schemas.microsoft.com/office/drawing/2014/main" id="{41C1CDD4-1891-4750-8EFC-3C419FCEFCA6}"/>
              </a:ext>
            </a:extLst>
          </p:cNvPr>
          <p:cNvSpPr>
            <a:spLocks xmlns:a="http://schemas.openxmlformats.org/drawingml/2006/main" noGrp="1"/>
          </p:cNvSpPr>
          <p:nvPr/>
        </p:nvSpPr>
        <p:spPr>
          <a:xfrm xmlns:a="http://schemas.openxmlformats.org/drawingml/2006/main">
            <a:off x="9467850" y="3905250"/>
            <a:ext cx="35242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a:solidFill>
                  <a:srgbClr val="64748B"/>
                </a:solidFill>
              </a:defRPr>
            </a:pPr>
            <a:r>
              <a:rPr sz="1200">
                <a:solidFill>
                  <a:srgbClr val="64748B"/>
                </a:solidFill>
              </a:rPr>
              <a:t>未登录、越权与业务冲突均有明确返回</a:t>
            </a:r>
          </a:p>
        </p:txBody>
      </p:sp>
      <p:sp>
        <p:nvSpPr>
          <p:cNvPr id="19" name="">
            <a:extLst xmlns:a="http://schemas.openxmlformats.org/drawingml/2006/main">
              <a:ext uri="{FF2B5EF4-FFF2-40B4-BE49-F238E27FC236}">
                <a16:creationId xmlns:a16="http://schemas.microsoft.com/office/drawing/2014/main" id="{6CBDAF9E-DE45-45E2-9DCF-9575D329EA9D}"/>
              </a:ext>
            </a:extLst>
          </p:cNvPr>
          <p:cNvSpPr>
            <a:spLocks xmlns:a="http://schemas.openxmlformats.org/drawingml/2006/main" noGrp="1"/>
          </p:cNvSpPr>
          <p:nvPr/>
        </p:nvSpPr>
        <p:spPr>
          <a:xfrm xmlns:a="http://schemas.openxmlformats.org/drawingml/2006/main">
            <a:off x="13387388" y="2727960"/>
            <a:ext cx="3986213" cy="1562100"/>
          </a:xfrm>
          <a:prstGeom xmlns:a="http://schemas.openxmlformats.org/drawingml/2006/main" prst="roundRect">
            <a:avLst>
              <a:gd name="adj" fmla="val 12195"/>
            </a:avLst>
          </a:prstGeom>
          <a:solidFill xmlns:a="http://schemas.openxmlformats.org/drawingml/2006/main">
            <a:srgbClr val="FEF2F2"/>
          </a:solidFill>
        </p:spPr>
      </p:sp>
      <p:sp>
        <p:nvSpPr>
          <p:cNvPr id="20" name="">
            <a:extLst xmlns:a="http://schemas.openxmlformats.org/drawingml/2006/main">
              <a:ext uri="{FF2B5EF4-FFF2-40B4-BE49-F238E27FC236}">
                <a16:creationId xmlns:a16="http://schemas.microsoft.com/office/drawing/2014/main" id="{C52518A7-990F-471E-9668-F543DCCC46BF}"/>
              </a:ext>
            </a:extLst>
          </p:cNvPr>
          <p:cNvSpPr>
            <a:spLocks xmlns:a="http://schemas.openxmlformats.org/drawingml/2006/main" noGrp="1"/>
          </p:cNvSpPr>
          <p:nvPr/>
        </p:nvSpPr>
        <p:spPr>
          <a:xfrm xmlns:a="http://schemas.openxmlformats.org/drawingml/2006/main">
            <a:off x="13620750" y="2933700"/>
            <a:ext cx="352425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1">
                <a:solidFill>
                  <a:srgbClr val="475569"/>
                </a:solidFill>
              </a:defRPr>
            </a:pPr>
            <a:r>
              <a:rPr sz="1500" b="1">
                <a:solidFill>
                  <a:srgbClr val="475569"/>
                </a:solidFill>
              </a:rPr>
              <a:t>严重问题</a:t>
            </a:r>
          </a:p>
        </p:txBody>
      </p:sp>
      <p:sp>
        <p:nvSpPr>
          <p:cNvPr id="21" name="">
            <a:extLst xmlns:a="http://schemas.openxmlformats.org/drawingml/2006/main">
              <a:ext uri="{FF2B5EF4-FFF2-40B4-BE49-F238E27FC236}">
                <a16:creationId xmlns:a16="http://schemas.microsoft.com/office/drawing/2014/main" id="{7856942F-6B67-40D6-B951-4EF8785B0072}"/>
              </a:ext>
            </a:extLst>
          </p:cNvPr>
          <p:cNvSpPr>
            <a:spLocks xmlns:a="http://schemas.openxmlformats.org/drawingml/2006/main" noGrp="1"/>
          </p:cNvSpPr>
          <p:nvPr/>
        </p:nvSpPr>
        <p:spPr>
          <a:xfrm xmlns:a="http://schemas.openxmlformats.org/drawingml/2006/main">
            <a:off x="13620750" y="3276600"/>
            <a:ext cx="3524250" cy="514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300" b="1">
                <a:solidFill>
                  <a:srgbClr val="0F172A"/>
                </a:solidFill>
              </a:defRPr>
            </a:pPr>
            <a:r>
              <a:rPr sz="3300" b="1">
                <a:solidFill>
                  <a:srgbClr val="0F172A"/>
                </a:solidFill>
              </a:rPr>
              <a:t>P0 / P1 = 0</a:t>
            </a:r>
          </a:p>
        </p:txBody>
      </p:sp>
      <p:sp>
        <p:nvSpPr>
          <p:cNvPr id="22" name="">
            <a:extLst xmlns:a="http://schemas.openxmlformats.org/drawingml/2006/main">
              <a:ext uri="{FF2B5EF4-FFF2-40B4-BE49-F238E27FC236}">
                <a16:creationId xmlns:a16="http://schemas.microsoft.com/office/drawing/2014/main" id="{E30CCB10-BBD6-4711-8EFB-B0E6BFD1684D}"/>
              </a:ext>
            </a:extLst>
          </p:cNvPr>
          <p:cNvSpPr>
            <a:spLocks xmlns:a="http://schemas.openxmlformats.org/drawingml/2006/main" noGrp="1"/>
          </p:cNvSpPr>
          <p:nvPr/>
        </p:nvSpPr>
        <p:spPr>
          <a:xfrm xmlns:a="http://schemas.openxmlformats.org/drawingml/2006/main">
            <a:off x="13620750" y="3905250"/>
            <a:ext cx="35242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a:solidFill>
                  <a:srgbClr val="64748B"/>
                </a:solidFill>
              </a:defRPr>
            </a:pPr>
            <a:r>
              <a:rPr sz="1200">
                <a:solidFill>
                  <a:srgbClr val="64748B"/>
                </a:solidFill>
              </a:rPr>
              <a:t>未发现影响答辩演示的核心阻塞问题</a:t>
            </a:r>
          </a:p>
        </p:txBody>
      </p:sp>
      <p:sp>
        <p:nvSpPr>
          <p:cNvPr id="23" name="">
            <a:extLst xmlns:a="http://schemas.openxmlformats.org/drawingml/2006/main">
              <a:ext uri="{FF2B5EF4-FFF2-40B4-BE49-F238E27FC236}">
                <a16:creationId xmlns:a16="http://schemas.microsoft.com/office/drawing/2014/main" id="{BAEE994C-6026-470B-B191-5061A9CBEAA6}"/>
              </a:ext>
            </a:extLst>
          </p:cNvPr>
          <p:cNvSpPr>
            <a:spLocks xmlns:a="http://schemas.openxmlformats.org/drawingml/2006/main" noGrp="1"/>
          </p:cNvSpPr>
          <p:nvPr/>
        </p:nvSpPr>
        <p:spPr>
          <a:xfrm xmlns:a="http://schemas.openxmlformats.org/drawingml/2006/main">
            <a:off x="914400" y="4701540"/>
            <a:ext cx="8501063" cy="1824990"/>
          </a:xfrm>
          <a:prstGeom xmlns:a="http://schemas.openxmlformats.org/drawingml/2006/main" prst="roundRect">
            <a:avLst>
              <a:gd name="adj" fmla="val 11482"/>
            </a:avLst>
          </a:prstGeom>
          <a:solidFill xmlns:a="http://schemas.openxmlformats.org/drawingml/2006/main">
            <a:srgbClr val="F8FAFC"/>
          </a:solidFill>
        </p:spPr>
      </p:sp>
      <p:sp>
        <p:nvSpPr>
          <p:cNvPr id="24" name="">
            <a:extLst xmlns:a="http://schemas.openxmlformats.org/drawingml/2006/main">
              <a:ext uri="{FF2B5EF4-FFF2-40B4-BE49-F238E27FC236}">
                <a16:creationId xmlns:a16="http://schemas.microsoft.com/office/drawing/2014/main" id="{0A849D9A-8753-4755-9751-6C63D9477740}"/>
              </a:ext>
            </a:extLst>
          </p:cNvPr>
          <p:cNvSpPr>
            <a:spLocks xmlns:a="http://schemas.openxmlformats.org/drawingml/2006/main" noGrp="1"/>
          </p:cNvSpPr>
          <p:nvPr/>
        </p:nvSpPr>
        <p:spPr>
          <a:xfrm xmlns:a="http://schemas.openxmlformats.org/drawingml/2006/main">
            <a:off x="1162050" y="4933950"/>
            <a:ext cx="80010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1E293B"/>
                </a:solidFill>
              </a:defRPr>
            </a:pPr>
            <a:r>
              <a:rPr sz="1800" b="1">
                <a:solidFill>
                  <a:srgbClr val="1E293B"/>
                </a:solidFill>
              </a:rPr>
              <a:t>自测确认事项</a:t>
            </a:r>
          </a:p>
        </p:txBody>
      </p:sp>
      <p:sp>
        <p:nvSpPr>
          <p:cNvPr id="25" name="">
            <a:extLst xmlns:a="http://schemas.openxmlformats.org/drawingml/2006/main">
              <a:ext uri="{FF2B5EF4-FFF2-40B4-BE49-F238E27FC236}">
                <a16:creationId xmlns:a16="http://schemas.microsoft.com/office/drawing/2014/main" id="{044F6E86-2271-40D1-9061-CB9C2E8ECB01}"/>
              </a:ext>
            </a:extLst>
          </p:cNvPr>
          <p:cNvSpPr>
            <a:spLocks xmlns:a="http://schemas.openxmlformats.org/drawingml/2006/main" noGrp="1"/>
          </p:cNvSpPr>
          <p:nvPr/>
        </p:nvSpPr>
        <p:spPr>
          <a:xfrm xmlns:a="http://schemas.openxmlformats.org/drawingml/2006/main">
            <a:off x="1162050" y="5334000"/>
            <a:ext cx="8001000" cy="971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75" b="0">
                <a:solidFill>
                  <a:srgbClr val="475569"/>
                </a:solidFill>
              </a:defRPr>
            </a:pPr>
            <a:r>
              <a:rPr sz="1575" b="0">
                <a:solidFill>
                  <a:srgbClr val="475569"/>
                </a:solidFill>
              </a:rPr>
              <a:t>• 登录、菜单权限、退出登录与 refresh token 失效逻辑可验证</a:t>
            </a:r>
          </a:p>
          <a:p xmlns:a="http://schemas.openxmlformats.org/drawingml/2006/main">
            <a:pPr>
              <a:defRPr sz="1575" b="0">
                <a:solidFill>
                  <a:srgbClr val="475569"/>
                </a:solidFill>
              </a:defRPr>
            </a:pPr>
            <a:r>
              <a:rPr sz="1575" b="0">
                <a:solidFill>
                  <a:srgbClr val="475569"/>
                </a:solidFill>
              </a:rPr>
              <a:t>• 入库、普通出库、申领出库和调拨执行均会影响 inventory 与 inventory_batch</a:t>
            </a:r>
          </a:p>
          <a:p xmlns:a="http://schemas.openxmlformats.org/drawingml/2006/main">
            <a:pPr>
              <a:defRPr sz="1575" b="0">
                <a:solidFill>
                  <a:srgbClr val="475569"/>
                </a:solidFill>
              </a:defRPr>
            </a:pPr>
            <a:r>
              <a:rPr sz="1575" b="0">
                <a:solidFill>
                  <a:srgbClr val="475569"/>
                </a:solidFill>
              </a:rPr>
              <a:t>• 事件上报后通知可见，未读数量与已读状态可联动变化</a:t>
            </a:r>
          </a:p>
          <a:p xmlns:a="http://schemas.openxmlformats.org/drawingml/2006/main">
            <a:pPr>
              <a:defRPr sz="1575" b="0">
                <a:solidFill>
                  <a:srgbClr val="475569"/>
                </a:solidFill>
              </a:defRPr>
            </a:pPr>
            <a:r>
              <a:rPr sz="1575" b="0">
                <a:solidFill>
                  <a:srgbClr val="475569"/>
                </a:solidFill>
              </a:rPr>
              <a:t>• Dashboard 与分析页能跟随后端真实数据变化</a:t>
            </a:r>
          </a:p>
        </p:txBody>
      </p:sp>
      <p:sp>
        <p:nvSpPr>
          <p:cNvPr id="26" name="">
            <a:extLst xmlns:a="http://schemas.openxmlformats.org/drawingml/2006/main">
              <a:ext uri="{FF2B5EF4-FFF2-40B4-BE49-F238E27FC236}">
                <a16:creationId xmlns:a16="http://schemas.microsoft.com/office/drawing/2014/main" id="{4D6AF6ED-9C25-4749-AECA-4598683B4A10}"/>
              </a:ext>
            </a:extLst>
          </p:cNvPr>
          <p:cNvSpPr>
            <a:spLocks xmlns:a="http://schemas.openxmlformats.org/drawingml/2006/main" noGrp="1"/>
          </p:cNvSpPr>
          <p:nvPr/>
        </p:nvSpPr>
        <p:spPr>
          <a:xfrm xmlns:a="http://schemas.openxmlformats.org/drawingml/2006/main">
            <a:off x="9682163" y="4701540"/>
            <a:ext cx="7691438" cy="1584960"/>
          </a:xfrm>
          <a:prstGeom xmlns:a="http://schemas.openxmlformats.org/drawingml/2006/main" prst="roundRect">
            <a:avLst>
              <a:gd name="adj" fmla="val 13221"/>
            </a:avLst>
          </a:prstGeom>
          <a:solidFill xmlns:a="http://schemas.openxmlformats.org/drawingml/2006/main">
            <a:srgbClr val="F8FAFC"/>
          </a:solidFill>
        </p:spPr>
      </p:sp>
      <p:sp>
        <p:nvSpPr>
          <p:cNvPr id="27" name="">
            <a:extLst xmlns:a="http://schemas.openxmlformats.org/drawingml/2006/main">
              <a:ext uri="{FF2B5EF4-FFF2-40B4-BE49-F238E27FC236}">
                <a16:creationId xmlns:a16="http://schemas.microsoft.com/office/drawing/2014/main" id="{1D040E98-3FAF-4EAB-A007-E2A0B1B242C7}"/>
              </a:ext>
            </a:extLst>
          </p:cNvPr>
          <p:cNvSpPr>
            <a:spLocks xmlns:a="http://schemas.openxmlformats.org/drawingml/2006/main" noGrp="1"/>
          </p:cNvSpPr>
          <p:nvPr/>
        </p:nvSpPr>
        <p:spPr>
          <a:xfrm xmlns:a="http://schemas.openxmlformats.org/drawingml/2006/main">
            <a:off x="9925050" y="4933950"/>
            <a:ext cx="72009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1E293B"/>
                </a:solidFill>
              </a:defRPr>
            </a:pPr>
            <a:r>
              <a:rPr sz="1800" b="1">
                <a:solidFill>
                  <a:srgbClr val="1E293B"/>
                </a:solidFill>
              </a:rPr>
              <a:t>论文可据实描述</a:t>
            </a:r>
          </a:p>
        </p:txBody>
      </p:sp>
      <p:sp>
        <p:nvSpPr>
          <p:cNvPr id="28" name="">
            <a:extLst xmlns:a="http://schemas.openxmlformats.org/drawingml/2006/main">
              <a:ext uri="{FF2B5EF4-FFF2-40B4-BE49-F238E27FC236}">
                <a16:creationId xmlns:a16="http://schemas.microsoft.com/office/drawing/2014/main" id="{9AAFF9CE-FE80-4C13-83A4-95A59D2B8681}"/>
              </a:ext>
            </a:extLst>
          </p:cNvPr>
          <p:cNvSpPr>
            <a:spLocks xmlns:a="http://schemas.openxmlformats.org/drawingml/2006/main" noGrp="1"/>
          </p:cNvSpPr>
          <p:nvPr/>
        </p:nvSpPr>
        <p:spPr>
          <a:xfrm xmlns:a="http://schemas.openxmlformats.org/drawingml/2006/main">
            <a:off x="9925050" y="5334000"/>
            <a:ext cx="7200900" cy="723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75" b="0">
                <a:solidFill>
                  <a:srgbClr val="475569"/>
                </a:solidFill>
              </a:defRPr>
            </a:pPr>
            <a:r>
              <a:rPr sz="1575" b="0">
                <a:solidFill>
                  <a:srgbClr val="475569"/>
                </a:solidFill>
              </a:rPr>
              <a:t>• 登录认证、权限控制、基础资料、库存批次、申领审批、出库签收、仓库调拨</a:t>
            </a:r>
          </a:p>
          <a:p xmlns:a="http://schemas.openxmlformats.org/drawingml/2006/main">
            <a:pPr>
              <a:defRPr sz="1575" b="0">
                <a:solidFill>
                  <a:srgbClr val="475569"/>
                </a:solidFill>
              </a:defRPr>
            </a:pPr>
            <a:r>
              <a:rPr sz="1575" b="0">
                <a:solidFill>
                  <a:srgbClr val="475569"/>
                </a:solidFill>
              </a:rPr>
              <a:t>• 预警处理、站内通知、操作日志、统计分析、补货参考、出库趋势参考</a:t>
            </a:r>
          </a:p>
          <a:p xmlns:a="http://schemas.openxmlformats.org/drawingml/2006/main">
            <a:pPr>
              <a:defRPr sz="1575" b="0">
                <a:solidFill>
                  <a:srgbClr val="475569"/>
                </a:solidFill>
              </a:defRPr>
            </a:pPr>
            <a:r>
              <a:rPr sz="1575" b="0">
                <a:solidFill>
                  <a:srgbClr val="475569"/>
                </a:solidFill>
              </a:rPr>
              <a:t>• 汇报内容统一聚焦当前已完成的业务流程、数据联动与统计展示能力</a:t>
            </a:r>
          </a:p>
        </p:txBody>
      </p:sp>
      <p:sp>
        <p:nvSpPr>
          <p:cNvPr id="29" name="">
            <a:extLst xmlns:a="http://schemas.openxmlformats.org/drawingml/2006/main">
              <a:ext uri="{FF2B5EF4-FFF2-40B4-BE49-F238E27FC236}">
                <a16:creationId xmlns:a16="http://schemas.microsoft.com/office/drawing/2014/main" id="{C91EB4C2-7A13-47E7-B416-98FA11204CA1}"/>
              </a:ext>
            </a:extLst>
          </p:cNvPr>
          <p:cNvSpPr>
            <a:spLocks xmlns:a="http://schemas.openxmlformats.org/drawingml/2006/main" noGrp="1"/>
          </p:cNvSpPr>
          <p:nvPr/>
        </p:nvSpPr>
        <p:spPr>
          <a:xfrm xmlns:a="http://schemas.openxmlformats.org/drawingml/2006/main">
            <a:off x="914400" y="9467850"/>
            <a:ext cx="16459200" cy="152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a:solidFill>
                  <a:srgbClr val="64748B"/>
                </a:solidFill>
              </a:defRPr>
            </a:pPr>
            <a:r>
              <a:rPr sz="900">
                <a:solidFill>
                  <a:srgbClr val="64748B"/>
                </a:solidFill>
              </a:rPr>
              <a:t>依据：当前项目实现、最新论文定稿、全功能闭环自测报告与已有检查材料</a:t>
            </a:r>
          </a:p>
        </p:txBody>
      </p:sp>
    </p:spTree>
    <p:extLst>
      <p:ext uri="{BB962C8B-B14F-4D97-AF65-F5344CB8AC3E}">
        <p14:creationId xmlns:p14="http://schemas.microsoft.com/office/powerpoint/2010/main" val="139800091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43E8582-090B-4E7A-BCFB-D0ED0C1CF105}"/>
              </a:ext>
            </a:extLst>
          </p:cNvPr>
          <p:cNvSpPr>
            <a:spLocks xmlns:a="http://schemas.openxmlformats.org/drawingml/2006/main" noGrp="1"/>
          </p:cNvSpPr>
          <p:nvPr/>
        </p:nvSpPr>
        <p:spPr>
          <a:xfrm xmlns:a="http://schemas.openxmlformats.org/drawingml/2006/main">
            <a:off x="914400" y="685800"/>
            <a:ext cx="838200" cy="5715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2" name="">
            <a:extLst xmlns:a="http://schemas.openxmlformats.org/drawingml/2006/main">
              <a:ext uri="{FF2B5EF4-FFF2-40B4-BE49-F238E27FC236}">
                <a16:creationId xmlns:a16="http://schemas.microsoft.com/office/drawing/2014/main" id="{A6CF0F6F-FFE2-4EFB-BBBD-BC25246827E6}"/>
              </a:ext>
            </a:extLst>
          </p:cNvPr>
          <p:cNvSpPr>
            <a:spLocks xmlns:a="http://schemas.openxmlformats.org/drawingml/2006/main" noGrp="1"/>
          </p:cNvSpPr>
          <p:nvPr/>
        </p:nvSpPr>
        <p:spPr>
          <a:xfrm xmlns:a="http://schemas.openxmlformats.org/drawingml/2006/main">
            <a:off x="1924050" y="685800"/>
            <a:ext cx="171450" cy="4191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0F766E"/>
                </a:solidFill>
              </a:defRPr>
            </a:pPr>
            <a:r>
              <a:rPr sz="1350" b="1">
                <a:solidFill>
                  <a:srgbClr val="0F766E"/>
                </a:solidFill>
              </a:rPr>
              <a:t>09</a:t>
            </a:r>
          </a:p>
        </p:txBody>
      </p:sp>
      <p:sp>
        <p:nvSpPr>
          <p:cNvPr id="3" name="">
            <a:extLst xmlns:a="http://schemas.openxmlformats.org/drawingml/2006/main">
              <a:ext uri="{FF2B5EF4-FFF2-40B4-BE49-F238E27FC236}">
                <a16:creationId xmlns:a16="http://schemas.microsoft.com/office/drawing/2014/main" id="{CC80E9D2-D696-4382-B973-36A807155425}"/>
              </a:ext>
            </a:extLst>
          </p:cNvPr>
          <p:cNvSpPr>
            <a:spLocks xmlns:a="http://schemas.openxmlformats.org/drawingml/2006/main" noGrp="1"/>
          </p:cNvSpPr>
          <p:nvPr/>
        </p:nvSpPr>
        <p:spPr>
          <a:xfrm xmlns:a="http://schemas.openxmlformats.org/drawingml/2006/main">
            <a:off x="914400" y="1238250"/>
            <a:ext cx="411480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a:solidFill>
                  <a:srgbClr val="0F172A"/>
                </a:solidFill>
              </a:defRPr>
            </a:pPr>
            <a:r>
              <a:rPr sz="3600" b="1">
                <a:solidFill>
                  <a:srgbClr val="0F172A"/>
                </a:solidFill>
              </a:rPr>
              <a:t>总结与答辩演示衔接</a:t>
            </a:r>
          </a:p>
        </p:txBody>
      </p:sp>
      <p:sp>
        <p:nvSpPr>
          <p:cNvPr id="4" name="">
            <a:extLst xmlns:a="http://schemas.openxmlformats.org/drawingml/2006/main">
              <a:ext uri="{FF2B5EF4-FFF2-40B4-BE49-F238E27FC236}">
                <a16:creationId xmlns:a16="http://schemas.microsoft.com/office/drawing/2014/main" id="{D0127F0B-7ADB-49AC-8148-F0C6B1BED59F}"/>
              </a:ext>
            </a:extLst>
          </p:cNvPr>
          <p:cNvSpPr>
            <a:spLocks xmlns:a="http://schemas.openxmlformats.org/drawingml/2006/main" noGrp="1"/>
          </p:cNvSpPr>
          <p:nvPr/>
        </p:nvSpPr>
        <p:spPr>
          <a:xfrm xmlns:a="http://schemas.openxmlformats.org/drawingml/2006/main">
            <a:off x="914400" y="1905000"/>
            <a:ext cx="91440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a:solidFill>
                  <a:srgbClr val="475569"/>
                </a:solidFill>
              </a:defRPr>
            </a:pPr>
            <a:r>
              <a:rPr sz="1800">
                <a:solidFill>
                  <a:srgbClr val="475569"/>
                </a:solidFill>
              </a:rPr>
              <a:t>系统已具备毕业设计阶段的真实功能依据，答辩汇报与现场演示可以围绕同一业务链路展开</a:t>
            </a:r>
          </a:p>
        </p:txBody>
      </p:sp>
      <p:sp>
        <p:nvSpPr>
          <p:cNvPr id="5" name="">
            <a:extLst xmlns:a="http://schemas.openxmlformats.org/drawingml/2006/main">
              <a:ext uri="{FF2B5EF4-FFF2-40B4-BE49-F238E27FC236}">
                <a16:creationId xmlns:a16="http://schemas.microsoft.com/office/drawing/2014/main" id="{44C2DCF9-30D7-472E-BE69-6DD6C46ACA9B}"/>
              </a:ext>
            </a:extLst>
          </p:cNvPr>
          <p:cNvSpPr>
            <a:spLocks xmlns:a="http://schemas.openxmlformats.org/drawingml/2006/main" noGrp="1"/>
          </p:cNvSpPr>
          <p:nvPr/>
        </p:nvSpPr>
        <p:spPr>
          <a:xfrm xmlns:a="http://schemas.openxmlformats.org/drawingml/2006/main">
            <a:off x="15963900" y="685800"/>
            <a:ext cx="1409700" cy="472440"/>
          </a:xfrm>
          <a:prstGeom xmlns:a="http://schemas.openxmlformats.org/drawingml/2006/main" prst="roundRect">
            <a:avLst>
              <a:gd name="adj" fmla="val 36290"/>
            </a:avLst>
          </a:prstGeom>
          <a:solidFill xmlns:a="http://schemas.openxmlformats.org/drawingml/2006/main">
            <a:srgbClr val="0F172A"/>
          </a:solidFill>
        </p:spPr>
      </p:sp>
      <p:sp>
        <p:nvSpPr>
          <p:cNvPr id="6" name="">
            <a:extLst xmlns:a="http://schemas.openxmlformats.org/drawingml/2006/main">
              <a:ext uri="{FF2B5EF4-FFF2-40B4-BE49-F238E27FC236}">
                <a16:creationId xmlns:a16="http://schemas.microsoft.com/office/drawing/2014/main" id="{66FAE7EF-7985-4F61-8DA7-07D41AC1669B}"/>
              </a:ext>
            </a:extLst>
          </p:cNvPr>
          <p:cNvSpPr>
            <a:spLocks xmlns:a="http://schemas.openxmlformats.org/drawingml/2006/main" noGrp="1"/>
          </p:cNvSpPr>
          <p:nvPr/>
        </p:nvSpPr>
        <p:spPr>
          <a:xfrm xmlns:a="http://schemas.openxmlformats.org/drawingml/2006/main">
            <a:off x="16135350" y="819150"/>
            <a:ext cx="10668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FFFFFF"/>
                </a:solidFill>
              </a:defRPr>
            </a:pPr>
            <a:r>
              <a:rPr sz="1350" b="1">
                <a:solidFill>
                  <a:srgbClr val="FFFFFF"/>
                </a:solidFill>
              </a:rPr>
              <a:t>09</a:t>
            </a:r>
          </a:p>
        </p:txBody>
      </p:sp>
      <p:sp>
        <p:nvSpPr>
          <p:cNvPr id="7" name="">
            <a:extLst xmlns:a="http://schemas.openxmlformats.org/drawingml/2006/main">
              <a:ext uri="{FF2B5EF4-FFF2-40B4-BE49-F238E27FC236}">
                <a16:creationId xmlns:a16="http://schemas.microsoft.com/office/drawing/2014/main" id="{54830A8E-2041-4EDA-AEEC-C3A21DB157C7}"/>
              </a:ext>
            </a:extLst>
          </p:cNvPr>
          <p:cNvSpPr>
            <a:spLocks xmlns:a="http://schemas.openxmlformats.org/drawingml/2006/main" noGrp="1"/>
          </p:cNvSpPr>
          <p:nvPr/>
        </p:nvSpPr>
        <p:spPr>
          <a:xfrm xmlns:a="http://schemas.openxmlformats.org/drawingml/2006/main">
            <a:off x="914400" y="2453640"/>
            <a:ext cx="8258175" cy="3669030"/>
          </a:xfrm>
          <a:prstGeom xmlns:a="http://schemas.openxmlformats.org/drawingml/2006/main" prst="roundRect">
            <a:avLst>
              <a:gd name="adj" fmla="val 6750"/>
            </a:avLst>
          </a:prstGeom>
          <a:solidFill xmlns:a="http://schemas.openxmlformats.org/drawingml/2006/main">
            <a:srgbClr val="F8FAFC"/>
          </a:solidFill>
        </p:spPr>
      </p:sp>
      <p:sp>
        <p:nvSpPr>
          <p:cNvPr id="8" name="">
            <a:extLst xmlns:a="http://schemas.openxmlformats.org/drawingml/2006/main">
              <a:ext uri="{FF2B5EF4-FFF2-40B4-BE49-F238E27FC236}">
                <a16:creationId xmlns:a16="http://schemas.microsoft.com/office/drawing/2014/main" id="{DFAE8C73-23D9-493E-8945-6BA5AE53196C}"/>
              </a:ext>
            </a:extLst>
          </p:cNvPr>
          <p:cNvSpPr>
            <a:spLocks xmlns:a="http://schemas.openxmlformats.org/drawingml/2006/main" noGrp="1"/>
          </p:cNvSpPr>
          <p:nvPr/>
        </p:nvSpPr>
        <p:spPr>
          <a:xfrm xmlns:a="http://schemas.openxmlformats.org/drawingml/2006/main">
            <a:off x="1200150" y="2743200"/>
            <a:ext cx="7696200" cy="342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b="1">
                <a:solidFill>
                  <a:srgbClr val="0F172A"/>
                </a:solidFill>
              </a:defRPr>
            </a:pPr>
            <a:r>
              <a:rPr sz="2250" b="1">
                <a:solidFill>
                  <a:srgbClr val="0F172A"/>
                </a:solidFill>
              </a:rPr>
              <a:t>总结结论</a:t>
            </a:r>
          </a:p>
        </p:txBody>
      </p:sp>
      <p:sp>
        <p:nvSpPr>
          <p:cNvPr id="9" name="">
            <a:extLst xmlns:a="http://schemas.openxmlformats.org/drawingml/2006/main">
              <a:ext uri="{FF2B5EF4-FFF2-40B4-BE49-F238E27FC236}">
                <a16:creationId xmlns:a16="http://schemas.microsoft.com/office/drawing/2014/main" id="{25D83FAD-7E3E-4104-A294-6F7F39E7713B}"/>
              </a:ext>
            </a:extLst>
          </p:cNvPr>
          <p:cNvSpPr>
            <a:spLocks xmlns:a="http://schemas.openxmlformats.org/drawingml/2006/main" noGrp="1"/>
          </p:cNvSpPr>
          <p:nvPr/>
        </p:nvSpPr>
        <p:spPr>
          <a:xfrm xmlns:a="http://schemas.openxmlformats.org/drawingml/2006/main">
            <a:off x="1200150" y="3295650"/>
            <a:ext cx="7696200" cy="1104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0">
                <a:solidFill>
                  <a:srgbClr val="475569"/>
                </a:solidFill>
              </a:defRPr>
            </a:pPr>
            <a:r>
              <a:rPr sz="1800" b="0">
                <a:solidFill>
                  <a:srgbClr val="475569"/>
                </a:solidFill>
              </a:rPr>
              <a:t>系统已完成基础资料维护、库存与批次管理、物资申领审批、出库签收、仓库调拨、预警处理、站内通知、操作日志和统计分析等功能。结合全功能闭环自测与回归结果，项目能够支撑本科毕业论文中的核心流程描述和答辩现场功能演示。</a:t>
            </a:r>
          </a:p>
        </p:txBody>
      </p:sp>
      <p:sp>
        <p:nvSpPr>
          <p:cNvPr id="10" name="">
            <a:extLst xmlns:a="http://schemas.openxmlformats.org/drawingml/2006/main">
              <a:ext uri="{FF2B5EF4-FFF2-40B4-BE49-F238E27FC236}">
                <a16:creationId xmlns:a16="http://schemas.microsoft.com/office/drawing/2014/main" id="{6304B7E0-921C-48D0-93E2-E69F6B1D4BC0}"/>
              </a:ext>
            </a:extLst>
          </p:cNvPr>
          <p:cNvSpPr>
            <a:spLocks xmlns:a="http://schemas.openxmlformats.org/drawingml/2006/main" noGrp="1"/>
          </p:cNvSpPr>
          <p:nvPr/>
        </p:nvSpPr>
        <p:spPr>
          <a:xfrm xmlns:a="http://schemas.openxmlformats.org/drawingml/2006/main">
            <a:off x="1200150" y="4591050"/>
            <a:ext cx="76962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0F766E"/>
                </a:solidFill>
              </a:defRPr>
            </a:pPr>
            <a:r>
              <a:rPr sz="1800" b="1">
                <a:solidFill>
                  <a:srgbClr val="0F766E"/>
                </a:solidFill>
              </a:rPr>
              <a:t>后续优化方向</a:t>
            </a:r>
          </a:p>
        </p:txBody>
      </p:sp>
      <p:sp>
        <p:nvSpPr>
          <p:cNvPr id="11" name="">
            <a:extLst xmlns:a="http://schemas.openxmlformats.org/drawingml/2006/main">
              <a:ext uri="{FF2B5EF4-FFF2-40B4-BE49-F238E27FC236}">
                <a16:creationId xmlns:a16="http://schemas.microsoft.com/office/drawing/2014/main" id="{7EAB80B4-234E-4D0B-825E-EA78FED0BB0A}"/>
              </a:ext>
            </a:extLst>
          </p:cNvPr>
          <p:cNvSpPr>
            <a:spLocks xmlns:a="http://schemas.openxmlformats.org/drawingml/2006/main" noGrp="1"/>
          </p:cNvSpPr>
          <p:nvPr/>
        </p:nvSpPr>
        <p:spPr>
          <a:xfrm xmlns:a="http://schemas.openxmlformats.org/drawingml/2006/main">
            <a:off x="1200150" y="5086350"/>
            <a:ext cx="7696200" cy="762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b="0">
                <a:solidFill>
                  <a:srgbClr val="475569"/>
                </a:solidFill>
              </a:defRPr>
            </a:pPr>
            <a:r>
              <a:rPr sz="1650" b="0">
                <a:solidFill>
                  <a:srgbClr val="475569"/>
                </a:solidFill>
              </a:rPr>
              <a:t>• 移动端适配与多终端体验优化</a:t>
            </a:r>
          </a:p>
          <a:p xmlns:a="http://schemas.openxmlformats.org/drawingml/2006/main">
            <a:pPr>
              <a:defRPr sz="1650" b="0">
                <a:solidFill>
                  <a:srgbClr val="475569"/>
                </a:solidFill>
              </a:defRPr>
            </a:pPr>
            <a:r>
              <a:rPr sz="1650" b="0">
                <a:solidFill>
                  <a:srgbClr val="475569"/>
                </a:solidFill>
              </a:rPr>
              <a:t>• 调拨参考策略进一步细化</a:t>
            </a:r>
          </a:p>
          <a:p xmlns:a="http://schemas.openxmlformats.org/drawingml/2006/main">
            <a:pPr>
              <a:defRPr sz="1650" b="0">
                <a:solidFill>
                  <a:srgbClr val="475569"/>
                </a:solidFill>
              </a:defRPr>
            </a:pPr>
            <a:r>
              <a:rPr sz="1650" b="0">
                <a:solidFill>
                  <a:srgbClr val="475569"/>
                </a:solidFill>
              </a:rPr>
              <a:t>• 备份恢复、权限审计和运行监控持续完善</a:t>
            </a:r>
          </a:p>
        </p:txBody>
      </p:sp>
      <p:sp>
        <p:nvSpPr>
          <p:cNvPr id="12" name="">
            <a:extLst xmlns:a="http://schemas.openxmlformats.org/drawingml/2006/main">
              <a:ext uri="{FF2B5EF4-FFF2-40B4-BE49-F238E27FC236}">
                <a16:creationId xmlns:a16="http://schemas.microsoft.com/office/drawing/2014/main" id="{0B1AFF71-D2EB-42A5-81C5-D8A6AA764525}"/>
              </a:ext>
            </a:extLst>
          </p:cNvPr>
          <p:cNvSpPr>
            <a:spLocks xmlns:a="http://schemas.openxmlformats.org/drawingml/2006/main" noGrp="1"/>
          </p:cNvSpPr>
          <p:nvPr/>
        </p:nvSpPr>
        <p:spPr>
          <a:xfrm xmlns:a="http://schemas.openxmlformats.org/drawingml/2006/main">
            <a:off x="9439275" y="2453640"/>
            <a:ext cx="7934325" cy="2007870"/>
          </a:xfrm>
          <a:prstGeom xmlns:a="http://schemas.openxmlformats.org/drawingml/2006/main" prst="roundRect">
            <a:avLst>
              <a:gd name="adj" fmla="val 10436"/>
            </a:avLst>
          </a:prstGeom>
          <a:solidFill xmlns:a="http://schemas.openxmlformats.org/drawingml/2006/main">
            <a:srgbClr val="EFF6FF"/>
          </a:solidFill>
        </p:spPr>
      </p:sp>
      <p:sp>
        <p:nvSpPr>
          <p:cNvPr id="13" name="">
            <a:extLst xmlns:a="http://schemas.openxmlformats.org/drawingml/2006/main">
              <a:ext uri="{FF2B5EF4-FFF2-40B4-BE49-F238E27FC236}">
                <a16:creationId xmlns:a16="http://schemas.microsoft.com/office/drawing/2014/main" id="{71E5A8C2-DB20-424B-A87A-E6CE4060E0F5}"/>
              </a:ext>
            </a:extLst>
          </p:cNvPr>
          <p:cNvSpPr>
            <a:spLocks xmlns:a="http://schemas.openxmlformats.org/drawingml/2006/main" noGrp="1"/>
          </p:cNvSpPr>
          <p:nvPr/>
        </p:nvSpPr>
        <p:spPr>
          <a:xfrm xmlns:a="http://schemas.openxmlformats.org/drawingml/2006/main">
            <a:off x="9696450" y="2686050"/>
            <a:ext cx="74485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1E293B"/>
                </a:solidFill>
              </a:defRPr>
            </a:pPr>
            <a:r>
              <a:rPr sz="1800" b="1">
                <a:solidFill>
                  <a:srgbClr val="1E293B"/>
                </a:solidFill>
              </a:rPr>
              <a:t>现场演示建议流程</a:t>
            </a:r>
          </a:p>
        </p:txBody>
      </p:sp>
      <p:sp>
        <p:nvSpPr>
          <p:cNvPr id="14" name="">
            <a:extLst xmlns:a="http://schemas.openxmlformats.org/drawingml/2006/main">
              <a:ext uri="{FF2B5EF4-FFF2-40B4-BE49-F238E27FC236}">
                <a16:creationId xmlns:a16="http://schemas.microsoft.com/office/drawing/2014/main" id="{4D4999FD-342F-433F-AC37-356B0CBFAD57}"/>
              </a:ext>
            </a:extLst>
          </p:cNvPr>
          <p:cNvSpPr>
            <a:spLocks xmlns:a="http://schemas.openxmlformats.org/drawingml/2006/main" noGrp="1"/>
          </p:cNvSpPr>
          <p:nvPr/>
        </p:nvSpPr>
        <p:spPr>
          <a:xfrm xmlns:a="http://schemas.openxmlformats.org/drawingml/2006/main">
            <a:off x="9696450" y="3086100"/>
            <a:ext cx="7448550" cy="1143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0">
                <a:solidFill>
                  <a:srgbClr val="475569"/>
                </a:solidFill>
              </a:defRPr>
            </a:pPr>
            <a:r>
              <a:rPr sz="1500" b="0">
                <a:solidFill>
                  <a:srgbClr val="475569"/>
                </a:solidFill>
              </a:rPr>
              <a:t>• admin 展示 Dashboard 与基础资料概览</a:t>
            </a:r>
          </a:p>
          <a:p xmlns:a="http://schemas.openxmlformats.org/drawingml/2006/main">
            <a:pPr>
              <a:defRPr sz="1500" b="0">
                <a:solidFill>
                  <a:srgbClr val="475569"/>
                </a:solidFill>
              </a:defRPr>
            </a:pPr>
            <a:r>
              <a:rPr sz="1500" b="0">
                <a:solidFill>
                  <a:srgbClr val="475569"/>
                </a:solidFill>
              </a:rPr>
              <a:t>• dept 创建并提交申领单</a:t>
            </a:r>
          </a:p>
          <a:p xmlns:a="http://schemas.openxmlformats.org/drawingml/2006/main">
            <a:pPr>
              <a:defRPr sz="1500" b="0">
                <a:solidFill>
                  <a:srgbClr val="475569"/>
                </a:solidFill>
              </a:defRPr>
            </a:pPr>
            <a:r>
              <a:rPr sz="1500" b="0">
                <a:solidFill>
                  <a:srgbClr val="475569"/>
                </a:solidFill>
              </a:rPr>
              <a:t>• approver 审批通过</a:t>
            </a:r>
          </a:p>
          <a:p xmlns:a="http://schemas.openxmlformats.org/drawingml/2006/main">
            <a:pPr>
              <a:defRPr sz="1500" b="0">
                <a:solidFill>
                  <a:srgbClr val="475569"/>
                </a:solidFill>
              </a:defRPr>
            </a:pPr>
            <a:r>
              <a:rPr sz="1500" b="0">
                <a:solidFill>
                  <a:srgbClr val="475569"/>
                </a:solidFill>
              </a:rPr>
              <a:t>• warehouse 执行出库，dept 完成签收</a:t>
            </a:r>
          </a:p>
          <a:p xmlns:a="http://schemas.openxmlformats.org/drawingml/2006/main">
            <a:pPr>
              <a:defRPr sz="1500" b="0">
                <a:solidFill>
                  <a:srgbClr val="475569"/>
                </a:solidFill>
              </a:defRPr>
            </a:pPr>
            <a:r>
              <a:rPr sz="1500" b="0">
                <a:solidFill>
                  <a:srgbClr val="475569"/>
                </a:solidFill>
              </a:rPr>
              <a:t>• 展示库存、批次、通知与操作日志变化</a:t>
            </a:r>
          </a:p>
        </p:txBody>
      </p:sp>
      <p:sp>
        <p:nvSpPr>
          <p:cNvPr id="15" name="">
            <a:extLst xmlns:a="http://schemas.openxmlformats.org/drawingml/2006/main">
              <a:ext uri="{FF2B5EF4-FFF2-40B4-BE49-F238E27FC236}">
                <a16:creationId xmlns:a16="http://schemas.microsoft.com/office/drawing/2014/main" id="{15BFE1EB-161D-4406-9602-786CDB45F6BD}"/>
              </a:ext>
            </a:extLst>
          </p:cNvPr>
          <p:cNvSpPr>
            <a:spLocks xmlns:a="http://schemas.openxmlformats.org/drawingml/2006/main" noGrp="1"/>
          </p:cNvSpPr>
          <p:nvPr/>
        </p:nvSpPr>
        <p:spPr>
          <a:xfrm xmlns:a="http://schemas.openxmlformats.org/drawingml/2006/main">
            <a:off x="9439275" y="4652010"/>
            <a:ext cx="7934325" cy="1550670"/>
          </a:xfrm>
          <a:prstGeom xmlns:a="http://schemas.openxmlformats.org/drawingml/2006/main" prst="roundRect">
            <a:avLst>
              <a:gd name="adj" fmla="val 13514"/>
            </a:avLst>
          </a:prstGeom>
          <a:solidFill xmlns:a="http://schemas.openxmlformats.org/drawingml/2006/main">
            <a:srgbClr val="FFF7ED"/>
          </a:solidFill>
        </p:spPr>
      </p:sp>
      <p:sp>
        <p:nvSpPr>
          <p:cNvPr id="16" name="">
            <a:extLst xmlns:a="http://schemas.openxmlformats.org/drawingml/2006/main">
              <a:ext uri="{FF2B5EF4-FFF2-40B4-BE49-F238E27FC236}">
                <a16:creationId xmlns:a16="http://schemas.microsoft.com/office/drawing/2014/main" id="{A2ADBD56-7B94-4755-AF8E-C31097B821C0}"/>
              </a:ext>
            </a:extLst>
          </p:cNvPr>
          <p:cNvSpPr>
            <a:spLocks xmlns:a="http://schemas.openxmlformats.org/drawingml/2006/main" noGrp="1"/>
          </p:cNvSpPr>
          <p:nvPr/>
        </p:nvSpPr>
        <p:spPr>
          <a:xfrm xmlns:a="http://schemas.openxmlformats.org/drawingml/2006/main">
            <a:off x="9696450" y="4876800"/>
            <a:ext cx="74485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1E293B"/>
                </a:solidFill>
              </a:defRPr>
            </a:pPr>
            <a:r>
              <a:rPr sz="1800" b="1">
                <a:solidFill>
                  <a:srgbClr val="1E293B"/>
                </a:solidFill>
              </a:rPr>
              <a:t>演示注意事项</a:t>
            </a:r>
          </a:p>
        </p:txBody>
      </p:sp>
      <p:sp>
        <p:nvSpPr>
          <p:cNvPr id="17" name="">
            <a:extLst xmlns:a="http://schemas.openxmlformats.org/drawingml/2006/main">
              <a:ext uri="{FF2B5EF4-FFF2-40B4-BE49-F238E27FC236}">
                <a16:creationId xmlns:a16="http://schemas.microsoft.com/office/drawing/2014/main" id="{F309D911-CBEA-46B8-AF40-F24DE5D042EE}"/>
              </a:ext>
            </a:extLst>
          </p:cNvPr>
          <p:cNvSpPr>
            <a:spLocks xmlns:a="http://schemas.openxmlformats.org/drawingml/2006/main" noGrp="1"/>
          </p:cNvSpPr>
          <p:nvPr/>
        </p:nvSpPr>
        <p:spPr>
          <a:xfrm xmlns:a="http://schemas.openxmlformats.org/drawingml/2006/main">
            <a:off x="9696450" y="5295900"/>
            <a:ext cx="7448550" cy="685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0">
                <a:solidFill>
                  <a:srgbClr val="475569"/>
                </a:solidFill>
              </a:defRPr>
            </a:pPr>
            <a:r>
              <a:rPr sz="1500" b="0">
                <a:solidFill>
                  <a:srgbClr val="475569"/>
                </a:solidFill>
              </a:rPr>
              <a:t>• 演示前准备充足库存和测试数据前缀</a:t>
            </a:r>
          </a:p>
          <a:p xmlns:a="http://schemas.openxmlformats.org/drawingml/2006/main">
            <a:pPr>
              <a:defRPr sz="1500" b="0">
                <a:solidFill>
                  <a:srgbClr val="475569"/>
                </a:solidFill>
              </a:defRPr>
            </a:pPr>
            <a:r>
              <a:rPr sz="1500" b="0">
                <a:solidFill>
                  <a:srgbClr val="475569"/>
                </a:solidFill>
              </a:rPr>
              <a:t>• 优先展示申领与调拨两条最稳定主链路</a:t>
            </a:r>
          </a:p>
          <a:p xmlns:a="http://schemas.openxmlformats.org/drawingml/2006/main">
            <a:pPr>
              <a:defRPr sz="1500" b="0">
                <a:solidFill>
                  <a:srgbClr val="475569"/>
                </a:solidFill>
              </a:defRPr>
            </a:pPr>
            <a:r>
              <a:rPr sz="1500" b="0">
                <a:solidFill>
                  <a:srgbClr val="475569"/>
                </a:solidFill>
              </a:rPr>
              <a:t>• 现场说明统一围绕已实现流程、站内通知和规则化辅助分析展开</a:t>
            </a:r>
          </a:p>
        </p:txBody>
      </p:sp>
      <p:sp>
        <p:nvSpPr>
          <p:cNvPr id="18" name="">
            <a:extLst xmlns:a="http://schemas.openxmlformats.org/drawingml/2006/main">
              <a:ext uri="{FF2B5EF4-FFF2-40B4-BE49-F238E27FC236}">
                <a16:creationId xmlns:a16="http://schemas.microsoft.com/office/drawing/2014/main" id="{F74D8397-AAA8-4EDA-B601-3EB2915BA370}"/>
              </a:ext>
            </a:extLst>
          </p:cNvPr>
          <p:cNvSpPr>
            <a:spLocks xmlns:a="http://schemas.openxmlformats.org/drawingml/2006/main" noGrp="1"/>
          </p:cNvSpPr>
          <p:nvPr/>
        </p:nvSpPr>
        <p:spPr>
          <a:xfrm xmlns:a="http://schemas.openxmlformats.org/drawingml/2006/main">
            <a:off x="914400" y="9467850"/>
            <a:ext cx="16459200" cy="152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a:solidFill>
                  <a:srgbClr val="64748B"/>
                </a:solidFill>
              </a:defRPr>
            </a:pPr>
            <a:r>
              <a:rPr sz="900">
                <a:solidFill>
                  <a:srgbClr val="64748B"/>
                </a:solidFill>
              </a:rPr>
              <a:t>依据：当前项目实现、最新论文定稿、全功能闭环自测报告与已有检查材料</a:t>
            </a:r>
          </a:p>
        </p:txBody>
      </p:sp>
    </p:spTree>
    <p:extLst>
      <p:ext uri="{BB962C8B-B14F-4D97-AF65-F5344CB8AC3E}">
        <p14:creationId xmlns:p14="http://schemas.microsoft.com/office/powerpoint/2010/main" val="8674744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2026-05-01T08:47:24.8710000Z</dcterms:created>
  <dcterms:modified xsi:type="dcterms:W3CDTF">2026-05-01T08:47:24.8710000Z</dcterms:modified>
</coreProperties>
</file>